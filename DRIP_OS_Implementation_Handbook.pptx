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Lst>
  <p:notesMasterIdLst>
    <p:notesMasterId r:id="rId14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Say out loud: this single document is now the official record of what DRIP is, why it exists, exactly how it works, and — most importantly — exactly how much of it is real today versus still to be built. Nothing in this deck is a marketing claim; every status, score and gap is pulled from the project's own engineering audits and the live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guide slide — sets expectations that this is a handbook, not a pitch, and tells the reader how the status labels work before they see the first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of contents — read the section titles aloud and note this deck runs in a strict logical order: why, then how, then where we stand, then what's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divider. This section is the elevator pitch, told honestly: the problem, why nobody else has solved it for us, and how we will measure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 plain English: enterprise banking sales in Saudi Arabia is relationship-driven and signal-driven, and mainstream sales tools were never designed around either of those realities.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side-by-side contrast. The goal is not to claim DRIP is bigger than HubSpot — it is to explain why a bank-specific, committee-first, KSA-aware system was worth building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'why banks specifically' rather than 'why any enterprise' — regulation, sales-cycle length, committee buying, and vendor ecosystems are the four reasons a bank-specific system earns its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three-pillar framing: intelligence before outreach, relationships modelled as data, everything in one system of record. This is the thread that runs through the rest of the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grounding stat slide early in the deck — sets the tone that everything in this document is verifiable against the actual code, and that the honest current score is roughly half of where the team wants it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objectives split by audience: what the BD team gets day-to-day, and what the business gets strategically.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vision statement, read plainly: not 'be bigger than HubSpot', but 'be the best possible tool for this specific, hard sales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 metrics table — each metric is already wired to a real screen in the product, not a future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divider. This section is the project history — every phase is real, dated, and documented in the repository's own phase notes, not reconstructed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Vertical timeline, part 1. Emphasize: this was not a prototype that got lucky — it was three earlier scattered efforts (decimal_abm, the ABM Business Logic Bible, and brip_dashboard) deliberately reconciled into one schema before any new feature work began.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Vertical timeline, part 2. This is the least glamorous but most important stretch of work — turning a working demo into something that could survive real usage, real data volume, and a real security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answers the recurring, justified complaint that AI and marketing-automation features were shallow. It names the honest starting score (6/100) and the concrete engines that were built in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unification story: search and shared services first, then a genuine single-page app, with an explicit decision to keep the legacy dashboard alive during transition rather than break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recent major engineering push and the one most shaped by direct, sometimes blunt, user feedback — the point being that the feedback was correct each time and the fix was always to go back to the real legacy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very recent example of the working method: read the exact complaint, find the real root cause (in this case, a browser security limitation nobody had noticed), fix it properly, and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project's own quality discipline, stated plainly, because it is the reason repeated 'you didn't really fix this' feedback rounds have each converged on a real fix rather than another cosmetic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slide into the architecture sections — sets up the honest scorecard that Sections 14-16 will justify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divider. This section answers 'how is it actually built' for a new engineer or architect joining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five-layer mental model: what a user sees, the doorway into the system, the rules that make decisions, where the facts live, and what happens quietly in the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Explains the frontend without assuming any front-end engineering background — hash routing, shared state, and why the legacy dashboard still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explained for a non-engineer: one program, organized like a filing cabinet by business area, with business rules kept separate from web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a single click from the browser all the way to the database and back — useful for a new engineer's first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explained plainly, with special emphasis on row-level security in the database — the single most important security decision in the whole system, because it removes an entire class of 'the app forgot to check'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ETL explained for a non-technical reader as 'get messy data in cleanly', with the concrete, real example of the LinkedIn export importer.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Explains the invisible machinery — the scheduler and job queue — that makes signals, sequences, and campaigns run on time without a human clicking 'go' every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quick-reference slide bridging to the deeper sections on AI, search, and campaigns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Rounds out the architecture tour with analytics, reporting, and the current state of every external integration — being explicit that email sending and LinkedIn automation are intentionally not live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divider. This is the deepest technical section aimed at a database architect or a very technical product manager — but every idea is still explained in plain English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explained for a non-DBA: what a relational database is, and the specific reasons (cost, row-level security, JSON flexibility, dual-mode testing) it was chosen for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Explains the master/transaction/lookup mental model that any new engineer should use to find their way around 91 tables without getting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simplified relationship map grouping the 91 tables into five families a new person can hold in their head at once — People &amp; Orgs is the hub everything else connects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worked example of a foreign key, explained for a reader who has never seen a database schema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most concrete, checkable database-quality guarantees in the system: fast lookups via indexes, and duplicate prevention via unique constraints plus content-hash matching.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Explains migrations vs. the faster sync script, and is honest that automated scheduled backups are a real, named gap rather than implying something that isn't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scalability and security together as the two things that make the difference between a demo database and one that could survive real production use — and is explicit that PDPL legal sign-off is still outstanding.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divider. This is the reference section — a new business analyst or engineer should be able to open this section and understand any table without reading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Organization table is the single hub of the whole schema — almost every other table has a foreign key pointing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taxonomy exists specifically because of direct feedback that banks and non-banks needed different categorisation, with NBFI sub-types like insurance and payments called out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Master is where competitive intelligence lives — knowing which vendor already has a foothold inside a target bank changes the entire sales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 table is deliberately rich — 40+ fields — because enterprise banking sales needs to remember far more about a contact than a name and an email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stack lives directly on the organisation record today rather than a separate normalized table — simple, effective, and easy to query, though it means one row per institution rather than a full change history (see Section 15 for the property-history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deliberately transparent: what the UI labels 'Initiatives' is a query over Signals, not a first-class Initiative table yet. Section 15 explains what a dedicated Initiative Master would add and why it's a reasonable next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Signals table is the intelligence backbone of the whole platform — it is what turns DRIP from a static address book into something that notices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graph-thinking layer discussed in Section 7 — relationships are typed, scored, first-class data, not a single flat 'associated with' link the way most generic CRMs model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Campaign Master ties directly into the Segments engine (dynamic, re-evaluated audiences) built during the Parity Mission phase described in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behind the Email Analytics screen and the per-campaign report — open rate, click rate, and CTOR are all computed live from these two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Meetings deliberately live as their own table rather than just another activity-log row, because they need conflict detection and calendar export that a generic activity note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'amount_minor' design — storing money in the smallest unit rather than a decimal — is a deliberate correctness choice: it makes every SAR total in every report exactly right, with no floating-point rounding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raw material behind the unified Activity timeline described in Section 7 — one merges seven different sources of truth into a single chronological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not an automated LinkedIn bot — LinkedIn's own terms of service make browser automation risky, so DRIP tracks LinkedIn activity a human performs rather than performing it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the instruction to explicitly flag inferred/missing structures: this slide names two genuinely useful tables that do not exist yet, why they matter, and the concrete, small scope of work to add them — this is exactly the kind of gap that should go on the roadmap in Section 18, not be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out the master-database section by explaining exactly how 'decision maker' — arguably the single most sales-relevant label in the whole system — is actually derived from the data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divider. This section is unusually important to keep honest — many of the sources the business would like (Apollo, Lusha, Clay, Crunchbase) are not connected today, and this section says so plainly while explaining what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single most important honesty check in the whole deck for anyone who assumed DRIP already pulls from Apollo, Lusha, or Clay — it does not, by design, until real API credentials and a data contract exist. The engine to plug them in is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ETL importer described in Section 3, walked step by step — the same flow now runs both centrally and from inside a single bank's own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signal-collection pipeline, in five steps — this is what makes Section 1's promise ('signals arrive same-day, not weeks later') actually true today for the sources that are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data-quality disciplines applied to every incoming record — this is what keeps 8,000+ contacts usable instead of turning into a swamp of duplicates and typos.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Directly answers 'why is this left' for every missing data source — mostly it's an external dependency (a paid API key) rather than an unsolved technical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divider. This section explains the single most distinctive design idea in DRIP: a contact is not a row in a list, it is a node connected to everything relevant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contact record sits at the centre of five different kinds of connection — this is what 'contact intelligence' means in practice, not just a name and an email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through the exact database relationships (not marketing language) that make a single contact's page a hub for everything relevant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dedicated timeline assembler service merges all seven sources into one chronological view per contact and per organisation — this is what a salesperson actually opens before a call, instead of checking seven different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behind the relationship tables in Section 5 — the business case for treating relationships as structured, scored data rather than tribal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divider. Search sounds like a small feature but is one of the most-used parts of any real system — this section covers exactly what it can and cannot do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search explained plainly: one box, every entity, instant navigation — built as a shared service before the single-application UI existed, and now surfaced through the command palette.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table of what search covers today versus a natural-language query, which is explicitly a roadmap item, not a hidden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AI/semantic search as a clearly planned, not-yet-built capability, and explains in plain English why it is achievable relatively cheaply — the hard part (structured data)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'why' for search — each search type maps to a specific, real question a salesperson asks multiple times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 divider. This section mirrors the real product's own navigation groups exactly, so a new user can use this deck as a literal companion to the sidebar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group has one screen by design — a single landing page, not a maze of choices, aggregating every other module into one glance.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Intelligence is the largest group deliberately — this is the research-before-outreach philosophy from Section 1 made literal in the product's own navigation.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group — every screen here is functionally real; the one thing missing across all of them is a live outbound mail server (Section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group — the deal board and sequences are two of the most HubSpot-comparable features in the whole platform (Section 16 scores them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smaller but important groups — Custom Objects and Workflow are two of DRIP's most HubSpot/Salesforce-comparable back-office capabilities; Agents is explicitly labelled planned in the product itself, not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Analytics and Admin close out the 31-screen tour — note that the Feature Parity screen literally renders the same honest capability data this whole document is built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depends on almost every other module having real data — it is the payoff screen for everything else being kept up to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 360 is the direct product answer to Section 1's core problem statement — everything about one bank, in one place, instead of scattered across inboxes and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Center is deliberately built as infrastructure, not a demo — versioning, cost tracking, and evaluation are the unglamorous but essential pieces that make AI usage safe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 divider. CRUD is a technical term (Create, Read, Update, Delete) for the four basic things any system does to data — this section explains how DRIP does each one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four-letter acronym CRUD explained without jargon — every single feature in the product is, underneath, one of these four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Bulk upload is one of the most requested and most recently improved capabilities — this slide is explicit about both what works today and the one remaining limitation (unfamiliar file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trail is one of DRIP's genuine strengths — automatic and comprehensive — while being honest that a polished per-field history view on top of the raw data doesn't exist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 delete is a deliberate safety-first design — the risky part (permanent data loss) is already solved; what's missing is a friendlier recovery screen, which is a lower-urgency UI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 divider. The guiding principle for this whole section: every AI feature here either works today with zero API keys (a deterministic, auditable policy) or is clearly labelled as needing a live model connection — nothing is faked.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honesty backbone of the AI section — most features work today via deterministic logic and become smarter automatically the moment a real model key is added, rather than requiring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infrastructure most AI-feature demos skip — versioning, cost tracking, evaluation, and guardrails — and it's exactly what makes the individual AI features on the previous slide safe to actually turn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Decision Engine is one of the few capabilities the project's own honest audit says exceeds both HubSpot and Mailchimp — neither product ships a next-touch engine with fully logged, auditable reasoning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copilot's honesty is a feature, not a bug — 'grounded, cite your source' answers with a graceful 'I don't know that yet' are more trustworthy for a sales team than a confident-sounding hallucination.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Bridges into Section 18's technical roadmap — every AI roadmap item here builds directly on infrastructure that already exists, rather than starting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12 divider. This section follows one prospect end to end through a campaign, the way a marketer or salesperson would actually experience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seven-step journey — every step here is backed by a real table and a real API endpoint described in Sections 5 and 9, not a diagram of an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real gap in the entire campaign journey is the final-mile delivery step — everything before and after sending is fully built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plain-English narrative version of the campaign flow for a non-technical reader — emphasise the closed loop from marketing engagement to sales pipeline as the real payoff.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13 divider. This section walks through the product exactly as a real user would experience it in a single day, tying every earlier section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daily loop — this is deliberately the same nine steps every day, which is the point: a repeatable, learnable habit rather than a different workflow depending on which tool happens to be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out the how-it-works half of the deck (Sections 3-13) before the deck turns, in Section 14 onward, to an honest scorecard of exactly how much of this vision is real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14 divider. Everything in this section comes from capability_registry.py, a real file the engineering team maintains and the product itself renders live at /platform/parity — this deck did not invent a new 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specifically to prevent the exact mistake the project's own internal audit flagged: quoting one honest number without stating which question it answers. Say all three out loud,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a direct rendering of capability_registry.by_module() — the same data the live Feature Parity screen in the product shows. Notice the pattern: almost every gap is either 'planned, not started yet' or 'built, waiting on external credentials/infrastructure' — very few are 'attempted and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Explains the discipline behind the status labels so a reader trusts them — this is the same rigor that turned early, much lower honesty scores (6/100) into the current, still-honest 22/100 and 80%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open item in the entire registry, twelve in total, listed with nothing hidden. Section 15 takes each of these and adds business value, dependency, effort, priority, and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15 divider. This is the project's own honest to-do list, not a sales-softened version of it — every item here traces back to a specific slide earlier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exact ordering comes from the project's own internal 'Real-Scale Judgment' review — these five items move the fit-for-purpose score from roughly 50 to 75+, and notably, none of them are unsolved engineering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here is judged against Decimal's actual situation — 5 users, roughly 25 KSA accounts — not against what a 500-person SaaS company would prioritise. Compliance certifications rank surprisingly high because procurement processes at large banks can be a hard gate regardless of actual control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smaller, specific gaps flagged honestly throughout Sections 5-10 rather than hidden — each one is a modest, well-scoped addition, not a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whole 'what's left' section for setting realistic expectations with leadership and investors — some gaps close with a sprint; others close only with time, money, and external validation that no amount of code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16 divider. Every score against HubSpot, Mailchimp, Salesforce, 6sense, Demandbase, Apollo, Outreach, Salesloft, Customer.io, Clay, and ServiceNow is measured directly from the engineering capability registry. The remaining named competitors (ZoomInfo, Affinity, People.ai, LinkedIn Sales Navigator, Lusha, Cognism, Bombora, Factors.ai) are compared categorically based on their known public product positioning, clearly marked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averaged directly from every feature-level parity score in capability_registry.py where DRIP claims a comparison to that competitor. Clay shows 0 because DRIP's enrichment engine has zero real providers plugged in today (Section 6) — the honest number, not a rounded-up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subsystem-level verdict: DRIP's underlying data model is real and in places richer than HubSpot's (relationship graph, KSA-specific taxonomy); what's missing is HubSpot's configurability layer — visual builders, a marketplace — the parts that make it feel like a mature, general-purpose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Mailchimp's real moat, per the project's own analysis, is its event pipeline (send -&gt; track -&gt; suppress -&gt; report), not its compose UI — and that pipeline is what DRIP has actually matched or exceeded; the visual builder and real sending infrastructure are the honest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are compared categorically based on their well-known public product positioning rather than a registry-measured percentage, because DRIP's capability registry does not carry direct feature-level comparisons to them yet — flagged honestly rather than inventing a false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strengths exist precisely because DRIP was never trying to be a general product — being narrow and deep for one specific, hard sales motion is what let it beat two well-funded incumbents on these particular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deliberately practical closing slide for this section — not every strength of a well-funded incumbent is worth imitating, and copying the wrong things (pricing model, genericness, marketplace-chasing) would actively work against DRIP's actual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17 divider. Every earlier section explained mechanics; this section is purely about justification — if a reader only remembers one section from this whole deck, it should probably be this one or Section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'why', not the 'how' — the Vendor Master and the taxonomy split both trace back to the same root cause: generic categorisation hides differences that materially change how a deal gets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most distinctive design decisions in the whole system, justified purely on business grounds: relationships and timing are the two things that actually move enterprise banking deals.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these ideas exist because a simpler version was tried first and found to lose real, actionable information — the more complex model is more complex on purpose, not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features exist to remove a specific, real form of friction — hunting across sources for one story, and hunting across screens for one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case for explainable, gated AI rather than a more 'impressive'-sounding black-box model — trust and defensibility matter more than raw predictive power for this specific, relationship-sensitive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18 divider. This roadmap is deliberately sequenced by leverage (Section 15), not by what's most exciting to build — the earliest phases unlock everyday real use; the later phases add depth and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phases, each one unlocked by the phase before it — this is the same leverage-first ordering used in Section 15's five highest-priority items, extended into a full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items are real, named future capabilities rather than silent omissions — they're sequenced last because their value depends on conditions (field usage, external developer demand) that don't exist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roadmap — each item builds on an engine that already exists and is tested, rather than proposing a new automation system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19 divider. This section leads with real history: a past internal production-readiness review found five serious architectural risks, nicknamed 'BOMB 1' through 'BOMB 5' in the project's own notes — all five have since been fixed and verified, which is exactly the kind of transparency this document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risks were serious enough to earn a memorable nickname in the project's own internal review — the honest thing to do here is show them and show that every one was subsequently fixed and re-verified with automated tests, rather than pretend they never existed.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risk is largely mitigated for current scale; the honest open item is that scale has been designed for but not yet proven under real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Application-level security design is a genuine strength of this project; the residual risk is entirely about external validation (SSO for outside users, an independent pen test) rather than a known internal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is the area where 'the engineering is basically done, the sign-off is not' applies most literally — the risk here is procedural and legal, not a missing technical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risks here are mostly about expectations and continuity rather than the platform itself — which is exactly why a document like this one, read by every stakeholder, is itself a risk-mitigation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20 divider, the closing section. This is the payoff vision — grounded, per the deck's own discipline, in what the roadmap already shows is achievable rather than an unbounded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salesperson's-eye view — the entire product vision compressed into what changes for the person actually carrying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stakeholders extract different value from the exact same underlying system — this is the practical meaning of 'one system of record' from Section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the deck by tying back to Section 1's business objective: 'build a reusable platform' — the architecture decisions made throughout this document (multi-tenancy, configurable taxonomy, a general-purpose engine underneath a bank-specific skin) are exactly what makes that expansion realistic rather than aspirational.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End on the deck's central discipline: honesty over polish. This is the same principle that turned a 6/100 self-assessment into real, verifiable engines, and it should govern every future update to this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p:spPr>
      </p:sp>
      <p:sp>
        <p:nvSpPr>
          <p:cNvPr id="3" name="Text 1"/>
          <p:cNvSpPr/>
          <p:nvPr/>
        </p:nvSpPr>
        <p:spPr>
          <a:xfrm>
            <a:off x="9265615" y="548640"/>
            <a:ext cx="2377440" cy="2377440"/>
          </a:xfrm>
          <a:prstGeom prst="rect">
            <a:avLst/>
          </a:prstGeom>
          <a:noFill/>
          <a:ln/>
        </p:spPr>
        <p:txBody>
          <a:bodyPr wrap="square" rtlCol="0" anchor="ctr"/>
          <a:lstStyle/>
          <a:p>
            <a:pPr algn="ctr" indent="0" marL="0">
              <a:buNone/>
            </a:pPr>
            <a:r>
              <a:rPr lang="en-US" sz="22000" dirty="0">
                <a:solidFill>
                  <a:srgbClr val="1E2C4F"/>
                </a:solidFill>
                <a:latin typeface="Cambria" pitchFamily="34" charset="0"/>
                <a:ea typeface="Cambria" pitchFamily="34" charset="-122"/>
                <a:cs typeface="Cambria" pitchFamily="34" charset="-120"/>
              </a:rPr>
              <a:t>◆</a:t>
            </a:r>
            <a:endParaRPr lang="en-US" sz="22000" dirty="0"/>
          </a:p>
        </p:txBody>
      </p:sp>
      <p:sp>
        <p:nvSpPr>
          <p:cNvPr id="4" name="Shape 2"/>
          <p:cNvSpPr/>
          <p:nvPr/>
        </p:nvSpPr>
        <p:spPr>
          <a:xfrm>
            <a:off x="502920" y="1965960"/>
            <a:ext cx="502920" cy="502920"/>
          </a:xfrm>
          <a:prstGeom prst="rect">
            <a:avLst/>
          </a:prstGeom>
          <a:solidFill>
            <a:srgbClr val="C9A227"/>
          </a:solidFill>
          <a:ln/>
        </p:spPr>
      </p:sp>
      <p:sp>
        <p:nvSpPr>
          <p:cNvPr id="5" name="Text 3"/>
          <p:cNvSpPr/>
          <p:nvPr/>
        </p:nvSpPr>
        <p:spPr>
          <a:xfrm>
            <a:off x="502920" y="1965960"/>
            <a:ext cx="502920" cy="502920"/>
          </a:xfrm>
          <a:prstGeom prst="rect">
            <a:avLst/>
          </a:prstGeom>
          <a:noFill/>
          <a:ln/>
        </p:spPr>
        <p:txBody>
          <a:bodyPr wrap="square" rtlCol="0" anchor="ctr"/>
          <a:lstStyle/>
          <a:p>
            <a:pPr algn="ctr" indent="0" marL="0">
              <a:buNone/>
            </a:pPr>
            <a:r>
              <a:rPr lang="en-US" sz="2600" b="1" dirty="0">
                <a:solidFill>
                  <a:srgbClr val="0B1220"/>
                </a:solidFill>
                <a:latin typeface="Cambria" pitchFamily="34" charset="0"/>
                <a:ea typeface="Cambria" pitchFamily="34" charset="-122"/>
                <a:cs typeface="Cambria" pitchFamily="34" charset="-120"/>
              </a:rPr>
              <a:t>◆</a:t>
            </a:r>
            <a:endParaRPr lang="en-US" sz="2600" dirty="0"/>
          </a:p>
        </p:txBody>
      </p:sp>
      <p:sp>
        <p:nvSpPr>
          <p:cNvPr id="6" name="Text 4"/>
          <p:cNvSpPr/>
          <p:nvPr/>
        </p:nvSpPr>
        <p:spPr>
          <a:xfrm>
            <a:off x="1188720" y="2029968"/>
            <a:ext cx="8229600" cy="384048"/>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OFFICIAL PRODUCT &amp; ENGINEERING DOCUMENTATION</a:t>
            </a:r>
            <a:endParaRPr lang="en-US" sz="1400" dirty="0"/>
          </a:p>
        </p:txBody>
      </p:sp>
      <p:sp>
        <p:nvSpPr>
          <p:cNvPr id="7" name="Text 5"/>
          <p:cNvSpPr/>
          <p:nvPr/>
        </p:nvSpPr>
        <p:spPr>
          <a:xfrm>
            <a:off x="502920" y="2606040"/>
            <a:ext cx="10088575" cy="1737360"/>
          </a:xfrm>
          <a:prstGeom prst="rect">
            <a:avLst/>
          </a:prstGeom>
          <a:noFill/>
          <a:ln/>
        </p:spPr>
        <p:txBody>
          <a:bodyPr wrap="square" rtlCol="0" anchor="t"/>
          <a:lstStyle/>
          <a:p>
            <a:pPr algn="l" indent="0" marL="0">
              <a:lnSpc>
                <a:spcPts val="4400"/>
              </a:lnSpc>
              <a:buNone/>
            </a:pPr>
            <a:r>
              <a:rPr lang="en-US" sz="4000" b="1" dirty="0">
                <a:solidFill>
                  <a:srgbClr val="FFFFFF"/>
                </a:solidFill>
                <a:latin typeface="Cambria" pitchFamily="34" charset="0"/>
                <a:ea typeface="Cambria" pitchFamily="34" charset="-122"/>
                <a:cs typeface="Cambria" pitchFamily="34" charset="-120"/>
              </a:rPr>
              <a:t>DRIP OS — The Complete Implementation Handbook</a:t>
            </a:r>
            <a:endParaRPr lang="en-US" sz="4000" dirty="0"/>
          </a:p>
        </p:txBody>
      </p:sp>
      <p:sp>
        <p:nvSpPr>
          <p:cNvPr id="8" name="Text 6"/>
          <p:cNvSpPr/>
          <p:nvPr/>
        </p:nvSpPr>
        <p:spPr>
          <a:xfrm>
            <a:off x="502920" y="4160520"/>
            <a:ext cx="9814255" cy="914400"/>
          </a:xfrm>
          <a:prstGeom prst="rect">
            <a:avLst/>
          </a:prstGeom>
          <a:noFill/>
          <a:ln/>
        </p:spPr>
        <p:txBody>
          <a:bodyPr wrap="square" rtlCol="0" anchor="ctr"/>
          <a:lstStyle/>
          <a:p>
            <a:pPr algn="l" indent="0" marL="0">
              <a:lnSpc>
                <a:spcPts val="2200"/>
              </a:lnSpc>
              <a:buNone/>
            </a:pPr>
            <a:r>
              <a:rPr lang="en-US" sz="1600" dirty="0">
                <a:solidFill>
                  <a:srgbClr val="D7E1F2"/>
                </a:solidFill>
                <a:latin typeface="Calibri" pitchFamily="34" charset="0"/>
                <a:ea typeface="Calibri" pitchFamily="34" charset="-122"/>
                <a:cs typeface="Calibri" pitchFamily="34" charset="-120"/>
              </a:rPr>
              <a:t>An account-based marketing and sales operating system built for Decimal Technologies to sell banking and financial technology into Saudi Arabian banks, non-bank financial institutions, and the surrounding vendor ecosystem.</a:t>
            </a:r>
            <a:endParaRPr lang="en-US" sz="1600" dirty="0"/>
          </a:p>
        </p:txBody>
      </p:sp>
      <p:sp>
        <p:nvSpPr>
          <p:cNvPr id="9" name="Shape 7"/>
          <p:cNvSpPr/>
          <p:nvPr/>
        </p:nvSpPr>
        <p:spPr>
          <a:xfrm>
            <a:off x="502920" y="5806440"/>
            <a:ext cx="11185855" cy="0"/>
          </a:xfrm>
          <a:prstGeom prst="line">
            <a:avLst/>
          </a:prstGeom>
          <a:noFill/>
          <a:ln w="12700">
            <a:solidFill>
              <a:srgbClr val="2A3A63"/>
            </a:solidFill>
            <a:prstDash val="solid"/>
          </a:ln>
        </p:spPr>
      </p:sp>
      <p:sp>
        <p:nvSpPr>
          <p:cNvPr id="10" name="Text 8"/>
          <p:cNvSpPr/>
          <p:nvPr/>
        </p:nvSpPr>
        <p:spPr>
          <a:xfrm>
            <a:off x="502920" y="5943600"/>
            <a:ext cx="11185855" cy="457200"/>
          </a:xfrm>
          <a:prstGeom prst="rect">
            <a:avLst/>
          </a:prstGeom>
          <a:noFill/>
          <a:ln/>
        </p:spPr>
        <p:txBody>
          <a:bodyPr wrap="square" rtlCol="0" anchor="ctr"/>
          <a:lstStyle/>
          <a:p>
            <a:pPr indent="0" marL="0">
              <a:buNone/>
            </a:pPr>
            <a:r>
              <a:rPr lang="en-US" sz="1100" dirty="0">
                <a:solidFill>
                  <a:srgbClr val="8FA3C7"/>
                </a:solidFill>
                <a:latin typeface="Calibri" pitchFamily="34" charset="0"/>
                <a:ea typeface="Calibri" pitchFamily="34" charset="-122"/>
                <a:cs typeface="Calibri" pitchFamily="34" charset="-120"/>
              </a:rPr>
              <a:t>Prepared for: Business Head · CEO · Sales Team · Product Manager · Engineering · Investors        Version 1.0 — 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PREFACE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How to read this document</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Who it is for.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Every section is written for five readers at once: the Business Head deciding priorities, the CEO deciding investment, Sales deciding what they can promise a bank, the Product Manager planning the next sprint, and a brand-new engineer who has never seen this codebase.</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Plain English first.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Wherever a technical term is unavoidable (API, database, row-level security, and so on) it is explained the first time it appears, in ordinary language, before the deck uses it again.</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Status is honest, not promotional.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Every capability is marked Complete, In Progress, Planned, or Blocked. These labels come directly from the project's own internal capability registry — the same file the engineering team uses to track itself — not from a sales deck.</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Twenty sections, one story.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Sections 1-2 explain the why and the history. Sections 3-13 explain how the system is built and how it works today. Sections 14-20 give the current scorecard, the honest gaps, the competitive reality, and what happens next.</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PREFACE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Table of contents</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616543"/>
                <a:gridCol w="3170794"/>
                <a:gridCol w="7398518"/>
              </a:tblGrid>
              <a:tr h="226423">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Section</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What it answers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Project Overview</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What problem are we solving, and why does it matter?</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Project Journey</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What has been built so far, in what order, and why?</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System Architecture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What are the moving parts and how do they fit together?</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Core Database Design</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How is the data organised, connected, and kept safe?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Master Databases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What does every major table actually store?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Data Collection Pipeline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Where does contact and company data come from?</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Contact Intelligence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How is one person connected to everything else?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Search Engine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How do you find anything in the system, instantly?</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Platform Modules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What can a user actually click on and do, module by module?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CRUD Operations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How does a record get created, changed, or deleted safely?</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AI Features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Where is artificial intelligence actually used today?</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Campaign Flow</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How does a prospect become a customer, step by step?</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Complete User Flow</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What does a normal day look like for a salesperson?</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Current Status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What is actually done, right now, module by module?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What Is Left</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What remains, why, and how urgent is it?</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Competitor Comparison</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How do we honestly compare to HubSpot, Apollo, 6sense, and others?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17</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Business Logic</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Why does each feature exist — not how, but why?</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Technical Roadmap</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What are the next phases of engineering work?</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19</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Risks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What could go wrong, and how do we reduce it?</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226423">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Final Product Vision</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What does the finished product look like, and how is it used?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01</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01</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Project Overview</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What DRIP is, why it exists, and how we will know it worked.</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The problem in Saudi banking sales</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Why generic CRM/ABM tools fail here</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Our approach and what makes it different</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Business objectives, vision, and success metrics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 — OVERVIEW</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What problem are we solving?</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One banking sale touches 8-12 people.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single core-banking, digital-lending, or fraud-platform deal at a Saudi bank involves the CTO, CISO, procurement, risk, business heads, and more. Nobody sells a bank by talking to one contact.</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Relationships live in someone's head, not in a system.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Who knows whom, what was promised in the last meeting, what a contact said on WhatsApp last week — today that knowledge lives in inboxes, phones, and memories. If the person leaves, the relationship leaves with them.</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Signals arrive too late.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bank announces a digital transformation programme, a new CIO joins, a regulator issues new guidance — and the sales team often finds out weeks later, from a competitor's press release, instead of on day one.</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Generic CRMs don't understand banks.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HubSpot and Salesforce have no built-in idea of a 'buying committee', a 'core banking vendor', a 'buying signal', or a Saudi business calendar. Every one of those concepts has to be bolted on by hand, if it's possible at all.</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 — OVERVIEW</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Why existing ABM platforms fail us</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 HubSpot / Salesforce / 6sense assume</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024128"/>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A global, self-serve market.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Built for US/EU company structures, English-only workflows, and a buyer who can click 'buy now' without a committee.</a:t>
            </a:r>
            <a:endParaRPr lang="en-US" sz="1250" dirty="0"/>
          </a:p>
        </p:txBody>
      </p:sp>
      <p:sp>
        <p:nvSpPr>
          <p:cNvPr id="9" name="Shape 7"/>
          <p:cNvSpPr/>
          <p:nvPr/>
        </p:nvSpPr>
        <p:spPr>
          <a:xfrm>
            <a:off x="502920" y="3172968"/>
            <a:ext cx="82296" cy="82296"/>
          </a:xfrm>
          <a:prstGeom prst="ellipse">
            <a:avLst/>
          </a:prstGeom>
          <a:solidFill>
            <a:srgbClr val="C9A227"/>
          </a:solidFill>
          <a:ln/>
        </p:spPr>
      </p:sp>
      <p:sp>
        <p:nvSpPr>
          <p:cNvPr id="10" name="Text 8"/>
          <p:cNvSpPr/>
          <p:nvPr/>
        </p:nvSpPr>
        <p:spPr>
          <a:xfrm>
            <a:off x="731520" y="3054096"/>
            <a:ext cx="5090008" cy="1024128"/>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Generic industry data.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No concept of core-banking vendors, financial regulators, Sharia-compliance considerations, or Gulf business calendars.</a:t>
            </a:r>
            <a:endParaRPr lang="en-US" sz="1250" dirty="0"/>
          </a:p>
        </p:txBody>
      </p:sp>
      <p:sp>
        <p:nvSpPr>
          <p:cNvPr id="11" name="Shape 9"/>
          <p:cNvSpPr/>
          <p:nvPr/>
        </p:nvSpPr>
        <p:spPr>
          <a:xfrm>
            <a:off x="502920" y="4197096"/>
            <a:ext cx="82296" cy="82296"/>
          </a:xfrm>
          <a:prstGeom prst="ellipse">
            <a:avLst/>
          </a:prstGeom>
          <a:solidFill>
            <a:srgbClr val="C9A227"/>
          </a:solidFill>
          <a:ln/>
        </p:spPr>
      </p:sp>
      <p:sp>
        <p:nvSpPr>
          <p:cNvPr id="12" name="Text 10"/>
          <p:cNvSpPr/>
          <p:nvPr/>
        </p:nvSpPr>
        <p:spPr>
          <a:xfrm>
            <a:off x="731520" y="4078224"/>
            <a:ext cx="5090008" cy="1024128"/>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Per-seat pricing at scale.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Priced and designed for sales orgs with hundreds of reps, not a small, senior, five-person BD team.</a:t>
            </a:r>
            <a:endParaRPr lang="en-US" sz="1250" dirty="0"/>
          </a:p>
        </p:txBody>
      </p:sp>
      <p:sp>
        <p:nvSpPr>
          <p:cNvPr id="13" name="Shape 11"/>
          <p:cNvSpPr/>
          <p:nvPr/>
        </p:nvSpPr>
        <p:spPr>
          <a:xfrm>
            <a:off x="502920" y="5221224"/>
            <a:ext cx="82296" cy="82296"/>
          </a:xfrm>
          <a:prstGeom prst="ellipse">
            <a:avLst/>
          </a:prstGeom>
          <a:solidFill>
            <a:srgbClr val="C9A227"/>
          </a:solidFill>
          <a:ln/>
        </p:spPr>
      </p:sp>
      <p:sp>
        <p:nvSpPr>
          <p:cNvPr id="14" name="Text 12"/>
          <p:cNvSpPr/>
          <p:nvPr/>
        </p:nvSpPr>
        <p:spPr>
          <a:xfrm>
            <a:off x="731520" y="5102352"/>
            <a:ext cx="5090008" cy="1024128"/>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A flat contact list.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Contacts and companies are associated, but there is no native concept of a multi-person buying committee with roles.</a:t>
            </a:r>
            <a:endParaRPr lang="en-US" sz="1250" dirty="0"/>
          </a:p>
        </p:txBody>
      </p:sp>
      <p:sp>
        <p:nvSpPr>
          <p:cNvPr id="15" name="Shape 13"/>
          <p:cNvSpPr/>
          <p:nvPr/>
        </p:nvSpPr>
        <p:spPr>
          <a:xfrm>
            <a:off x="6324448" y="1417320"/>
            <a:ext cx="5364328" cy="457200"/>
          </a:xfrm>
          <a:prstGeom prst="rect">
            <a:avLst/>
          </a:prstGeom>
          <a:solidFill>
            <a:srgbClr val="F3F5F9"/>
          </a:solidFill>
          <a:ln/>
        </p:spPr>
      </p:sp>
      <p:sp>
        <p:nvSpPr>
          <p:cNvPr id="16" name="Shape 14"/>
          <p:cNvSpPr/>
          <p:nvPr/>
        </p:nvSpPr>
        <p:spPr>
          <a:xfrm>
            <a:off x="6324448" y="1417320"/>
            <a:ext cx="73152" cy="457200"/>
          </a:xfrm>
          <a:prstGeom prst="rect">
            <a:avLst/>
          </a:prstGeom>
          <a:solidFill>
            <a:srgbClr val="2657A8"/>
          </a:solidFill>
          <a:ln/>
        </p:spPr>
      </p:sp>
      <p:sp>
        <p:nvSpPr>
          <p:cNvPr id="17" name="Text 15"/>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 DRIP is built around instead</a:t>
            </a:r>
            <a:endParaRPr lang="en-US" sz="1500" dirty="0"/>
          </a:p>
        </p:txBody>
      </p:sp>
      <p:sp>
        <p:nvSpPr>
          <p:cNvPr id="18" name="Shape 16"/>
          <p:cNvSpPr/>
          <p:nvPr/>
        </p:nvSpPr>
        <p:spPr>
          <a:xfrm>
            <a:off x="6324448" y="2148840"/>
            <a:ext cx="82296" cy="82296"/>
          </a:xfrm>
          <a:prstGeom prst="ellipse">
            <a:avLst/>
          </a:prstGeom>
          <a:solidFill>
            <a:srgbClr val="2657A8"/>
          </a:solidFill>
          <a:ln/>
        </p:spPr>
      </p:sp>
      <p:sp>
        <p:nvSpPr>
          <p:cNvPr id="19" name="Text 17"/>
          <p:cNvSpPr/>
          <p:nvPr/>
        </p:nvSpPr>
        <p:spPr>
          <a:xfrm>
            <a:off x="6553048" y="2029968"/>
            <a:ext cx="5090008" cy="1024128"/>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Bank-specific taxonomy.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Banks vs. Non-Bank Financial Institutions (insurance, payments, financing) vs. Ecosystem (vendors, regulators, consultants) as first-class categories.</a:t>
            </a:r>
            <a:endParaRPr lang="en-US" sz="1250" dirty="0"/>
          </a:p>
        </p:txBody>
      </p:sp>
      <p:sp>
        <p:nvSpPr>
          <p:cNvPr id="20" name="Shape 18"/>
          <p:cNvSpPr/>
          <p:nvPr/>
        </p:nvSpPr>
        <p:spPr>
          <a:xfrm>
            <a:off x="6324448" y="3172968"/>
            <a:ext cx="82296" cy="82296"/>
          </a:xfrm>
          <a:prstGeom prst="ellipse">
            <a:avLst/>
          </a:prstGeom>
          <a:solidFill>
            <a:srgbClr val="2657A8"/>
          </a:solidFill>
          <a:ln/>
        </p:spPr>
      </p:sp>
      <p:sp>
        <p:nvSpPr>
          <p:cNvPr id="21" name="Text 19"/>
          <p:cNvSpPr/>
          <p:nvPr/>
        </p:nvSpPr>
        <p:spPr>
          <a:xfrm>
            <a:off x="6553048" y="3054096"/>
            <a:ext cx="5090008" cy="1024128"/>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Buying-committee-first design.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Every account models the whole committee — decision maker, influencer, champion, blocker — not one flattened contact.</a:t>
            </a:r>
            <a:endParaRPr lang="en-US" sz="1250" dirty="0"/>
          </a:p>
        </p:txBody>
      </p:sp>
      <p:sp>
        <p:nvSpPr>
          <p:cNvPr id="22" name="Shape 20"/>
          <p:cNvSpPr/>
          <p:nvPr/>
        </p:nvSpPr>
        <p:spPr>
          <a:xfrm>
            <a:off x="6324448" y="4197096"/>
            <a:ext cx="82296" cy="82296"/>
          </a:xfrm>
          <a:prstGeom prst="ellipse">
            <a:avLst/>
          </a:prstGeom>
          <a:solidFill>
            <a:srgbClr val="2657A8"/>
          </a:solidFill>
          <a:ln/>
        </p:spPr>
      </p:sp>
      <p:sp>
        <p:nvSpPr>
          <p:cNvPr id="23" name="Text 21"/>
          <p:cNvSpPr/>
          <p:nvPr/>
        </p:nvSpPr>
        <p:spPr>
          <a:xfrm>
            <a:off x="6553048" y="4078224"/>
            <a:ext cx="5090008" cy="1024128"/>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Saudi-aware by default.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Sunday-Thursday send windows, Ramadan blackout periods, Arabic name fields, and KSA-specific org taxonomy are built in, not bolted on.</a:t>
            </a:r>
            <a:endParaRPr lang="en-US" sz="1250" dirty="0"/>
          </a:p>
        </p:txBody>
      </p:sp>
      <p:sp>
        <p:nvSpPr>
          <p:cNvPr id="24" name="Shape 22"/>
          <p:cNvSpPr/>
          <p:nvPr/>
        </p:nvSpPr>
        <p:spPr>
          <a:xfrm>
            <a:off x="6324448" y="5221224"/>
            <a:ext cx="82296" cy="82296"/>
          </a:xfrm>
          <a:prstGeom prst="ellipse">
            <a:avLst/>
          </a:prstGeom>
          <a:solidFill>
            <a:srgbClr val="2657A8"/>
          </a:solidFill>
          <a:ln/>
        </p:spPr>
      </p:sp>
      <p:sp>
        <p:nvSpPr>
          <p:cNvPr id="25" name="Text 23"/>
          <p:cNvSpPr/>
          <p:nvPr/>
        </p:nvSpPr>
        <p:spPr>
          <a:xfrm>
            <a:off x="6553048" y="5102352"/>
            <a:ext cx="5090008" cy="1024128"/>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Owned end-to-end, no per-seat tax.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No vendor lock-in and no licence fee per user — the system is shaped exactly around this team's real workflow.</a:t>
            </a:r>
            <a:endParaRPr lang="en-US" sz="1250" dirty="0"/>
          </a:p>
        </p:txBody>
      </p:sp>
      <p:sp>
        <p:nvSpPr>
          <p:cNvPr id="26" name="Text 2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7" name="Text 2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 — OVERVIEW</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Why financial institutions specifically need this</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Regulatory gravity.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Saudi banks operate under SAMA oversight and PDPL (the Kingdom's data protection law) — any tool touching their data or their staff's contact details has to be built with compliance as a first-class citizen, not an afterthought.</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Long, multi-year sales cycles.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single core-banking replacement can take 18-36 months from first contact to signed contract. A system has to remember context across years, across staff turnover, across multiple deal attempts.</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Committee-based procurement.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Almost every meaningful purchase goes through a formal or informal committee — technology, risk, procurement, business — and losing track of even one stakeholder can silently kill a deal.</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Vendor ecosystems matter as much as banks.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Who else is selling into a given bank, which system integrator is already inside, which consultant is advising them — this ecosystem context changes the sales strategy, and no generic CRM tracks it.</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 — OVERVIEW</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Our approach: three pillars</a:t>
            </a:r>
            <a:endParaRPr lang="en-US" sz="2600" dirty="0"/>
          </a:p>
        </p:txBody>
      </p:sp>
      <p:sp>
        <p:nvSpPr>
          <p:cNvPr id="4" name="Shape 2"/>
          <p:cNvSpPr/>
          <p:nvPr/>
        </p:nvSpPr>
        <p:spPr>
          <a:xfrm>
            <a:off x="2025853" y="1691640"/>
            <a:ext cx="512064" cy="512064"/>
          </a:xfrm>
          <a:prstGeom prst="ellipse">
            <a:avLst/>
          </a:prstGeom>
          <a:solidFill>
            <a:srgbClr val="0B1220"/>
          </a:solidFill>
          <a:ln/>
        </p:spPr>
      </p:sp>
      <p:sp>
        <p:nvSpPr>
          <p:cNvPr id="5" name="Text 3"/>
          <p:cNvSpPr/>
          <p:nvPr/>
        </p:nvSpPr>
        <p:spPr>
          <a:xfrm>
            <a:off x="2025853"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1</a:t>
            </a:r>
            <a:endParaRPr lang="en-US" sz="2000" dirty="0"/>
          </a:p>
        </p:txBody>
      </p:sp>
      <p:sp>
        <p:nvSpPr>
          <p:cNvPr id="6" name="Shape 4"/>
          <p:cNvSpPr/>
          <p:nvPr/>
        </p:nvSpPr>
        <p:spPr>
          <a:xfrm>
            <a:off x="2556205" y="1947672"/>
            <a:ext cx="3265322" cy="0"/>
          </a:xfrm>
          <a:prstGeom prst="line">
            <a:avLst/>
          </a:prstGeom>
          <a:noFill/>
          <a:ln w="19050">
            <a:solidFill>
              <a:srgbClr val="E1E5EE"/>
            </a:solidFill>
            <a:prstDash val="dash"/>
          </a:ln>
        </p:spPr>
      </p:sp>
      <p:sp>
        <p:nvSpPr>
          <p:cNvPr id="7" name="Text 5"/>
          <p:cNvSpPr/>
          <p:nvPr/>
        </p:nvSpPr>
        <p:spPr>
          <a:xfrm>
            <a:off x="502920" y="2377440"/>
            <a:ext cx="3557930"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Intelligence First</a:t>
            </a:r>
            <a:endParaRPr lang="en-US" sz="1250" dirty="0"/>
          </a:p>
        </p:txBody>
      </p:sp>
      <p:sp>
        <p:nvSpPr>
          <p:cNvPr id="8" name="Text 6"/>
          <p:cNvSpPr/>
          <p:nvPr/>
        </p:nvSpPr>
        <p:spPr>
          <a:xfrm>
            <a:off x="502920" y="2880360"/>
            <a:ext cx="3557930"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Know the bank, its people, its technology stack, and what's happening around it before you ever send an email.</a:t>
            </a:r>
            <a:endParaRPr lang="en-US" sz="1080" dirty="0"/>
          </a:p>
        </p:txBody>
      </p:sp>
      <p:sp>
        <p:nvSpPr>
          <p:cNvPr id="9" name="Shape 7"/>
          <p:cNvSpPr/>
          <p:nvPr/>
        </p:nvSpPr>
        <p:spPr>
          <a:xfrm>
            <a:off x="5839816" y="1691640"/>
            <a:ext cx="512064" cy="512064"/>
          </a:xfrm>
          <a:prstGeom prst="ellipse">
            <a:avLst/>
          </a:prstGeom>
          <a:solidFill>
            <a:srgbClr val="0B1220"/>
          </a:solidFill>
          <a:ln/>
        </p:spPr>
      </p:sp>
      <p:sp>
        <p:nvSpPr>
          <p:cNvPr id="10" name="Text 8"/>
          <p:cNvSpPr/>
          <p:nvPr/>
        </p:nvSpPr>
        <p:spPr>
          <a:xfrm>
            <a:off x="5839816"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2</a:t>
            </a:r>
            <a:endParaRPr lang="en-US" sz="2000" dirty="0"/>
          </a:p>
        </p:txBody>
      </p:sp>
      <p:sp>
        <p:nvSpPr>
          <p:cNvPr id="11" name="Shape 9"/>
          <p:cNvSpPr/>
          <p:nvPr/>
        </p:nvSpPr>
        <p:spPr>
          <a:xfrm>
            <a:off x="6370168" y="1947672"/>
            <a:ext cx="3265322" cy="0"/>
          </a:xfrm>
          <a:prstGeom prst="line">
            <a:avLst/>
          </a:prstGeom>
          <a:noFill/>
          <a:ln w="19050">
            <a:solidFill>
              <a:srgbClr val="E1E5EE"/>
            </a:solidFill>
            <a:prstDash val="dash"/>
          </a:ln>
        </p:spPr>
      </p:sp>
      <p:sp>
        <p:nvSpPr>
          <p:cNvPr id="12" name="Text 10"/>
          <p:cNvSpPr/>
          <p:nvPr/>
        </p:nvSpPr>
        <p:spPr>
          <a:xfrm>
            <a:off x="4316882" y="2377440"/>
            <a:ext cx="3557930"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Relationships as Data</a:t>
            </a:r>
            <a:endParaRPr lang="en-US" sz="1250" dirty="0"/>
          </a:p>
        </p:txBody>
      </p:sp>
      <p:sp>
        <p:nvSpPr>
          <p:cNvPr id="13" name="Text 11"/>
          <p:cNvSpPr/>
          <p:nvPr/>
        </p:nvSpPr>
        <p:spPr>
          <a:xfrm>
            <a:off x="4316882" y="2880360"/>
            <a:ext cx="3557930"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Every person, every committee role, every past interaction is a structured record — not a memory that walks out the door.</a:t>
            </a:r>
            <a:endParaRPr lang="en-US" sz="1080" dirty="0"/>
          </a:p>
        </p:txBody>
      </p:sp>
      <p:sp>
        <p:nvSpPr>
          <p:cNvPr id="14" name="Shape 12"/>
          <p:cNvSpPr/>
          <p:nvPr/>
        </p:nvSpPr>
        <p:spPr>
          <a:xfrm>
            <a:off x="9653778" y="1691640"/>
            <a:ext cx="512064" cy="512064"/>
          </a:xfrm>
          <a:prstGeom prst="ellipse">
            <a:avLst/>
          </a:prstGeom>
          <a:solidFill>
            <a:srgbClr val="0B1220"/>
          </a:solidFill>
          <a:ln/>
        </p:spPr>
      </p:sp>
      <p:sp>
        <p:nvSpPr>
          <p:cNvPr id="15" name="Text 13"/>
          <p:cNvSpPr/>
          <p:nvPr/>
        </p:nvSpPr>
        <p:spPr>
          <a:xfrm>
            <a:off x="9653778"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8130845" y="2377440"/>
            <a:ext cx="3557930"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One System of Record</a:t>
            </a:r>
            <a:endParaRPr lang="en-US" sz="1250" dirty="0"/>
          </a:p>
        </p:txBody>
      </p:sp>
      <p:sp>
        <p:nvSpPr>
          <p:cNvPr id="17" name="Text 15"/>
          <p:cNvSpPr/>
          <p:nvPr/>
        </p:nvSpPr>
        <p:spPr>
          <a:xfrm>
            <a:off x="8130845" y="2880360"/>
            <a:ext cx="3557930"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CRM, marketing, AI, and reporting all read and write the same database, so nothing lives in a spreadsheet on someone's laptop.</a:t>
            </a:r>
            <a:endParaRPr lang="en-US" sz="1080" dirty="0"/>
          </a:p>
        </p:txBody>
      </p:sp>
      <p:sp>
        <p:nvSpPr>
          <p:cNvPr id="18" name="Text 16"/>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9" name="Text 17"/>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 — OVERVIEW</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DRIP in numbers, today</a:t>
            </a:r>
            <a:endParaRPr lang="en-US" sz="2600" dirty="0"/>
          </a:p>
        </p:txBody>
      </p:sp>
      <p:sp>
        <p:nvSpPr>
          <p:cNvPr id="4" name="Shape 2"/>
          <p:cNvSpPr/>
          <p:nvPr/>
        </p:nvSpPr>
        <p:spPr>
          <a:xfrm>
            <a:off x="502920" y="1554480"/>
            <a:ext cx="2556434" cy="2148840"/>
          </a:xfrm>
          <a:prstGeom prst="rect">
            <a:avLst/>
          </a:prstGeom>
          <a:solidFill>
            <a:srgbClr val="0B1220"/>
          </a:solidFill>
          <a:ln/>
        </p:spPr>
      </p:sp>
      <p:sp>
        <p:nvSpPr>
          <p:cNvPr id="5" name="Shape 3"/>
          <p:cNvSpPr/>
          <p:nvPr/>
        </p:nvSpPr>
        <p:spPr>
          <a:xfrm>
            <a:off x="502920" y="1554480"/>
            <a:ext cx="2556434" cy="82296"/>
          </a:xfrm>
          <a:prstGeom prst="rect">
            <a:avLst/>
          </a:prstGeom>
          <a:solidFill>
            <a:srgbClr val="C9A227"/>
          </a:solidFill>
          <a:ln/>
        </p:spPr>
      </p:sp>
      <p:sp>
        <p:nvSpPr>
          <p:cNvPr id="6" name="Text 4"/>
          <p:cNvSpPr/>
          <p:nvPr/>
        </p:nvSpPr>
        <p:spPr>
          <a:xfrm>
            <a:off x="640080" y="1874520"/>
            <a:ext cx="2282114" cy="100584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91</a:t>
            </a:r>
            <a:endParaRPr lang="en-US" sz="3400" dirty="0"/>
          </a:p>
        </p:txBody>
      </p:sp>
      <p:sp>
        <p:nvSpPr>
          <p:cNvPr id="7" name="Text 5"/>
          <p:cNvSpPr/>
          <p:nvPr/>
        </p:nvSpPr>
        <p:spPr>
          <a:xfrm>
            <a:off x="640080" y="2926080"/>
            <a:ext cx="2282114" cy="685800"/>
          </a:xfrm>
          <a:prstGeom prst="rect">
            <a:avLst/>
          </a:prstGeom>
          <a:noFill/>
          <a:ln/>
        </p:spPr>
        <p:txBody>
          <a:bodyPr wrap="square" rtlCol="0" anchor="t"/>
          <a:lstStyle/>
          <a:p>
            <a:pPr algn="ctr" indent="0" marL="0">
              <a:lnSpc>
                <a:spcPct val="110000"/>
              </a:lnSpc>
              <a:buNone/>
            </a:pPr>
            <a:r>
              <a:rPr lang="en-US" sz="1150" dirty="0">
                <a:solidFill>
                  <a:srgbClr val="D7E1F2"/>
                </a:solidFill>
                <a:latin typeface="Calibri" pitchFamily="34" charset="0"/>
                <a:ea typeface="Calibri" pitchFamily="34" charset="-122"/>
                <a:cs typeface="Calibri" pitchFamily="34" charset="-120"/>
              </a:rPr>
              <a:t>database tables covering every part of the business</a:t>
            </a:r>
            <a:endParaRPr lang="en-US" sz="1150" dirty="0"/>
          </a:p>
        </p:txBody>
      </p:sp>
      <p:sp>
        <p:nvSpPr>
          <p:cNvPr id="8" name="Shape 6"/>
          <p:cNvSpPr/>
          <p:nvPr/>
        </p:nvSpPr>
        <p:spPr>
          <a:xfrm>
            <a:off x="3379394" y="1554480"/>
            <a:ext cx="2556434" cy="2148840"/>
          </a:xfrm>
          <a:prstGeom prst="rect">
            <a:avLst/>
          </a:prstGeom>
          <a:solidFill>
            <a:srgbClr val="0B1220"/>
          </a:solidFill>
          <a:ln/>
        </p:spPr>
      </p:sp>
      <p:sp>
        <p:nvSpPr>
          <p:cNvPr id="9" name="Shape 7"/>
          <p:cNvSpPr/>
          <p:nvPr/>
        </p:nvSpPr>
        <p:spPr>
          <a:xfrm>
            <a:off x="3379394" y="1554480"/>
            <a:ext cx="2556434" cy="82296"/>
          </a:xfrm>
          <a:prstGeom prst="rect">
            <a:avLst/>
          </a:prstGeom>
          <a:solidFill>
            <a:srgbClr val="C9A227"/>
          </a:solidFill>
          <a:ln/>
        </p:spPr>
      </p:sp>
      <p:sp>
        <p:nvSpPr>
          <p:cNvPr id="10" name="Text 8"/>
          <p:cNvSpPr/>
          <p:nvPr/>
        </p:nvSpPr>
        <p:spPr>
          <a:xfrm>
            <a:off x="3516554" y="1874520"/>
            <a:ext cx="2282114" cy="100584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215</a:t>
            </a:r>
            <a:endParaRPr lang="en-US" sz="3400" dirty="0"/>
          </a:p>
        </p:txBody>
      </p:sp>
      <p:sp>
        <p:nvSpPr>
          <p:cNvPr id="11" name="Text 9"/>
          <p:cNvSpPr/>
          <p:nvPr/>
        </p:nvSpPr>
        <p:spPr>
          <a:xfrm>
            <a:off x="3516554" y="2926080"/>
            <a:ext cx="2282114" cy="685800"/>
          </a:xfrm>
          <a:prstGeom prst="rect">
            <a:avLst/>
          </a:prstGeom>
          <a:noFill/>
          <a:ln/>
        </p:spPr>
        <p:txBody>
          <a:bodyPr wrap="square" rtlCol="0" anchor="t"/>
          <a:lstStyle/>
          <a:p>
            <a:pPr algn="ctr" indent="0" marL="0">
              <a:lnSpc>
                <a:spcPct val="110000"/>
              </a:lnSpc>
              <a:buNone/>
            </a:pPr>
            <a:r>
              <a:rPr lang="en-US" sz="1150" dirty="0">
                <a:solidFill>
                  <a:srgbClr val="D7E1F2"/>
                </a:solidFill>
                <a:latin typeface="Calibri" pitchFamily="34" charset="0"/>
                <a:ea typeface="Calibri" pitchFamily="34" charset="-122"/>
                <a:cs typeface="Calibri" pitchFamily="34" charset="-120"/>
              </a:rPr>
              <a:t>working API endpoints already live in the running system</a:t>
            </a:r>
            <a:endParaRPr lang="en-US" sz="1150" dirty="0"/>
          </a:p>
        </p:txBody>
      </p:sp>
      <p:sp>
        <p:nvSpPr>
          <p:cNvPr id="12" name="Shape 10"/>
          <p:cNvSpPr/>
          <p:nvPr/>
        </p:nvSpPr>
        <p:spPr>
          <a:xfrm>
            <a:off x="6255868" y="1554480"/>
            <a:ext cx="2556434" cy="2148840"/>
          </a:xfrm>
          <a:prstGeom prst="rect">
            <a:avLst/>
          </a:prstGeom>
          <a:solidFill>
            <a:srgbClr val="0B1220"/>
          </a:solidFill>
          <a:ln/>
        </p:spPr>
      </p:sp>
      <p:sp>
        <p:nvSpPr>
          <p:cNvPr id="13" name="Shape 11"/>
          <p:cNvSpPr/>
          <p:nvPr/>
        </p:nvSpPr>
        <p:spPr>
          <a:xfrm>
            <a:off x="6255868" y="1554480"/>
            <a:ext cx="2556434" cy="82296"/>
          </a:xfrm>
          <a:prstGeom prst="rect">
            <a:avLst/>
          </a:prstGeom>
          <a:solidFill>
            <a:srgbClr val="C9A227"/>
          </a:solidFill>
          <a:ln/>
        </p:spPr>
      </p:sp>
      <p:sp>
        <p:nvSpPr>
          <p:cNvPr id="14" name="Text 12"/>
          <p:cNvSpPr/>
          <p:nvPr/>
        </p:nvSpPr>
        <p:spPr>
          <a:xfrm>
            <a:off x="6393028" y="1874520"/>
            <a:ext cx="2282114" cy="100584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8,000+</a:t>
            </a:r>
            <a:endParaRPr lang="en-US" sz="3400" dirty="0"/>
          </a:p>
        </p:txBody>
      </p:sp>
      <p:sp>
        <p:nvSpPr>
          <p:cNvPr id="15" name="Text 13"/>
          <p:cNvSpPr/>
          <p:nvPr/>
        </p:nvSpPr>
        <p:spPr>
          <a:xfrm>
            <a:off x="6393028" y="2926080"/>
            <a:ext cx="2282114" cy="685800"/>
          </a:xfrm>
          <a:prstGeom prst="rect">
            <a:avLst/>
          </a:prstGeom>
          <a:noFill/>
          <a:ln/>
        </p:spPr>
        <p:txBody>
          <a:bodyPr wrap="square" rtlCol="0" anchor="t"/>
          <a:lstStyle/>
          <a:p>
            <a:pPr algn="ctr" indent="0" marL="0">
              <a:lnSpc>
                <a:spcPct val="110000"/>
              </a:lnSpc>
              <a:buNone/>
            </a:pPr>
            <a:r>
              <a:rPr lang="en-US" sz="1150" dirty="0">
                <a:solidFill>
                  <a:srgbClr val="D7E1F2"/>
                </a:solidFill>
                <a:latin typeface="Calibri" pitchFamily="34" charset="0"/>
                <a:ea typeface="Calibri" pitchFamily="34" charset="-122"/>
                <a:cs typeface="Calibri" pitchFamily="34" charset="-120"/>
              </a:rPr>
              <a:t>real bank and institution contacts loaded and scored</a:t>
            </a:r>
            <a:endParaRPr lang="en-US" sz="1150" dirty="0"/>
          </a:p>
        </p:txBody>
      </p:sp>
      <p:sp>
        <p:nvSpPr>
          <p:cNvPr id="16" name="Shape 14"/>
          <p:cNvSpPr/>
          <p:nvPr/>
        </p:nvSpPr>
        <p:spPr>
          <a:xfrm>
            <a:off x="9132341" y="1554480"/>
            <a:ext cx="2556434" cy="2148840"/>
          </a:xfrm>
          <a:prstGeom prst="rect">
            <a:avLst/>
          </a:prstGeom>
          <a:solidFill>
            <a:srgbClr val="0B1220"/>
          </a:solidFill>
          <a:ln/>
        </p:spPr>
      </p:sp>
      <p:sp>
        <p:nvSpPr>
          <p:cNvPr id="17" name="Shape 15"/>
          <p:cNvSpPr/>
          <p:nvPr/>
        </p:nvSpPr>
        <p:spPr>
          <a:xfrm>
            <a:off x="9132341" y="1554480"/>
            <a:ext cx="2556434" cy="82296"/>
          </a:xfrm>
          <a:prstGeom prst="rect">
            <a:avLst/>
          </a:prstGeom>
          <a:solidFill>
            <a:srgbClr val="C9A227"/>
          </a:solidFill>
          <a:ln/>
        </p:spPr>
      </p:sp>
      <p:sp>
        <p:nvSpPr>
          <p:cNvPr id="18" name="Text 16"/>
          <p:cNvSpPr/>
          <p:nvPr/>
        </p:nvSpPr>
        <p:spPr>
          <a:xfrm>
            <a:off x="9269501" y="1874520"/>
            <a:ext cx="2282114" cy="100584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~50/100</a:t>
            </a:r>
            <a:endParaRPr lang="en-US" sz="3400" dirty="0"/>
          </a:p>
        </p:txBody>
      </p:sp>
      <p:sp>
        <p:nvSpPr>
          <p:cNvPr id="19" name="Text 17"/>
          <p:cNvSpPr/>
          <p:nvPr/>
        </p:nvSpPr>
        <p:spPr>
          <a:xfrm>
            <a:off x="9269501" y="2926080"/>
            <a:ext cx="2282114" cy="685800"/>
          </a:xfrm>
          <a:prstGeom prst="rect">
            <a:avLst/>
          </a:prstGeom>
          <a:noFill/>
          <a:ln/>
        </p:spPr>
        <p:txBody>
          <a:bodyPr wrap="square" rtlCol="0" anchor="t"/>
          <a:lstStyle/>
          <a:p>
            <a:pPr algn="ctr" indent="0" marL="0">
              <a:lnSpc>
                <a:spcPct val="110000"/>
              </a:lnSpc>
              <a:buNone/>
            </a:pPr>
            <a:r>
              <a:rPr lang="en-US" sz="1150" dirty="0">
                <a:solidFill>
                  <a:srgbClr val="D7E1F2"/>
                </a:solidFill>
                <a:latin typeface="Calibri" pitchFamily="34" charset="0"/>
                <a:ea typeface="Calibri" pitchFamily="34" charset="-122"/>
                <a:cs typeface="Calibri" pitchFamily="34" charset="-120"/>
              </a:rPr>
              <a:t>honest fit-for-purpose score for Decimal's actual job (Section 14)</a:t>
            </a:r>
            <a:endParaRPr lang="en-US" sz="1150" dirty="0"/>
          </a:p>
        </p:txBody>
      </p:sp>
      <p:sp>
        <p:nvSpPr>
          <p:cNvPr id="20" name="Text 18"/>
          <p:cNvSpPr/>
          <p:nvPr/>
        </p:nvSpPr>
        <p:spPr>
          <a:xfrm>
            <a:off x="502920" y="4023360"/>
            <a:ext cx="11185855" cy="1280160"/>
          </a:xfrm>
          <a:prstGeom prst="rect">
            <a:avLst/>
          </a:prstGeom>
          <a:noFill/>
          <a:ln/>
        </p:spPr>
        <p:txBody>
          <a:bodyPr wrap="square" rtlCol="0" anchor="ctr"/>
          <a:lstStyle/>
          <a:p>
            <a:pPr indent="0" marL="0">
              <a:lnSpc>
                <a:spcPct val="125000"/>
              </a:lnSpc>
              <a:buNone/>
            </a:pPr>
            <a:r>
              <a:rPr lang="en-US" sz="1300" dirty="0">
                <a:solidFill>
                  <a:srgbClr val="586080"/>
                </a:solidFill>
                <a:latin typeface="Calibri" pitchFamily="34" charset="0"/>
                <a:ea typeface="Calibri" pitchFamily="34" charset="-122"/>
                <a:cs typeface="Calibri" pitchFamily="34" charset="-120"/>
              </a:rPr>
              <a:t>These numbers come directly from the running codebase and the project's own internal engineering audits, not from a marketing brief — the same discipline this entire document follows. Section 14 explains exactly how the 50/100 number is calculated and what closes the gap.</a:t>
            </a:r>
            <a:endParaRPr lang="en-US" sz="1300" dirty="0"/>
          </a:p>
        </p:txBody>
      </p:sp>
      <p:sp>
        <p:nvSpPr>
          <p:cNvPr id="21" name="Text 19"/>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2" name="Text 20"/>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 — OVERVIEW</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Business objectives</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For the sales &amp; BD team</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Never lose a relationship to turnover.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Every contact, every conversation, every commitment is recorded centrally.</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See the whole committee, not one contact.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Know who else needs to be won over before a deal can close.</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Act on signals same-day, not weeks later.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News, regulatory changes, and leadership moves should trigger action while they're still relevant.</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For the business</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Shorten the sales cycle.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Faster committee mapping and better-timed outreach should measurably reduce time-to-close.</a:t>
            </a:r>
            <a:endParaRPr lang="en-US" sz="1250" dirty="0"/>
          </a:p>
        </p:txBody>
      </p:sp>
      <p:sp>
        <p:nvSpPr>
          <p:cNvPr id="18" name="Shape 16"/>
          <p:cNvSpPr/>
          <p:nvPr/>
        </p:nvSpPr>
        <p:spPr>
          <a:xfrm>
            <a:off x="6324448" y="3514344"/>
            <a:ext cx="82296" cy="82296"/>
          </a:xfrm>
          <a:prstGeom prst="ellipse">
            <a:avLst/>
          </a:prstGeom>
          <a:solidFill>
            <a:srgbClr val="2657A8"/>
          </a:solidFill>
          <a:ln/>
        </p:spPr>
      </p:sp>
      <p:sp>
        <p:nvSpPr>
          <p:cNvPr id="19" name="Text 17"/>
          <p:cNvSpPr/>
          <p:nvPr/>
        </p:nvSpPr>
        <p:spPr>
          <a:xfrm>
            <a:off x="6553048"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Protect institutional knowledge.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Decimal's hard-won relationships with 25+ KSA institutions become a company asset, not a personal one.</a:t>
            </a:r>
            <a:endParaRPr lang="en-US" sz="1250" dirty="0"/>
          </a:p>
        </p:txBody>
      </p:sp>
      <p:sp>
        <p:nvSpPr>
          <p:cNvPr id="20" name="Shape 18"/>
          <p:cNvSpPr/>
          <p:nvPr/>
        </p:nvSpPr>
        <p:spPr>
          <a:xfrm>
            <a:off x="6324448" y="4879848"/>
            <a:ext cx="82296" cy="82296"/>
          </a:xfrm>
          <a:prstGeom prst="ellipse">
            <a:avLst/>
          </a:prstGeom>
          <a:solidFill>
            <a:srgbClr val="2657A8"/>
          </a:solidFill>
          <a:ln/>
        </p:spPr>
      </p:sp>
      <p:sp>
        <p:nvSpPr>
          <p:cNvPr id="21" name="Text 19"/>
          <p:cNvSpPr/>
          <p:nvPr/>
        </p:nvSpPr>
        <p:spPr>
          <a:xfrm>
            <a:off x="6553048"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Build a reusable platform.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same engine that sells banking software today can be pointed at any other vertical Decimal enters next.</a:t>
            </a:r>
            <a:endParaRPr lang="en-US" sz="1250" dirty="0"/>
          </a:p>
        </p:txBody>
      </p:sp>
      <p:sp>
        <p:nvSpPr>
          <p:cNvPr id="22" name="Text 2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3" name="Text 2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 — OVERVIEW</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Vision</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615440"/>
          </a:xfrm>
          <a:prstGeom prst="rect">
            <a:avLst/>
          </a:prstGeom>
          <a:noFill/>
          <a:ln/>
        </p:spPr>
        <p:txBody>
          <a:bodyPr wrap="square" rtlCol="0" anchor="t"/>
          <a:lstStyle/>
          <a:p>
            <a:pPr indent="0" marL="0">
              <a:lnSpc>
                <a:spcPct val="115000"/>
              </a:lnSpc>
              <a:buNone/>
            </a:pPr>
            <a:r>
              <a:rPr lang="en-US" sz="1350" dirty="0">
                <a:solidFill>
                  <a:srgbClr val="586080"/>
                </a:solidFill>
                <a:latin typeface="Calibri" pitchFamily="34" charset="0"/>
                <a:ea typeface="Calibri" pitchFamily="34" charset="-122"/>
                <a:cs typeface="Calibri" pitchFamily="34" charset="-120"/>
              </a:rPr>
              <a:t>DRIP's vision is simple to state and hard to earn: every person on the BD team should be able to open one screen, see everything DRIP knows about a bank and the people inside it, and know exactly what to do next — without asking a colleague, without digging through email, and without worrying that the information is stale.</a:t>
            </a:r>
            <a:endParaRPr lang="en-US" sz="1350" dirty="0"/>
          </a:p>
        </p:txBody>
      </p:sp>
      <p:sp>
        <p:nvSpPr>
          <p:cNvPr id="6" name="Shape 4"/>
          <p:cNvSpPr/>
          <p:nvPr/>
        </p:nvSpPr>
        <p:spPr>
          <a:xfrm>
            <a:off x="502920" y="3115056"/>
            <a:ext cx="100584" cy="100584"/>
          </a:xfrm>
          <a:prstGeom prst="ellipse">
            <a:avLst/>
          </a:prstGeom>
          <a:solidFill>
            <a:srgbClr val="C9A227"/>
          </a:solidFill>
          <a:ln/>
        </p:spPr>
      </p:sp>
      <p:sp>
        <p:nvSpPr>
          <p:cNvPr id="7" name="Text 5"/>
          <p:cNvSpPr/>
          <p:nvPr/>
        </p:nvSpPr>
        <p:spPr>
          <a:xfrm>
            <a:off x="777240" y="2977896"/>
            <a:ext cx="10911535" cy="1615440"/>
          </a:xfrm>
          <a:prstGeom prst="rect">
            <a:avLst/>
          </a:prstGeom>
          <a:noFill/>
          <a:ln/>
        </p:spPr>
        <p:txBody>
          <a:bodyPr wrap="square" rtlCol="0" anchor="t"/>
          <a:lstStyle/>
          <a:p>
            <a:pPr indent="0" marL="0">
              <a:lnSpc>
                <a:spcPct val="115000"/>
              </a:lnSpc>
              <a:buNone/>
            </a:pPr>
            <a:r>
              <a:rPr lang="en-US" sz="1350" dirty="0">
                <a:solidFill>
                  <a:srgbClr val="586080"/>
                </a:solidFill>
                <a:latin typeface="Calibri" pitchFamily="34" charset="0"/>
                <a:ea typeface="Calibri" pitchFamily="34" charset="-122"/>
                <a:cs typeface="Calibri" pitchFamily="34" charset="-120"/>
              </a:rPr>
              <a:t>In the medium term, DRIP should behave less like a filing cabinet and more like a research analyst that never sleeps: reading the news, watching for regulatory change, noticing when a contact changes jobs, and quietly updating the account picture before anyone has to ask.</a:t>
            </a:r>
            <a:endParaRPr lang="en-US" sz="1350" dirty="0"/>
          </a:p>
        </p:txBody>
      </p:sp>
      <p:sp>
        <p:nvSpPr>
          <p:cNvPr id="8" name="Shape 6"/>
          <p:cNvSpPr/>
          <p:nvPr/>
        </p:nvSpPr>
        <p:spPr>
          <a:xfrm>
            <a:off x="502920" y="4730496"/>
            <a:ext cx="100584" cy="100584"/>
          </a:xfrm>
          <a:prstGeom prst="ellipse">
            <a:avLst/>
          </a:prstGeom>
          <a:solidFill>
            <a:srgbClr val="C9A227"/>
          </a:solidFill>
          <a:ln/>
        </p:spPr>
      </p:sp>
      <p:sp>
        <p:nvSpPr>
          <p:cNvPr id="9" name="Text 7"/>
          <p:cNvSpPr/>
          <p:nvPr/>
        </p:nvSpPr>
        <p:spPr>
          <a:xfrm>
            <a:off x="777240" y="4593336"/>
            <a:ext cx="10911535" cy="1615440"/>
          </a:xfrm>
          <a:prstGeom prst="rect">
            <a:avLst/>
          </a:prstGeom>
          <a:noFill/>
          <a:ln/>
        </p:spPr>
        <p:txBody>
          <a:bodyPr wrap="square" rtlCol="0" anchor="t"/>
          <a:lstStyle/>
          <a:p>
            <a:pPr indent="0" marL="0">
              <a:lnSpc>
                <a:spcPct val="115000"/>
              </a:lnSpc>
              <a:buNone/>
            </a:pPr>
            <a:r>
              <a:rPr lang="en-US" sz="1350" dirty="0">
                <a:solidFill>
                  <a:srgbClr val="586080"/>
                </a:solidFill>
                <a:latin typeface="Calibri" pitchFamily="34" charset="0"/>
                <a:ea typeface="Calibri" pitchFamily="34" charset="-122"/>
                <a:cs typeface="Calibri" pitchFamily="34" charset="-120"/>
              </a:rPr>
              <a:t>The honest long-term ambition is not to out-build HubSpot or Salesforce as general products (Section 16 explains exactly why that goal would be the wrong one to chase) — it is to be the best possible operating system for exactly this job: selling complex financial technology into a committee-driven, relationship-driven, compliance-heavy market.</a:t>
            </a:r>
            <a:endParaRPr lang="en-US" sz="1350" dirty="0"/>
          </a:p>
        </p:txBody>
      </p:sp>
      <p:sp>
        <p:nvSpPr>
          <p:cNvPr id="10" name="Text 8"/>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1" name="Text 9"/>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 — OVERVIEW</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How we will know it worked — success metrics</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818483"/>
                <a:gridCol w="4932346"/>
                <a:gridCol w="3435026"/>
              </a:tblGrid>
              <a:tr h="679269">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it tells us</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Where it's tracked today</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679269">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Contacts with a complete profile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Whether the data is rich enough to act on, not just a name and a title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Contacts screen, Section 5</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79269">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Buying-committee coverage per bank</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Whether we know all the people who can say yes or no to a deal</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Committee screen, Section 7</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679269">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Signal-to-outreach time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How fast a piece of news turns into an action</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Signals screen, Section 6</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79269">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Outreach response rate by channel</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Whether LinkedIn, email, phone, or WhatsApp is working for a given account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Per-channel outreach tracking, Section 7</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679269">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Pipeline value and stage velocity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Whether deals are actually moving, not stalling</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Pipeline (deal board), Section 9</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79269">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Feature parity score vs. HubSpot/Mailchimp</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An honest, non-marketing measure of platform maturity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Feature Parity dashboard, Section 14</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02</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02</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Project Journey</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Every milestone from the first vertical slice to today's single-application DRIP OS — what was built, why, and what it was expected to achieve.</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The foundation: schema, ETL, API, scoring</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The engines: sequences, tracking, decision, pipeline</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The hardening: multi-tenancy, scale, security</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The unification: one search, one app, full parity</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2 — JOURNEY · PART 1</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Timeline — foundation to platform (Phases 1-9)</a:t>
            </a:r>
            <a:endParaRPr lang="en-US" sz="2600" dirty="0"/>
          </a:p>
        </p:txBody>
      </p:sp>
      <p:sp>
        <p:nvSpPr>
          <p:cNvPr id="4" name="Shape 2"/>
          <p:cNvSpPr/>
          <p:nvPr/>
        </p:nvSpPr>
        <p:spPr>
          <a:xfrm>
            <a:off x="502920" y="1915668"/>
            <a:ext cx="438912" cy="438912"/>
          </a:xfrm>
          <a:prstGeom prst="ellipse">
            <a:avLst/>
          </a:prstGeom>
          <a:solidFill>
            <a:srgbClr val="0B1220"/>
          </a:solidFill>
          <a:ln/>
        </p:spPr>
      </p:sp>
      <p:sp>
        <p:nvSpPr>
          <p:cNvPr id="5" name="Text 3"/>
          <p:cNvSpPr/>
          <p:nvPr/>
        </p:nvSpPr>
        <p:spPr>
          <a:xfrm>
            <a:off x="502920" y="1915668"/>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1</a:t>
            </a:r>
            <a:endParaRPr lang="en-US" sz="1600" dirty="0"/>
          </a:p>
        </p:txBody>
      </p:sp>
      <p:sp>
        <p:nvSpPr>
          <p:cNvPr id="6" name="Shape 4"/>
          <p:cNvSpPr/>
          <p:nvPr/>
        </p:nvSpPr>
        <p:spPr>
          <a:xfrm>
            <a:off x="722376" y="2354580"/>
            <a:ext cx="0" cy="448056"/>
          </a:xfrm>
          <a:prstGeom prst="line">
            <a:avLst/>
          </a:prstGeom>
          <a:noFill/>
          <a:ln w="19050">
            <a:solidFill>
              <a:srgbClr val="E1E5EE"/>
            </a:solidFill>
            <a:prstDash val="dash"/>
          </a:ln>
        </p:spPr>
      </p:sp>
      <p:sp>
        <p:nvSpPr>
          <p:cNvPr id="7" name="Text 5"/>
          <p:cNvSpPr/>
          <p:nvPr/>
        </p:nvSpPr>
        <p:spPr>
          <a:xfrm>
            <a:off x="1188720" y="1691640"/>
            <a:ext cx="10362895" cy="886968"/>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Discovery &amp; vertical slice</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First working proof: database schema, an ETL pipeline importing real contacts from prior spreadsheets, a REST API, and an account-scoring formula. Reconciled three earlier, disconnected artifacts into one system.</a:t>
            </a:r>
            <a:endParaRPr lang="en-US" sz="1300" dirty="0"/>
          </a:p>
        </p:txBody>
      </p:sp>
      <p:sp>
        <p:nvSpPr>
          <p:cNvPr id="8" name="Shape 6"/>
          <p:cNvSpPr/>
          <p:nvPr/>
        </p:nvSpPr>
        <p:spPr>
          <a:xfrm>
            <a:off x="502920" y="2802636"/>
            <a:ext cx="438912" cy="438912"/>
          </a:xfrm>
          <a:prstGeom prst="ellipse">
            <a:avLst/>
          </a:prstGeom>
          <a:solidFill>
            <a:srgbClr val="0B1220"/>
          </a:solidFill>
          <a:ln/>
        </p:spPr>
      </p:sp>
      <p:sp>
        <p:nvSpPr>
          <p:cNvPr id="9" name="Text 7"/>
          <p:cNvSpPr/>
          <p:nvPr/>
        </p:nvSpPr>
        <p:spPr>
          <a:xfrm>
            <a:off x="502920" y="2802636"/>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2</a:t>
            </a:r>
            <a:endParaRPr lang="en-US" sz="1600" dirty="0"/>
          </a:p>
        </p:txBody>
      </p:sp>
      <p:sp>
        <p:nvSpPr>
          <p:cNvPr id="10" name="Shape 8"/>
          <p:cNvSpPr/>
          <p:nvPr/>
        </p:nvSpPr>
        <p:spPr>
          <a:xfrm>
            <a:off x="722376" y="3241548"/>
            <a:ext cx="0" cy="448056"/>
          </a:xfrm>
          <a:prstGeom prst="line">
            <a:avLst/>
          </a:prstGeom>
          <a:noFill/>
          <a:ln w="19050">
            <a:solidFill>
              <a:srgbClr val="E1E5EE"/>
            </a:solidFill>
            <a:prstDash val="dash"/>
          </a:ln>
        </p:spPr>
      </p:sp>
      <p:sp>
        <p:nvSpPr>
          <p:cNvPr id="11" name="Text 9"/>
          <p:cNvSpPr/>
          <p:nvPr/>
        </p:nvSpPr>
        <p:spPr>
          <a:xfrm>
            <a:off x="1188720" y="2578608"/>
            <a:ext cx="10362895" cy="886968"/>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Signal pipeline (confidence &amp; decay)</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News and regulatory items began carrying a confidence score that fades over time, so a six-month-old headline stops influencing decisions automatically.</a:t>
            </a:r>
            <a:endParaRPr lang="en-US" sz="1300" dirty="0"/>
          </a:p>
        </p:txBody>
      </p:sp>
      <p:sp>
        <p:nvSpPr>
          <p:cNvPr id="12" name="Shape 10"/>
          <p:cNvSpPr/>
          <p:nvPr/>
        </p:nvSpPr>
        <p:spPr>
          <a:xfrm>
            <a:off x="502920" y="3689604"/>
            <a:ext cx="438912" cy="438912"/>
          </a:xfrm>
          <a:prstGeom prst="ellipse">
            <a:avLst/>
          </a:prstGeom>
          <a:solidFill>
            <a:srgbClr val="0B1220"/>
          </a:solidFill>
          <a:ln/>
        </p:spPr>
      </p:sp>
      <p:sp>
        <p:nvSpPr>
          <p:cNvPr id="13" name="Text 11"/>
          <p:cNvSpPr/>
          <p:nvPr/>
        </p:nvSpPr>
        <p:spPr>
          <a:xfrm>
            <a:off x="502920" y="368960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3</a:t>
            </a:r>
            <a:endParaRPr lang="en-US" sz="1600" dirty="0"/>
          </a:p>
        </p:txBody>
      </p:sp>
      <p:sp>
        <p:nvSpPr>
          <p:cNvPr id="14" name="Shape 12"/>
          <p:cNvSpPr/>
          <p:nvPr/>
        </p:nvSpPr>
        <p:spPr>
          <a:xfrm>
            <a:off x="722376" y="4128516"/>
            <a:ext cx="0" cy="448056"/>
          </a:xfrm>
          <a:prstGeom prst="line">
            <a:avLst/>
          </a:prstGeom>
          <a:noFill/>
          <a:ln w="19050">
            <a:solidFill>
              <a:srgbClr val="E1E5EE"/>
            </a:solidFill>
            <a:prstDash val="dash"/>
          </a:ln>
        </p:spPr>
      </p:sp>
      <p:sp>
        <p:nvSpPr>
          <p:cNvPr id="15" name="Text 13"/>
          <p:cNvSpPr/>
          <p:nvPr/>
        </p:nvSpPr>
        <p:spPr>
          <a:xfrm>
            <a:off x="1188720" y="3465576"/>
            <a:ext cx="10362895" cy="886968"/>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Sequence / Journey engine</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Multi-touch, multi-channel outreach cadences with pause-on-reply logic and account-level pausing — one reply from any contact at a bank quiets outreach to the whole account.</a:t>
            </a:r>
            <a:endParaRPr lang="en-US" sz="1300" dirty="0"/>
          </a:p>
        </p:txBody>
      </p:sp>
      <p:sp>
        <p:nvSpPr>
          <p:cNvPr id="16" name="Shape 14"/>
          <p:cNvSpPr/>
          <p:nvPr/>
        </p:nvSpPr>
        <p:spPr>
          <a:xfrm>
            <a:off x="502920" y="4576572"/>
            <a:ext cx="438912" cy="438912"/>
          </a:xfrm>
          <a:prstGeom prst="ellipse">
            <a:avLst/>
          </a:prstGeom>
          <a:solidFill>
            <a:srgbClr val="0B1220"/>
          </a:solidFill>
          <a:ln/>
        </p:spPr>
      </p:sp>
      <p:sp>
        <p:nvSpPr>
          <p:cNvPr id="17" name="Text 15"/>
          <p:cNvSpPr/>
          <p:nvPr/>
        </p:nvSpPr>
        <p:spPr>
          <a:xfrm>
            <a:off x="502920" y="4576572"/>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4</a:t>
            </a:r>
            <a:endParaRPr lang="en-US" sz="1600" dirty="0"/>
          </a:p>
        </p:txBody>
      </p:sp>
      <p:sp>
        <p:nvSpPr>
          <p:cNvPr id="18" name="Shape 16"/>
          <p:cNvSpPr/>
          <p:nvPr/>
        </p:nvSpPr>
        <p:spPr>
          <a:xfrm>
            <a:off x="722376" y="5015484"/>
            <a:ext cx="0" cy="448056"/>
          </a:xfrm>
          <a:prstGeom prst="line">
            <a:avLst/>
          </a:prstGeom>
          <a:noFill/>
          <a:ln w="19050">
            <a:solidFill>
              <a:srgbClr val="E1E5EE"/>
            </a:solidFill>
            <a:prstDash val="dash"/>
          </a:ln>
        </p:spPr>
      </p:sp>
      <p:sp>
        <p:nvSpPr>
          <p:cNvPr id="19" name="Text 17"/>
          <p:cNvSpPr/>
          <p:nvPr/>
        </p:nvSpPr>
        <p:spPr>
          <a:xfrm>
            <a:off x="1188720" y="4352544"/>
            <a:ext cx="10362895" cy="886968"/>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26-module enterprise structure</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The codebase was reorganised around a full enterprise blueprint (26 named modules) so every future feature has an obvious, permanent home instead of being bolted on wherever convenient.</a:t>
            </a:r>
            <a:endParaRPr lang="en-US" sz="1300" dirty="0"/>
          </a:p>
        </p:txBody>
      </p:sp>
      <p:sp>
        <p:nvSpPr>
          <p:cNvPr id="20" name="Shape 18"/>
          <p:cNvSpPr/>
          <p:nvPr/>
        </p:nvSpPr>
        <p:spPr>
          <a:xfrm>
            <a:off x="502920" y="5463540"/>
            <a:ext cx="438912" cy="438912"/>
          </a:xfrm>
          <a:prstGeom prst="ellipse">
            <a:avLst/>
          </a:prstGeom>
          <a:solidFill>
            <a:srgbClr val="0B1220"/>
          </a:solidFill>
          <a:ln/>
        </p:spPr>
      </p:sp>
      <p:sp>
        <p:nvSpPr>
          <p:cNvPr id="21" name="Text 19"/>
          <p:cNvSpPr/>
          <p:nvPr/>
        </p:nvSpPr>
        <p:spPr>
          <a:xfrm>
            <a:off x="502920" y="5463540"/>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5</a:t>
            </a:r>
            <a:endParaRPr lang="en-US" sz="1600" dirty="0"/>
          </a:p>
        </p:txBody>
      </p:sp>
      <p:sp>
        <p:nvSpPr>
          <p:cNvPr id="22" name="Text 20"/>
          <p:cNvSpPr/>
          <p:nvPr/>
        </p:nvSpPr>
        <p:spPr>
          <a:xfrm>
            <a:off x="1188720" y="5239512"/>
            <a:ext cx="10362895" cy="886968"/>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All 16 remaining modules built</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Every module in the blueprint that did not yet exist — reporting, notifications, workflow, custom objects, and more — was implemented and tested (53/53 checks green).</a:t>
            </a:r>
            <a:endParaRPr lang="en-US" sz="1300" dirty="0"/>
          </a:p>
        </p:txBody>
      </p:sp>
      <p:sp>
        <p:nvSpPr>
          <p:cNvPr id="23" name="Text 21"/>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4" name="Text 22"/>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2 — JOURNEY · PART 2</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Timeline — engines to enterprise hardening (Phases 10-16)</a:t>
            </a:r>
            <a:endParaRPr lang="en-US" sz="2600" dirty="0"/>
          </a:p>
        </p:txBody>
      </p:sp>
      <p:sp>
        <p:nvSpPr>
          <p:cNvPr id="4" name="Shape 2"/>
          <p:cNvSpPr/>
          <p:nvPr/>
        </p:nvSpPr>
        <p:spPr>
          <a:xfrm>
            <a:off x="502920" y="1841754"/>
            <a:ext cx="438912" cy="438912"/>
          </a:xfrm>
          <a:prstGeom prst="ellipse">
            <a:avLst/>
          </a:prstGeom>
          <a:solidFill>
            <a:srgbClr val="0B1220"/>
          </a:solidFill>
          <a:ln/>
        </p:spPr>
      </p:sp>
      <p:sp>
        <p:nvSpPr>
          <p:cNvPr id="5" name="Text 3"/>
          <p:cNvSpPr/>
          <p:nvPr/>
        </p:nvSpPr>
        <p:spPr>
          <a:xfrm>
            <a:off x="502920" y="184175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1</a:t>
            </a:r>
            <a:endParaRPr lang="en-US" sz="1600" dirty="0"/>
          </a:p>
        </p:txBody>
      </p:sp>
      <p:sp>
        <p:nvSpPr>
          <p:cNvPr id="6" name="Shape 4"/>
          <p:cNvSpPr/>
          <p:nvPr/>
        </p:nvSpPr>
        <p:spPr>
          <a:xfrm>
            <a:off x="722376" y="2280666"/>
            <a:ext cx="0" cy="300228"/>
          </a:xfrm>
          <a:prstGeom prst="line">
            <a:avLst/>
          </a:prstGeom>
          <a:noFill/>
          <a:ln w="19050">
            <a:solidFill>
              <a:srgbClr val="E1E5EE"/>
            </a:solidFill>
            <a:prstDash val="dash"/>
          </a:ln>
        </p:spPr>
      </p:sp>
      <p:sp>
        <p:nvSpPr>
          <p:cNvPr id="7" name="Text 5"/>
          <p:cNvSpPr/>
          <p:nvPr/>
        </p:nvSpPr>
        <p:spPr>
          <a:xfrm>
            <a:off x="1188720" y="1691640"/>
            <a:ext cx="10362895" cy="73914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End-to-end engines on real PostgreSQL</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The engagement-to-score feedback loop, a full deal-pipeline engine, a duplicate-merge engine, and an AI-generated activity timeline were built and verified against a real Postgres database, not just SQLite.</a:t>
            </a:r>
            <a:endParaRPr lang="en-US" sz="1300" dirty="0"/>
          </a:p>
        </p:txBody>
      </p:sp>
      <p:sp>
        <p:nvSpPr>
          <p:cNvPr id="8" name="Shape 6"/>
          <p:cNvSpPr/>
          <p:nvPr/>
        </p:nvSpPr>
        <p:spPr>
          <a:xfrm>
            <a:off x="502920" y="2580894"/>
            <a:ext cx="438912" cy="438912"/>
          </a:xfrm>
          <a:prstGeom prst="ellipse">
            <a:avLst/>
          </a:prstGeom>
          <a:solidFill>
            <a:srgbClr val="0B1220"/>
          </a:solidFill>
          <a:ln/>
        </p:spPr>
      </p:sp>
      <p:sp>
        <p:nvSpPr>
          <p:cNvPr id="9" name="Text 7"/>
          <p:cNvSpPr/>
          <p:nvPr/>
        </p:nvSpPr>
        <p:spPr>
          <a:xfrm>
            <a:off x="502920" y="258089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2</a:t>
            </a:r>
            <a:endParaRPr lang="en-US" sz="1600" dirty="0"/>
          </a:p>
        </p:txBody>
      </p:sp>
      <p:sp>
        <p:nvSpPr>
          <p:cNvPr id="10" name="Shape 8"/>
          <p:cNvSpPr/>
          <p:nvPr/>
        </p:nvSpPr>
        <p:spPr>
          <a:xfrm>
            <a:off x="722376" y="3019806"/>
            <a:ext cx="0" cy="300228"/>
          </a:xfrm>
          <a:prstGeom prst="line">
            <a:avLst/>
          </a:prstGeom>
          <a:noFill/>
          <a:ln w="19050">
            <a:solidFill>
              <a:srgbClr val="E1E5EE"/>
            </a:solidFill>
            <a:prstDash val="dash"/>
          </a:ln>
        </p:spPr>
      </p:sp>
      <p:sp>
        <p:nvSpPr>
          <p:cNvPr id="11" name="Text 9"/>
          <p:cNvSpPr/>
          <p:nvPr/>
        </p:nvSpPr>
        <p:spPr>
          <a:xfrm>
            <a:off x="1188720" y="2430780"/>
            <a:ext cx="10362895" cy="73914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Tracking, deliverability &amp; AI decision engine</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Native link/pixel tracking, an email deliverability model, and an AI engine that recommends the next best action per contact — with its reasoning logged so it can be audited.</a:t>
            </a:r>
            <a:endParaRPr lang="en-US" sz="1300" dirty="0"/>
          </a:p>
        </p:txBody>
      </p:sp>
      <p:sp>
        <p:nvSpPr>
          <p:cNvPr id="12" name="Shape 10"/>
          <p:cNvSpPr/>
          <p:nvPr/>
        </p:nvSpPr>
        <p:spPr>
          <a:xfrm>
            <a:off x="502920" y="3320034"/>
            <a:ext cx="438912" cy="438912"/>
          </a:xfrm>
          <a:prstGeom prst="ellipse">
            <a:avLst/>
          </a:prstGeom>
          <a:solidFill>
            <a:srgbClr val="0B1220"/>
          </a:solidFill>
          <a:ln/>
        </p:spPr>
      </p:sp>
      <p:sp>
        <p:nvSpPr>
          <p:cNvPr id="13" name="Text 11"/>
          <p:cNvSpPr/>
          <p:nvPr/>
        </p:nvSpPr>
        <p:spPr>
          <a:xfrm>
            <a:off x="502920" y="332003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3</a:t>
            </a:r>
            <a:endParaRPr lang="en-US" sz="1600" dirty="0"/>
          </a:p>
        </p:txBody>
      </p:sp>
      <p:sp>
        <p:nvSpPr>
          <p:cNvPr id="14" name="Shape 12"/>
          <p:cNvSpPr/>
          <p:nvPr/>
        </p:nvSpPr>
        <p:spPr>
          <a:xfrm>
            <a:off x="722376" y="3758946"/>
            <a:ext cx="0" cy="300228"/>
          </a:xfrm>
          <a:prstGeom prst="line">
            <a:avLst/>
          </a:prstGeom>
          <a:noFill/>
          <a:ln w="19050">
            <a:solidFill>
              <a:srgbClr val="E1E5EE"/>
            </a:solidFill>
            <a:prstDash val="dash"/>
          </a:ln>
        </p:spPr>
      </p:sp>
      <p:sp>
        <p:nvSpPr>
          <p:cNvPr id="15" name="Text 13"/>
          <p:cNvSpPr/>
          <p:nvPr/>
        </p:nvSpPr>
        <p:spPr>
          <a:xfrm>
            <a:off x="1188720" y="3169920"/>
            <a:ext cx="10362895" cy="73914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Honest scorecard vs. HubSpot &amp; Mailchimp</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A deliberately brutal, non-marketing scoring exercise against both products' real 2026 feature sets — the basis for Section 16 of this document.</a:t>
            </a:r>
            <a:endParaRPr lang="en-US" sz="1300" dirty="0"/>
          </a:p>
        </p:txBody>
      </p:sp>
      <p:sp>
        <p:nvSpPr>
          <p:cNvPr id="16" name="Shape 14"/>
          <p:cNvSpPr/>
          <p:nvPr/>
        </p:nvSpPr>
        <p:spPr>
          <a:xfrm>
            <a:off x="502920" y="4059174"/>
            <a:ext cx="438912" cy="438912"/>
          </a:xfrm>
          <a:prstGeom prst="ellipse">
            <a:avLst/>
          </a:prstGeom>
          <a:solidFill>
            <a:srgbClr val="0B1220"/>
          </a:solidFill>
          <a:ln/>
        </p:spPr>
      </p:sp>
      <p:sp>
        <p:nvSpPr>
          <p:cNvPr id="17" name="Text 15"/>
          <p:cNvSpPr/>
          <p:nvPr/>
        </p:nvSpPr>
        <p:spPr>
          <a:xfrm>
            <a:off x="502920" y="405917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4</a:t>
            </a:r>
            <a:endParaRPr lang="en-US" sz="1600" dirty="0"/>
          </a:p>
        </p:txBody>
      </p:sp>
      <p:sp>
        <p:nvSpPr>
          <p:cNvPr id="18" name="Shape 16"/>
          <p:cNvSpPr/>
          <p:nvPr/>
        </p:nvSpPr>
        <p:spPr>
          <a:xfrm>
            <a:off x="722376" y="4498086"/>
            <a:ext cx="0" cy="300228"/>
          </a:xfrm>
          <a:prstGeom prst="line">
            <a:avLst/>
          </a:prstGeom>
          <a:noFill/>
          <a:ln w="19050">
            <a:solidFill>
              <a:srgbClr val="E1E5EE"/>
            </a:solidFill>
            <a:prstDash val="dash"/>
          </a:ln>
        </p:spPr>
      </p:sp>
      <p:sp>
        <p:nvSpPr>
          <p:cNvPr id="19" name="Text 17"/>
          <p:cNvSpPr/>
          <p:nvPr/>
        </p:nvSpPr>
        <p:spPr>
          <a:xfrm>
            <a:off x="1188720" y="3909060"/>
            <a:ext cx="10362895" cy="73914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Multi-tenancy &amp; authentication</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Postgres row-level security (the database itself, not just the application code, enforces that one tenant can never see another's data) plus JWT-based login and signed webhooks.</a:t>
            </a:r>
            <a:endParaRPr lang="en-US" sz="1300" dirty="0"/>
          </a:p>
        </p:txBody>
      </p:sp>
      <p:sp>
        <p:nvSpPr>
          <p:cNvPr id="20" name="Shape 18"/>
          <p:cNvSpPr/>
          <p:nvPr/>
        </p:nvSpPr>
        <p:spPr>
          <a:xfrm>
            <a:off x="502920" y="4798314"/>
            <a:ext cx="438912" cy="438912"/>
          </a:xfrm>
          <a:prstGeom prst="ellipse">
            <a:avLst/>
          </a:prstGeom>
          <a:solidFill>
            <a:srgbClr val="0B1220"/>
          </a:solidFill>
          <a:ln/>
        </p:spPr>
      </p:sp>
      <p:sp>
        <p:nvSpPr>
          <p:cNvPr id="21" name="Text 19"/>
          <p:cNvSpPr/>
          <p:nvPr/>
        </p:nvSpPr>
        <p:spPr>
          <a:xfrm>
            <a:off x="502920" y="479831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5</a:t>
            </a:r>
            <a:endParaRPr lang="en-US" sz="1600" dirty="0"/>
          </a:p>
        </p:txBody>
      </p:sp>
      <p:sp>
        <p:nvSpPr>
          <p:cNvPr id="22" name="Shape 20"/>
          <p:cNvSpPr/>
          <p:nvPr/>
        </p:nvSpPr>
        <p:spPr>
          <a:xfrm>
            <a:off x="722376" y="5237226"/>
            <a:ext cx="0" cy="300228"/>
          </a:xfrm>
          <a:prstGeom prst="line">
            <a:avLst/>
          </a:prstGeom>
          <a:noFill/>
          <a:ln w="19050">
            <a:solidFill>
              <a:srgbClr val="E1E5EE"/>
            </a:solidFill>
            <a:prstDash val="dash"/>
          </a:ln>
        </p:spPr>
      </p:sp>
      <p:sp>
        <p:nvSpPr>
          <p:cNvPr id="23" name="Text 21"/>
          <p:cNvSpPr/>
          <p:nvPr/>
        </p:nvSpPr>
        <p:spPr>
          <a:xfrm>
            <a:off x="1188720" y="4648200"/>
            <a:ext cx="10362895" cy="73914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Scale hardening</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Background job processing, set-based SQL replacing slow row-by-row loops, and partitioned event tables so the system does not fall over as data volume grows.</a:t>
            </a:r>
            <a:endParaRPr lang="en-US" sz="1300" dirty="0"/>
          </a:p>
        </p:txBody>
      </p:sp>
      <p:sp>
        <p:nvSpPr>
          <p:cNvPr id="24" name="Shape 22"/>
          <p:cNvSpPr/>
          <p:nvPr/>
        </p:nvSpPr>
        <p:spPr>
          <a:xfrm>
            <a:off x="502920" y="5537454"/>
            <a:ext cx="438912" cy="438912"/>
          </a:xfrm>
          <a:prstGeom prst="ellipse">
            <a:avLst/>
          </a:prstGeom>
          <a:solidFill>
            <a:srgbClr val="0B1220"/>
          </a:solidFill>
          <a:ln/>
        </p:spPr>
      </p:sp>
      <p:sp>
        <p:nvSpPr>
          <p:cNvPr id="25" name="Text 23"/>
          <p:cNvSpPr/>
          <p:nvPr/>
        </p:nvSpPr>
        <p:spPr>
          <a:xfrm>
            <a:off x="502920" y="553745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6</a:t>
            </a:r>
            <a:endParaRPr lang="en-US" sz="1600" dirty="0"/>
          </a:p>
        </p:txBody>
      </p:sp>
      <p:sp>
        <p:nvSpPr>
          <p:cNvPr id="26" name="Text 24"/>
          <p:cNvSpPr/>
          <p:nvPr/>
        </p:nvSpPr>
        <p:spPr>
          <a:xfrm>
            <a:off x="1188720" y="5387340"/>
            <a:ext cx="10362895" cy="73914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Deployment package &amp; final judgment</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A deployable Docker/Terraform package, an autonomous background worker loop, and a frank internal review of what was promised versus what was actually built.</a:t>
            </a:r>
            <a:endParaRPr lang="en-US" sz="1300" dirty="0"/>
          </a:p>
        </p:txBody>
      </p:sp>
      <p:sp>
        <p:nvSpPr>
          <p:cNvPr id="27" name="Text 25"/>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8" name="Text 26"/>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2 — JOURNEY</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Closing the 'you haven't built any AI/HubSpot/Mailchimp features' gap</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The feedback that triggered this phase.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An early audit scored DRIP at roughly 6 out of 100 as a general substitute for HubSpot and Mailchimp — a fair and necessary wake-up call, not a number to be defensive about.</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 real AI core, not a demo.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versioned prompt registry, live adapters for Anthropic/OpenAI/Gemini, per-call cost and token tracking, and an evaluation harness that tests prompts against expected answers before they go live.</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Live signal collectors, not static seed data.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working RSS/news fetcher that checks Saudi business and regulatory feeds on a timer, matches articles to the right bank automatically, and disables itself if a source breaks.</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 real segmentation engine.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Dynamic, live-evaluated audience segments (for example, 'all Tier 1 contacts at banks with a signal in the last 30 days') alongside simple static lists — the same idea Mailchimp and HubSpot both charge for.</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2 — JOURNEY</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From many dashboards to one application — DRIP OS</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The problem being solved.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Before this phase, DRIP was several disconnected surfaces — a Flask-based BD dashboard, a raw API you could only reach through /docs, and various one-off scripts. A new user had no idea where to click.</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Unification step first.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One global search across companies, contacts, deals, campaigns, signals, and more; one executive dashboard aggregating every module; real email analytics — all built as shared services before the UI existed.</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Then, one single-page application.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DRIP OS: one login, one sidebar covering Home, Intelligence, Marketing, Sales, CRM, Automation, AI Center, Analytics, and Admin, hash-based navigation, a command palette (Ctrl+K), and a live notification centre.</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The legacy dashboard was not thrown away.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It remains reachable at /legacy during the transition, and — critically — every one of its features was later audited feature-by-feature and ported into the new single application (next slide).</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2 — JOURNEY</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Porting every legacy feature in — the BD Parity round</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The trigger.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Direct, repeated feedback that the new single application was missing real depth from the original BD dashboard — this was correct, and the fix was to grep the legacy Flask app's 27 routes and account for every one.</a:t>
            </a:r>
            <a:endParaRPr lang="en-US" sz="1350" dirty="0"/>
          </a:p>
        </p:txBody>
      </p:sp>
      <p:sp>
        <p:nvSpPr>
          <p:cNvPr id="6" name="Shape 4"/>
          <p:cNvSpPr/>
          <p:nvPr/>
        </p:nvSpPr>
        <p:spPr>
          <a:xfrm>
            <a:off x="502920" y="2468880"/>
            <a:ext cx="100584" cy="100584"/>
          </a:xfrm>
          <a:prstGeom prst="ellipse">
            <a:avLst/>
          </a:prstGeom>
          <a:solidFill>
            <a:srgbClr val="C9A227"/>
          </a:solidFill>
          <a:ln/>
        </p:spPr>
      </p:sp>
      <p:sp>
        <p:nvSpPr>
          <p:cNvPr id="7" name="Text 5"/>
          <p:cNvSpPr/>
          <p:nvPr/>
        </p:nvSpPr>
        <p:spPr>
          <a:xfrm>
            <a:off x="777240" y="2331720"/>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Bank taxonomy, done properly.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Banks vs. Non-Bank Financial Institutions (with insurance, payments, and financing sub-types) vs. Ecosystem, replacing a flat, undifferentiated account list.</a:t>
            </a:r>
            <a:endParaRPr lang="en-US" sz="1350" dirty="0"/>
          </a:p>
        </p:txBody>
      </p:sp>
      <p:sp>
        <p:nvSpPr>
          <p:cNvPr id="8" name="Shape 6"/>
          <p:cNvSpPr/>
          <p:nvPr/>
        </p:nvSpPr>
        <p:spPr>
          <a:xfrm>
            <a:off x="502920" y="3438144"/>
            <a:ext cx="100584" cy="100584"/>
          </a:xfrm>
          <a:prstGeom prst="ellipse">
            <a:avLst/>
          </a:prstGeom>
          <a:solidFill>
            <a:srgbClr val="C9A227"/>
          </a:solidFill>
          <a:ln/>
        </p:spPr>
      </p:sp>
      <p:sp>
        <p:nvSpPr>
          <p:cNvPr id="9" name="Text 7"/>
          <p:cNvSpPr/>
          <p:nvPr/>
        </p:nvSpPr>
        <p:spPr>
          <a:xfrm>
            <a:off x="777240" y="3300984"/>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Per-channel outreach tracking restored.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original DRIP model — one row per (contact, channel) covering LinkedIn, email, phone, and WhatsApp, each with its own stage, response notes, and next step — was wired back into the contact editor exactly as it existed before.</a:t>
            </a:r>
            <a:endParaRPr lang="en-US" sz="1350" dirty="0"/>
          </a:p>
        </p:txBody>
      </p:sp>
      <p:sp>
        <p:nvSpPr>
          <p:cNvPr id="10" name="Shape 8"/>
          <p:cNvSpPr/>
          <p:nvPr/>
        </p:nvSpPr>
        <p:spPr>
          <a:xfrm>
            <a:off x="502920" y="4407408"/>
            <a:ext cx="100584" cy="100584"/>
          </a:xfrm>
          <a:prstGeom prst="ellipse">
            <a:avLst/>
          </a:prstGeom>
          <a:solidFill>
            <a:srgbClr val="C9A227"/>
          </a:solidFill>
          <a:ln/>
        </p:spPr>
      </p:sp>
      <p:sp>
        <p:nvSpPr>
          <p:cNvPr id="11" name="Text 9"/>
          <p:cNvSpPr/>
          <p:nvPr/>
        </p:nvSpPr>
        <p:spPr>
          <a:xfrm>
            <a:off x="777240" y="4270248"/>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HubSpot-style deal kanban and Mailchimp-style campaign flow.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real drag-stage deal board with SAR totals and CSV export; audience creation with a live member-count preview; a dedicated campaign detail page with a recipients table — not three cosmetic buttons.</a:t>
            </a:r>
            <a:endParaRPr lang="en-US" sz="1350" dirty="0"/>
          </a:p>
        </p:txBody>
      </p:sp>
      <p:sp>
        <p:nvSpPr>
          <p:cNvPr id="12" name="Shape 10"/>
          <p:cNvSpPr/>
          <p:nvPr/>
        </p:nvSpPr>
        <p:spPr>
          <a:xfrm>
            <a:off x="502920" y="5376672"/>
            <a:ext cx="100584" cy="100584"/>
          </a:xfrm>
          <a:prstGeom prst="ellipse">
            <a:avLst/>
          </a:prstGeom>
          <a:solidFill>
            <a:srgbClr val="C9A227"/>
          </a:solidFill>
          <a:ln/>
        </p:spPr>
      </p:sp>
      <p:sp>
        <p:nvSpPr>
          <p:cNvPr id="13" name="Text 11"/>
          <p:cNvSpPr/>
          <p:nvPr/>
        </p:nvSpPr>
        <p:spPr>
          <a:xfrm>
            <a:off x="777240" y="5239512"/>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Every change verified against the real API, not assumed.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Each round closed with an inline test hitting the actual FastAPI endpoints, plus the full existing regression suite (hundreds of checks) re-run green before being reported as done.</a:t>
            </a:r>
            <a:endParaRPr lang="en-US" sz="1350" dirty="0"/>
          </a:p>
        </p:txBody>
      </p:sp>
      <p:sp>
        <p:nvSpPr>
          <p:cNvPr id="14"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5"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2 — JOURNEY</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This week — closing the last usability gaps</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 was reported broken</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819302"/>
          </a:xfrm>
          <a:prstGeom prst="rect">
            <a:avLst/>
          </a:prstGeom>
          <a:noFill/>
          <a:ln/>
        </p:spPr>
        <p:txBody>
          <a:bodyPr wrap="square" rtlCol="0" anchor="t"/>
          <a:lstStyle/>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No way to upload a bank's own contact list from inside its own page.</a:t>
            </a:r>
            <a:endParaRPr lang="en-US" sz="1250" dirty="0"/>
          </a:p>
        </p:txBody>
      </p:sp>
      <p:sp>
        <p:nvSpPr>
          <p:cNvPr id="9" name="Shape 7"/>
          <p:cNvSpPr/>
          <p:nvPr/>
        </p:nvSpPr>
        <p:spPr>
          <a:xfrm>
            <a:off x="502920" y="2968142"/>
            <a:ext cx="82296" cy="82296"/>
          </a:xfrm>
          <a:prstGeom prst="ellipse">
            <a:avLst/>
          </a:prstGeom>
          <a:solidFill>
            <a:srgbClr val="C9A227"/>
          </a:solidFill>
          <a:ln/>
        </p:spPr>
      </p:sp>
      <p:sp>
        <p:nvSpPr>
          <p:cNvPr id="10" name="Text 8"/>
          <p:cNvSpPr/>
          <p:nvPr/>
        </p:nvSpPr>
        <p:spPr>
          <a:xfrm>
            <a:off x="731520" y="2849270"/>
            <a:ext cx="5090008" cy="819302"/>
          </a:xfrm>
          <a:prstGeom prst="rect">
            <a:avLst/>
          </a:prstGeom>
          <a:noFill/>
          <a:ln/>
        </p:spPr>
        <p:txBody>
          <a:bodyPr wrap="square" rtlCol="0" anchor="t"/>
          <a:lstStyle/>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'Working on [Bank]...' banner showed on the Dashboard and every other screen, not just the bank's own page.</a:t>
            </a:r>
            <a:endParaRPr lang="en-US" sz="1250" dirty="0"/>
          </a:p>
        </p:txBody>
      </p:sp>
      <p:sp>
        <p:nvSpPr>
          <p:cNvPr id="11" name="Shape 9"/>
          <p:cNvSpPr/>
          <p:nvPr/>
        </p:nvSpPr>
        <p:spPr>
          <a:xfrm>
            <a:off x="502920" y="3787445"/>
            <a:ext cx="82296" cy="82296"/>
          </a:xfrm>
          <a:prstGeom prst="ellipse">
            <a:avLst/>
          </a:prstGeom>
          <a:solidFill>
            <a:srgbClr val="C9A227"/>
          </a:solidFill>
          <a:ln/>
        </p:spPr>
      </p:sp>
      <p:sp>
        <p:nvSpPr>
          <p:cNvPr id="12" name="Text 10"/>
          <p:cNvSpPr/>
          <p:nvPr/>
        </p:nvSpPr>
        <p:spPr>
          <a:xfrm>
            <a:off x="731520" y="3668573"/>
            <a:ext cx="5090008" cy="819302"/>
          </a:xfrm>
          <a:prstGeom prst="rect">
            <a:avLst/>
          </a:prstGeom>
          <a:noFill/>
          <a:ln/>
        </p:spPr>
        <p:txBody>
          <a:bodyPr wrap="square" rtlCol="0" anchor="t"/>
          <a:lstStyle/>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DRIP logo did nothing when clicked — no way back to Home.</a:t>
            </a:r>
            <a:endParaRPr lang="en-US" sz="1250" dirty="0"/>
          </a:p>
        </p:txBody>
      </p:sp>
      <p:sp>
        <p:nvSpPr>
          <p:cNvPr id="13" name="Shape 11"/>
          <p:cNvSpPr/>
          <p:nvPr/>
        </p:nvSpPr>
        <p:spPr>
          <a:xfrm>
            <a:off x="502920" y="4606747"/>
            <a:ext cx="82296" cy="82296"/>
          </a:xfrm>
          <a:prstGeom prst="ellipse">
            <a:avLst/>
          </a:prstGeom>
          <a:solidFill>
            <a:srgbClr val="C9A227"/>
          </a:solidFill>
          <a:ln/>
        </p:spPr>
      </p:sp>
      <p:sp>
        <p:nvSpPr>
          <p:cNvPr id="14" name="Text 12"/>
          <p:cNvSpPr/>
          <p:nvPr/>
        </p:nvSpPr>
        <p:spPr>
          <a:xfrm>
            <a:off x="731520" y="4487875"/>
            <a:ext cx="5090008" cy="819302"/>
          </a:xfrm>
          <a:prstGeom prst="rect">
            <a:avLst/>
          </a:prstGeom>
          <a:noFill/>
          <a:ln/>
        </p:spPr>
        <p:txBody>
          <a:bodyPr wrap="square" rtlCol="0" anchor="t"/>
          <a:lstStyle/>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Campaign audience selection and the Pipeline screen were cosmetic — clicking did nothing real.</a:t>
            </a:r>
            <a:endParaRPr lang="en-US" sz="1250" dirty="0"/>
          </a:p>
        </p:txBody>
      </p:sp>
      <p:sp>
        <p:nvSpPr>
          <p:cNvPr id="15" name="Shape 13"/>
          <p:cNvSpPr/>
          <p:nvPr/>
        </p:nvSpPr>
        <p:spPr>
          <a:xfrm>
            <a:off x="502920" y="5426050"/>
            <a:ext cx="82296" cy="82296"/>
          </a:xfrm>
          <a:prstGeom prst="ellipse">
            <a:avLst/>
          </a:prstGeom>
          <a:solidFill>
            <a:srgbClr val="C9A227"/>
          </a:solidFill>
          <a:ln/>
        </p:spPr>
      </p:sp>
      <p:sp>
        <p:nvSpPr>
          <p:cNvPr id="16" name="Text 14"/>
          <p:cNvSpPr/>
          <p:nvPr/>
        </p:nvSpPr>
        <p:spPr>
          <a:xfrm>
            <a:off x="731520" y="5307178"/>
            <a:ext cx="5090008" cy="819302"/>
          </a:xfrm>
          <a:prstGeom prst="rect">
            <a:avLst/>
          </a:prstGeom>
          <a:noFill/>
          <a:ln/>
        </p:spPr>
        <p:txBody>
          <a:bodyPr wrap="square" rtlCol="0" anchor="t"/>
          <a:lstStyle/>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Export CSV button silently failed with no explanation.</a:t>
            </a:r>
            <a:endParaRPr lang="en-US" sz="1250" dirty="0"/>
          </a:p>
        </p:txBody>
      </p:sp>
      <p:sp>
        <p:nvSpPr>
          <p:cNvPr id="17" name="Shape 15"/>
          <p:cNvSpPr/>
          <p:nvPr/>
        </p:nvSpPr>
        <p:spPr>
          <a:xfrm>
            <a:off x="6324448" y="1417320"/>
            <a:ext cx="5364328" cy="457200"/>
          </a:xfrm>
          <a:prstGeom prst="rect">
            <a:avLst/>
          </a:prstGeom>
          <a:solidFill>
            <a:srgbClr val="F3F5F9"/>
          </a:solidFill>
          <a:ln/>
        </p:spPr>
      </p:sp>
      <p:sp>
        <p:nvSpPr>
          <p:cNvPr id="18" name="Shape 16"/>
          <p:cNvSpPr/>
          <p:nvPr/>
        </p:nvSpPr>
        <p:spPr>
          <a:xfrm>
            <a:off x="6324448" y="1417320"/>
            <a:ext cx="73152" cy="457200"/>
          </a:xfrm>
          <a:prstGeom prst="rect">
            <a:avLst/>
          </a:prstGeom>
          <a:solidFill>
            <a:srgbClr val="2657A8"/>
          </a:solidFill>
          <a:ln/>
        </p:spPr>
      </p:sp>
      <p:sp>
        <p:nvSpPr>
          <p:cNvPr id="19" name="Text 17"/>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 was actually fixed</a:t>
            </a:r>
            <a:endParaRPr lang="en-US" sz="1500" dirty="0"/>
          </a:p>
        </p:txBody>
      </p:sp>
      <p:sp>
        <p:nvSpPr>
          <p:cNvPr id="20" name="Shape 18"/>
          <p:cNvSpPr/>
          <p:nvPr/>
        </p:nvSpPr>
        <p:spPr>
          <a:xfrm>
            <a:off x="6324448" y="2148840"/>
            <a:ext cx="82296" cy="82296"/>
          </a:xfrm>
          <a:prstGeom prst="ellipse">
            <a:avLst/>
          </a:prstGeom>
          <a:solidFill>
            <a:srgbClr val="2657A8"/>
          </a:solidFill>
          <a:ln/>
        </p:spPr>
      </p:sp>
      <p:sp>
        <p:nvSpPr>
          <p:cNvPr id="21" name="Text 19"/>
          <p:cNvSpPr/>
          <p:nvPr/>
        </p:nvSpPr>
        <p:spPr>
          <a:xfrm>
            <a:off x="6553048" y="2029968"/>
            <a:ext cx="5090008" cy="819302"/>
          </a:xfrm>
          <a:prstGeom prst="rect">
            <a:avLst/>
          </a:prstGeom>
          <a:noFill/>
          <a:ln/>
        </p:spPr>
        <p:txBody>
          <a:bodyPr wrap="square" rtlCol="0" anchor="t"/>
          <a:lstStyle/>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real Excel/CSV upload button on each bank's own Contacts tab, reusing the original fast DRIP importer.</a:t>
            </a:r>
            <a:endParaRPr lang="en-US" sz="1250" dirty="0"/>
          </a:p>
        </p:txBody>
      </p:sp>
      <p:sp>
        <p:nvSpPr>
          <p:cNvPr id="22" name="Shape 20"/>
          <p:cNvSpPr/>
          <p:nvPr/>
        </p:nvSpPr>
        <p:spPr>
          <a:xfrm>
            <a:off x="6324448" y="2968142"/>
            <a:ext cx="82296" cy="82296"/>
          </a:xfrm>
          <a:prstGeom prst="ellipse">
            <a:avLst/>
          </a:prstGeom>
          <a:solidFill>
            <a:srgbClr val="2657A8"/>
          </a:solidFill>
          <a:ln/>
        </p:spPr>
      </p:sp>
      <p:sp>
        <p:nvSpPr>
          <p:cNvPr id="23" name="Text 21"/>
          <p:cNvSpPr/>
          <p:nvPr/>
        </p:nvSpPr>
        <p:spPr>
          <a:xfrm>
            <a:off x="6553048" y="2849270"/>
            <a:ext cx="5090008" cy="819302"/>
          </a:xfrm>
          <a:prstGeom prst="rect">
            <a:avLst/>
          </a:prstGeom>
          <a:noFill/>
          <a:ln/>
        </p:spPr>
        <p:txBody>
          <a:bodyPr wrap="square" rtlCol="0" anchor="t"/>
          <a:lstStyle/>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context banner now only appears when a specific bank or committee page is open — fixed in the routing logic itself.</a:t>
            </a:r>
            <a:endParaRPr lang="en-US" sz="1250" dirty="0"/>
          </a:p>
        </p:txBody>
      </p:sp>
      <p:sp>
        <p:nvSpPr>
          <p:cNvPr id="24" name="Shape 22"/>
          <p:cNvSpPr/>
          <p:nvPr/>
        </p:nvSpPr>
        <p:spPr>
          <a:xfrm>
            <a:off x="6324448" y="3787445"/>
            <a:ext cx="82296" cy="82296"/>
          </a:xfrm>
          <a:prstGeom prst="ellipse">
            <a:avLst/>
          </a:prstGeom>
          <a:solidFill>
            <a:srgbClr val="2657A8"/>
          </a:solidFill>
          <a:ln/>
        </p:spPr>
      </p:sp>
      <p:sp>
        <p:nvSpPr>
          <p:cNvPr id="25" name="Text 23"/>
          <p:cNvSpPr/>
          <p:nvPr/>
        </p:nvSpPr>
        <p:spPr>
          <a:xfrm>
            <a:off x="6553048" y="3668573"/>
            <a:ext cx="5090008" cy="819302"/>
          </a:xfrm>
          <a:prstGeom prst="rect">
            <a:avLst/>
          </a:prstGeom>
          <a:noFill/>
          <a:ln/>
        </p:spPr>
        <p:txBody>
          <a:bodyPr wrap="square" rtlCol="0" anchor="t"/>
          <a:lstStyle/>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logo is now a working Home button.</a:t>
            </a:r>
            <a:endParaRPr lang="en-US" sz="1250" dirty="0"/>
          </a:p>
        </p:txBody>
      </p:sp>
      <p:sp>
        <p:nvSpPr>
          <p:cNvPr id="26" name="Shape 24"/>
          <p:cNvSpPr/>
          <p:nvPr/>
        </p:nvSpPr>
        <p:spPr>
          <a:xfrm>
            <a:off x="6324448" y="4606747"/>
            <a:ext cx="82296" cy="82296"/>
          </a:xfrm>
          <a:prstGeom prst="ellipse">
            <a:avLst/>
          </a:prstGeom>
          <a:solidFill>
            <a:srgbClr val="2657A8"/>
          </a:solidFill>
          <a:ln/>
        </p:spPr>
      </p:sp>
      <p:sp>
        <p:nvSpPr>
          <p:cNvPr id="27" name="Text 25"/>
          <p:cNvSpPr/>
          <p:nvPr/>
        </p:nvSpPr>
        <p:spPr>
          <a:xfrm>
            <a:off x="6553048" y="4487875"/>
            <a:ext cx="5090008" cy="819302"/>
          </a:xfrm>
          <a:prstGeom prst="rect">
            <a:avLst/>
          </a:prstGeom>
          <a:noFill/>
          <a:ln/>
        </p:spPr>
        <p:txBody>
          <a:bodyPr wrap="square" rtlCol="0" anchor="t"/>
          <a:lstStyle/>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Campaigns now have a live audience-count preview and a full recipients page; Pipeline has real search, filters, sort, and export.</a:t>
            </a:r>
            <a:endParaRPr lang="en-US" sz="1250" dirty="0"/>
          </a:p>
        </p:txBody>
      </p:sp>
      <p:sp>
        <p:nvSpPr>
          <p:cNvPr id="28" name="Shape 26"/>
          <p:cNvSpPr/>
          <p:nvPr/>
        </p:nvSpPr>
        <p:spPr>
          <a:xfrm>
            <a:off x="6324448" y="5426050"/>
            <a:ext cx="82296" cy="82296"/>
          </a:xfrm>
          <a:prstGeom prst="ellipse">
            <a:avLst/>
          </a:prstGeom>
          <a:solidFill>
            <a:srgbClr val="2657A8"/>
          </a:solidFill>
          <a:ln/>
        </p:spPr>
      </p:sp>
      <p:sp>
        <p:nvSpPr>
          <p:cNvPr id="29" name="Text 27"/>
          <p:cNvSpPr/>
          <p:nvPr/>
        </p:nvSpPr>
        <p:spPr>
          <a:xfrm>
            <a:off x="6553048" y="5307178"/>
            <a:ext cx="5090008" cy="819302"/>
          </a:xfrm>
          <a:prstGeom prst="rect">
            <a:avLst/>
          </a:prstGeom>
          <a:noFill/>
          <a:ln/>
        </p:spPr>
        <p:txBody>
          <a:bodyPr wrap="square" rtlCol="0" anchor="t"/>
          <a:lstStyle/>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Root cause found: browser download links cannot carry a login token. Every export now authenticates properly and asks which contacts to export.</a:t>
            </a:r>
            <a:endParaRPr lang="en-US" sz="1250" dirty="0"/>
          </a:p>
        </p:txBody>
      </p:sp>
      <p:sp>
        <p:nvSpPr>
          <p:cNvPr id="30" name="Text 28"/>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31" name="Text 29"/>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2 — JOURNEY</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The working method that keeps this honest</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1. Read the real source first.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Before building anything, the actual legacy code, database model, or prior audit document is read — never assumed or reconstructed from memory.</a:t>
            </a:r>
            <a:endParaRPr lang="en-US" sz="1350" dirty="0"/>
          </a:p>
        </p:txBody>
      </p:sp>
      <p:sp>
        <p:nvSpPr>
          <p:cNvPr id="6" name="Shape 4"/>
          <p:cNvSpPr/>
          <p:nvPr/>
        </p:nvSpPr>
        <p:spPr>
          <a:xfrm>
            <a:off x="502920" y="2468880"/>
            <a:ext cx="100584" cy="100584"/>
          </a:xfrm>
          <a:prstGeom prst="ellipse">
            <a:avLst/>
          </a:prstGeom>
          <a:solidFill>
            <a:srgbClr val="C9A227"/>
          </a:solidFill>
          <a:ln/>
        </p:spPr>
      </p:sp>
      <p:sp>
        <p:nvSpPr>
          <p:cNvPr id="7" name="Text 5"/>
          <p:cNvSpPr/>
          <p:nvPr/>
        </p:nvSpPr>
        <p:spPr>
          <a:xfrm>
            <a:off x="777240" y="2331720"/>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2. Build against the real data model.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New features are wired to the existing database tables and relationships, never a shortcut parallel structure that looks similar but isn't connected.</a:t>
            </a:r>
            <a:endParaRPr lang="en-US" sz="1350" dirty="0"/>
          </a:p>
        </p:txBody>
      </p:sp>
      <p:sp>
        <p:nvSpPr>
          <p:cNvPr id="8" name="Shape 6"/>
          <p:cNvSpPr/>
          <p:nvPr/>
        </p:nvSpPr>
        <p:spPr>
          <a:xfrm>
            <a:off x="502920" y="3438144"/>
            <a:ext cx="100584" cy="100584"/>
          </a:xfrm>
          <a:prstGeom prst="ellipse">
            <a:avLst/>
          </a:prstGeom>
          <a:solidFill>
            <a:srgbClr val="C9A227"/>
          </a:solidFill>
          <a:ln/>
        </p:spPr>
      </p:sp>
      <p:sp>
        <p:nvSpPr>
          <p:cNvPr id="9" name="Text 7"/>
          <p:cNvSpPr/>
          <p:nvPr/>
        </p:nvSpPr>
        <p:spPr>
          <a:xfrm>
            <a:off x="777240" y="3300984"/>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3. Verify against the real running system.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test script hits the actual API endpoints and checks the actual response — not just that some HTML text appears on the page.</a:t>
            </a:r>
            <a:endParaRPr lang="en-US" sz="1350" dirty="0"/>
          </a:p>
        </p:txBody>
      </p:sp>
      <p:sp>
        <p:nvSpPr>
          <p:cNvPr id="10" name="Shape 8"/>
          <p:cNvSpPr/>
          <p:nvPr/>
        </p:nvSpPr>
        <p:spPr>
          <a:xfrm>
            <a:off x="502920" y="4407408"/>
            <a:ext cx="100584" cy="100584"/>
          </a:xfrm>
          <a:prstGeom prst="ellipse">
            <a:avLst/>
          </a:prstGeom>
          <a:solidFill>
            <a:srgbClr val="C9A227"/>
          </a:solidFill>
          <a:ln/>
        </p:spPr>
      </p:sp>
      <p:sp>
        <p:nvSpPr>
          <p:cNvPr id="11" name="Text 9"/>
          <p:cNvSpPr/>
          <p:nvPr/>
        </p:nvSpPr>
        <p:spPr>
          <a:xfrm>
            <a:off x="777240" y="4270248"/>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4. Run the full regression suite.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Every existing automated test (hundreds of checks across dozens of files) must still pass before anything is called done.</a:t>
            </a:r>
            <a:endParaRPr lang="en-US" sz="1350" dirty="0"/>
          </a:p>
        </p:txBody>
      </p:sp>
      <p:sp>
        <p:nvSpPr>
          <p:cNvPr id="12" name="Shape 10"/>
          <p:cNvSpPr/>
          <p:nvPr/>
        </p:nvSpPr>
        <p:spPr>
          <a:xfrm>
            <a:off x="502920" y="5376672"/>
            <a:ext cx="100584" cy="100584"/>
          </a:xfrm>
          <a:prstGeom prst="ellipse">
            <a:avLst/>
          </a:prstGeom>
          <a:solidFill>
            <a:srgbClr val="C9A227"/>
          </a:solidFill>
          <a:ln/>
        </p:spPr>
      </p:sp>
      <p:sp>
        <p:nvSpPr>
          <p:cNvPr id="13" name="Text 11"/>
          <p:cNvSpPr/>
          <p:nvPr/>
        </p:nvSpPr>
        <p:spPr>
          <a:xfrm>
            <a:off x="777240" y="5239512"/>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5. Report exactly, including how to restart.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Every delivery includes the precise commands needed to see the change — because a code change with no server restart looks, to the user, exactly like nothing happened.</a:t>
            </a:r>
            <a:endParaRPr lang="en-US" sz="1350" dirty="0"/>
          </a:p>
        </p:txBody>
      </p:sp>
      <p:sp>
        <p:nvSpPr>
          <p:cNvPr id="14"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5"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2 — JOURNEY</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Where the journey stands today</a:t>
            </a:r>
            <a:endParaRPr lang="en-US" sz="2600" dirty="0"/>
          </a:p>
        </p:txBody>
      </p:sp>
      <p:sp>
        <p:nvSpPr>
          <p:cNvPr id="4" name="Shape 2"/>
          <p:cNvSpPr/>
          <p:nvPr/>
        </p:nvSpPr>
        <p:spPr>
          <a:xfrm>
            <a:off x="502920" y="1554480"/>
            <a:ext cx="2556434" cy="2148840"/>
          </a:xfrm>
          <a:prstGeom prst="rect">
            <a:avLst/>
          </a:prstGeom>
          <a:solidFill>
            <a:srgbClr val="0B1220"/>
          </a:solidFill>
          <a:ln/>
        </p:spPr>
      </p:sp>
      <p:sp>
        <p:nvSpPr>
          <p:cNvPr id="5" name="Shape 3"/>
          <p:cNvSpPr/>
          <p:nvPr/>
        </p:nvSpPr>
        <p:spPr>
          <a:xfrm>
            <a:off x="502920" y="1554480"/>
            <a:ext cx="2556434" cy="82296"/>
          </a:xfrm>
          <a:prstGeom prst="rect">
            <a:avLst/>
          </a:prstGeom>
          <a:solidFill>
            <a:srgbClr val="C9A227"/>
          </a:solidFill>
          <a:ln/>
        </p:spPr>
      </p:sp>
      <p:sp>
        <p:nvSpPr>
          <p:cNvPr id="6" name="Text 4"/>
          <p:cNvSpPr/>
          <p:nvPr/>
        </p:nvSpPr>
        <p:spPr>
          <a:xfrm>
            <a:off x="640080" y="1874520"/>
            <a:ext cx="2282114" cy="100584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16+</a:t>
            </a:r>
            <a:endParaRPr lang="en-US" sz="3400" dirty="0"/>
          </a:p>
        </p:txBody>
      </p:sp>
      <p:sp>
        <p:nvSpPr>
          <p:cNvPr id="7" name="Text 5"/>
          <p:cNvSpPr/>
          <p:nvPr/>
        </p:nvSpPr>
        <p:spPr>
          <a:xfrm>
            <a:off x="640080" y="2926080"/>
            <a:ext cx="2282114" cy="685800"/>
          </a:xfrm>
          <a:prstGeom prst="rect">
            <a:avLst/>
          </a:prstGeom>
          <a:noFill/>
          <a:ln/>
        </p:spPr>
        <p:txBody>
          <a:bodyPr wrap="square" rtlCol="0" anchor="t"/>
          <a:lstStyle/>
          <a:p>
            <a:pPr algn="ctr" indent="0" marL="0">
              <a:lnSpc>
                <a:spcPct val="110000"/>
              </a:lnSpc>
              <a:buNone/>
            </a:pPr>
            <a:r>
              <a:rPr lang="en-US" sz="1150" dirty="0">
                <a:solidFill>
                  <a:srgbClr val="D7E1F2"/>
                </a:solidFill>
                <a:latin typeface="Calibri" pitchFamily="34" charset="0"/>
                <a:ea typeface="Calibri" pitchFamily="34" charset="-122"/>
                <a:cs typeface="Calibri" pitchFamily="34" charset="-120"/>
              </a:rPr>
              <a:t>major build phases completed and documented</a:t>
            </a:r>
            <a:endParaRPr lang="en-US" sz="1150" dirty="0"/>
          </a:p>
        </p:txBody>
      </p:sp>
      <p:sp>
        <p:nvSpPr>
          <p:cNvPr id="8" name="Shape 6"/>
          <p:cNvSpPr/>
          <p:nvPr/>
        </p:nvSpPr>
        <p:spPr>
          <a:xfrm>
            <a:off x="3379394" y="1554480"/>
            <a:ext cx="2556434" cy="2148840"/>
          </a:xfrm>
          <a:prstGeom prst="rect">
            <a:avLst/>
          </a:prstGeom>
          <a:solidFill>
            <a:srgbClr val="0B1220"/>
          </a:solidFill>
          <a:ln/>
        </p:spPr>
      </p:sp>
      <p:sp>
        <p:nvSpPr>
          <p:cNvPr id="9" name="Shape 7"/>
          <p:cNvSpPr/>
          <p:nvPr/>
        </p:nvSpPr>
        <p:spPr>
          <a:xfrm>
            <a:off x="3379394" y="1554480"/>
            <a:ext cx="2556434" cy="82296"/>
          </a:xfrm>
          <a:prstGeom prst="rect">
            <a:avLst/>
          </a:prstGeom>
          <a:solidFill>
            <a:srgbClr val="C9A227"/>
          </a:solidFill>
          <a:ln/>
        </p:spPr>
      </p:sp>
      <p:sp>
        <p:nvSpPr>
          <p:cNvPr id="10" name="Text 8"/>
          <p:cNvSpPr/>
          <p:nvPr/>
        </p:nvSpPr>
        <p:spPr>
          <a:xfrm>
            <a:off x="3516554" y="1874520"/>
            <a:ext cx="2282114" cy="100584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300+</a:t>
            </a:r>
            <a:endParaRPr lang="en-US" sz="3400" dirty="0"/>
          </a:p>
        </p:txBody>
      </p:sp>
      <p:sp>
        <p:nvSpPr>
          <p:cNvPr id="11" name="Text 9"/>
          <p:cNvSpPr/>
          <p:nvPr/>
        </p:nvSpPr>
        <p:spPr>
          <a:xfrm>
            <a:off x="3516554" y="2926080"/>
            <a:ext cx="2282114" cy="685800"/>
          </a:xfrm>
          <a:prstGeom prst="rect">
            <a:avLst/>
          </a:prstGeom>
          <a:noFill/>
          <a:ln/>
        </p:spPr>
        <p:txBody>
          <a:bodyPr wrap="square" rtlCol="0" anchor="t"/>
          <a:lstStyle/>
          <a:p>
            <a:pPr algn="ctr" indent="0" marL="0">
              <a:lnSpc>
                <a:spcPct val="110000"/>
              </a:lnSpc>
              <a:buNone/>
            </a:pPr>
            <a:r>
              <a:rPr lang="en-US" sz="1150" dirty="0">
                <a:solidFill>
                  <a:srgbClr val="D7E1F2"/>
                </a:solidFill>
                <a:latin typeface="Calibri" pitchFamily="34" charset="0"/>
                <a:ea typeface="Calibri" pitchFamily="34" charset="-122"/>
                <a:cs typeface="Calibri" pitchFamily="34" charset="-120"/>
              </a:rPr>
              <a:t>automated regression checks green across the test suite</a:t>
            </a:r>
            <a:endParaRPr lang="en-US" sz="1150" dirty="0"/>
          </a:p>
        </p:txBody>
      </p:sp>
      <p:sp>
        <p:nvSpPr>
          <p:cNvPr id="12" name="Shape 10"/>
          <p:cNvSpPr/>
          <p:nvPr/>
        </p:nvSpPr>
        <p:spPr>
          <a:xfrm>
            <a:off x="6255868" y="1554480"/>
            <a:ext cx="2556434" cy="2148840"/>
          </a:xfrm>
          <a:prstGeom prst="rect">
            <a:avLst/>
          </a:prstGeom>
          <a:solidFill>
            <a:srgbClr val="0B1220"/>
          </a:solidFill>
          <a:ln/>
        </p:spPr>
      </p:sp>
      <p:sp>
        <p:nvSpPr>
          <p:cNvPr id="13" name="Shape 11"/>
          <p:cNvSpPr/>
          <p:nvPr/>
        </p:nvSpPr>
        <p:spPr>
          <a:xfrm>
            <a:off x="6255868" y="1554480"/>
            <a:ext cx="2556434" cy="82296"/>
          </a:xfrm>
          <a:prstGeom prst="rect">
            <a:avLst/>
          </a:prstGeom>
          <a:solidFill>
            <a:srgbClr val="C9A227"/>
          </a:solidFill>
          <a:ln/>
        </p:spPr>
      </p:sp>
      <p:sp>
        <p:nvSpPr>
          <p:cNvPr id="14" name="Text 12"/>
          <p:cNvSpPr/>
          <p:nvPr/>
        </p:nvSpPr>
        <p:spPr>
          <a:xfrm>
            <a:off x="6393028" y="1874520"/>
            <a:ext cx="2282114" cy="100584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22 / 100</a:t>
            </a:r>
            <a:endParaRPr lang="en-US" sz="3400" dirty="0"/>
          </a:p>
        </p:txBody>
      </p:sp>
      <p:sp>
        <p:nvSpPr>
          <p:cNvPr id="15" name="Text 13"/>
          <p:cNvSpPr/>
          <p:nvPr/>
        </p:nvSpPr>
        <p:spPr>
          <a:xfrm>
            <a:off x="6393028" y="2926080"/>
            <a:ext cx="2282114" cy="685800"/>
          </a:xfrm>
          <a:prstGeom prst="rect">
            <a:avLst/>
          </a:prstGeom>
          <a:noFill/>
          <a:ln/>
        </p:spPr>
        <p:txBody>
          <a:bodyPr wrap="square" rtlCol="0" anchor="t"/>
          <a:lstStyle/>
          <a:p>
            <a:pPr algn="ctr" indent="0" marL="0">
              <a:lnSpc>
                <a:spcPct val="110000"/>
              </a:lnSpc>
              <a:buNone/>
            </a:pPr>
            <a:r>
              <a:rPr lang="en-US" sz="1150" dirty="0">
                <a:solidFill>
                  <a:srgbClr val="D7E1F2"/>
                </a:solidFill>
                <a:latin typeface="Calibri" pitchFamily="34" charset="0"/>
                <a:ea typeface="Calibri" pitchFamily="34" charset="-122"/>
                <a:cs typeface="Calibri" pitchFamily="34" charset="-120"/>
              </a:rPr>
              <a:t>honest score as a general HubSpot+Mailchimp substitute (Section 16)</a:t>
            </a:r>
            <a:endParaRPr lang="en-US" sz="1150" dirty="0"/>
          </a:p>
        </p:txBody>
      </p:sp>
      <p:sp>
        <p:nvSpPr>
          <p:cNvPr id="16" name="Shape 14"/>
          <p:cNvSpPr/>
          <p:nvPr/>
        </p:nvSpPr>
        <p:spPr>
          <a:xfrm>
            <a:off x="9132341" y="1554480"/>
            <a:ext cx="2556434" cy="2148840"/>
          </a:xfrm>
          <a:prstGeom prst="rect">
            <a:avLst/>
          </a:prstGeom>
          <a:solidFill>
            <a:srgbClr val="0B1220"/>
          </a:solidFill>
          <a:ln/>
        </p:spPr>
      </p:sp>
      <p:sp>
        <p:nvSpPr>
          <p:cNvPr id="17" name="Shape 15"/>
          <p:cNvSpPr/>
          <p:nvPr/>
        </p:nvSpPr>
        <p:spPr>
          <a:xfrm>
            <a:off x="9132341" y="1554480"/>
            <a:ext cx="2556434" cy="82296"/>
          </a:xfrm>
          <a:prstGeom prst="rect">
            <a:avLst/>
          </a:prstGeom>
          <a:solidFill>
            <a:srgbClr val="C9A227"/>
          </a:solidFill>
          <a:ln/>
        </p:spPr>
      </p:sp>
      <p:sp>
        <p:nvSpPr>
          <p:cNvPr id="18" name="Text 16"/>
          <p:cNvSpPr/>
          <p:nvPr/>
        </p:nvSpPr>
        <p:spPr>
          <a:xfrm>
            <a:off x="9269501" y="1874520"/>
            <a:ext cx="2282114" cy="100584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~50 / 100</a:t>
            </a:r>
            <a:endParaRPr lang="en-US" sz="3400" dirty="0"/>
          </a:p>
        </p:txBody>
      </p:sp>
      <p:sp>
        <p:nvSpPr>
          <p:cNvPr id="19" name="Text 17"/>
          <p:cNvSpPr/>
          <p:nvPr/>
        </p:nvSpPr>
        <p:spPr>
          <a:xfrm>
            <a:off x="9269501" y="2926080"/>
            <a:ext cx="2282114" cy="685800"/>
          </a:xfrm>
          <a:prstGeom prst="rect">
            <a:avLst/>
          </a:prstGeom>
          <a:noFill/>
          <a:ln/>
        </p:spPr>
        <p:txBody>
          <a:bodyPr wrap="square" rtlCol="0" anchor="t"/>
          <a:lstStyle/>
          <a:p>
            <a:pPr algn="ctr" indent="0" marL="0">
              <a:lnSpc>
                <a:spcPct val="110000"/>
              </a:lnSpc>
              <a:buNone/>
            </a:pPr>
            <a:r>
              <a:rPr lang="en-US" sz="1150" dirty="0">
                <a:solidFill>
                  <a:srgbClr val="D7E1F2"/>
                </a:solidFill>
                <a:latin typeface="Calibri" pitchFamily="34" charset="0"/>
                <a:ea typeface="Calibri" pitchFamily="34" charset="-122"/>
                <a:cs typeface="Calibri" pitchFamily="34" charset="-120"/>
              </a:rPr>
              <a:t>honest score as a fit-for-purpose tool for this exact job (Section 14)</a:t>
            </a:r>
            <a:endParaRPr lang="en-US" sz="1150" dirty="0"/>
          </a:p>
        </p:txBody>
      </p:sp>
      <p:sp>
        <p:nvSpPr>
          <p:cNvPr id="20" name="Text 18"/>
          <p:cNvSpPr/>
          <p:nvPr/>
        </p:nvSpPr>
        <p:spPr>
          <a:xfrm>
            <a:off x="502920" y="4023360"/>
            <a:ext cx="11185855" cy="1280160"/>
          </a:xfrm>
          <a:prstGeom prst="rect">
            <a:avLst/>
          </a:prstGeom>
          <a:noFill/>
          <a:ln/>
        </p:spPr>
        <p:txBody>
          <a:bodyPr wrap="square" rtlCol="0" anchor="ctr"/>
          <a:lstStyle/>
          <a:p>
            <a:pPr indent="0" marL="0">
              <a:lnSpc>
                <a:spcPct val="125000"/>
              </a:lnSpc>
              <a:buNone/>
            </a:pPr>
            <a:r>
              <a:rPr lang="en-US" sz="1300" dirty="0">
                <a:solidFill>
                  <a:srgbClr val="586080"/>
                </a:solidFill>
                <a:latin typeface="Calibri" pitchFamily="34" charset="0"/>
                <a:ea typeface="Calibri" pitchFamily="34" charset="-122"/>
                <a:cs typeface="Calibri" pitchFamily="34" charset="-120"/>
              </a:rPr>
              <a:t>The gap between 22 and 50 is the whole point of this document: as a generic product DRIP will never rival HubSpot's ecosystem — and it does not need to. As the specific tool for Decimal's actual job, the remaining gap is mostly deployment, data enrichment, and sign-off, not unsolved engineering. Section 14 and Section 15 walk through exactly what closes it.</a:t>
            </a:r>
            <a:endParaRPr lang="en-US" sz="1300" dirty="0"/>
          </a:p>
        </p:txBody>
      </p:sp>
      <p:sp>
        <p:nvSpPr>
          <p:cNvPr id="21" name="Text 19"/>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2" name="Text 20"/>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03</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03</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System Architecture</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Every layer of the technology stack, explained in plain English, and how they connect.</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The full stack, layer by layer</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Frontend: DRIP OS single application</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Backend, database, and API layer</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Authentication, ETL, scheduler, AI, search, campaigns, analytics, reporting, integrations</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3 — ARCHITECTURE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The full technology stack, layer by layer</a:t>
            </a:r>
            <a:endParaRPr lang="en-US" sz="2600" dirty="0"/>
          </a:p>
        </p:txBody>
      </p:sp>
      <p:sp>
        <p:nvSpPr>
          <p:cNvPr id="4" name="Shape 2"/>
          <p:cNvSpPr/>
          <p:nvPr/>
        </p:nvSpPr>
        <p:spPr>
          <a:xfrm>
            <a:off x="502920" y="1371600"/>
            <a:ext cx="2286000" cy="872338"/>
          </a:xfrm>
          <a:prstGeom prst="rect">
            <a:avLst/>
          </a:prstGeom>
          <a:solidFill>
            <a:srgbClr val="0B1220"/>
          </a:solidFill>
          <a:ln/>
        </p:spPr>
      </p:sp>
      <p:sp>
        <p:nvSpPr>
          <p:cNvPr id="5" name="Text 3"/>
          <p:cNvSpPr/>
          <p:nvPr/>
        </p:nvSpPr>
        <p:spPr>
          <a:xfrm>
            <a:off x="640080" y="1371600"/>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Experience Layer</a:t>
            </a:r>
            <a:endParaRPr lang="en-US" sz="1300" dirty="0"/>
          </a:p>
        </p:txBody>
      </p:sp>
      <p:sp>
        <p:nvSpPr>
          <p:cNvPr id="6" name="Shape 4"/>
          <p:cNvSpPr/>
          <p:nvPr/>
        </p:nvSpPr>
        <p:spPr>
          <a:xfrm>
            <a:off x="2971800" y="1426464"/>
            <a:ext cx="2832506" cy="762610"/>
          </a:xfrm>
          <a:prstGeom prst="rect">
            <a:avLst/>
          </a:prstGeom>
          <a:solidFill>
            <a:srgbClr val="F3F5F9"/>
          </a:solidFill>
          <a:ln w="15875">
            <a:solidFill>
              <a:srgbClr val="1E2C4F"/>
            </a:solidFill>
            <a:prstDash val="solid"/>
          </a:ln>
        </p:spPr>
      </p:sp>
      <p:sp>
        <p:nvSpPr>
          <p:cNvPr id="7" name="Text 5"/>
          <p:cNvSpPr/>
          <p:nvPr/>
        </p:nvSpPr>
        <p:spPr>
          <a:xfrm>
            <a:off x="3044952" y="1426464"/>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DRIP OS (single app, one login)</a:t>
            </a:r>
            <a:endParaRPr lang="en-US" sz="1050" dirty="0"/>
          </a:p>
        </p:txBody>
      </p:sp>
      <p:sp>
        <p:nvSpPr>
          <p:cNvPr id="8" name="Shape 6"/>
          <p:cNvSpPr/>
          <p:nvPr/>
        </p:nvSpPr>
        <p:spPr>
          <a:xfrm>
            <a:off x="5914034" y="1426464"/>
            <a:ext cx="2832506" cy="762610"/>
          </a:xfrm>
          <a:prstGeom prst="rect">
            <a:avLst/>
          </a:prstGeom>
          <a:solidFill>
            <a:srgbClr val="F3F5F9"/>
          </a:solidFill>
          <a:ln w="15875">
            <a:solidFill>
              <a:srgbClr val="1E2C4F"/>
            </a:solidFill>
            <a:prstDash val="solid"/>
          </a:ln>
        </p:spPr>
      </p:sp>
      <p:sp>
        <p:nvSpPr>
          <p:cNvPr id="9" name="Text 7"/>
          <p:cNvSpPr/>
          <p:nvPr/>
        </p:nvSpPr>
        <p:spPr>
          <a:xfrm>
            <a:off x="5987186" y="1426464"/>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Legacy BD dashboard (/legacy, transitional)</a:t>
            </a:r>
            <a:endParaRPr lang="en-US" sz="1050" dirty="0"/>
          </a:p>
        </p:txBody>
      </p:sp>
      <p:sp>
        <p:nvSpPr>
          <p:cNvPr id="10" name="Shape 8"/>
          <p:cNvSpPr/>
          <p:nvPr/>
        </p:nvSpPr>
        <p:spPr>
          <a:xfrm>
            <a:off x="8856269" y="1426464"/>
            <a:ext cx="2832506" cy="762610"/>
          </a:xfrm>
          <a:prstGeom prst="rect">
            <a:avLst/>
          </a:prstGeom>
          <a:solidFill>
            <a:srgbClr val="F3F5F9"/>
          </a:solidFill>
          <a:ln w="15875">
            <a:solidFill>
              <a:srgbClr val="1E2C4F"/>
            </a:solidFill>
            <a:prstDash val="solid"/>
          </a:ln>
        </p:spPr>
      </p:sp>
      <p:sp>
        <p:nvSpPr>
          <p:cNvPr id="11" name="Text 9"/>
          <p:cNvSpPr/>
          <p:nvPr/>
        </p:nvSpPr>
        <p:spPr>
          <a:xfrm>
            <a:off x="8929421" y="1426464"/>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Mobile app (future, Section 18)</a:t>
            </a:r>
            <a:endParaRPr lang="en-US" sz="1050" dirty="0"/>
          </a:p>
        </p:txBody>
      </p:sp>
      <p:sp>
        <p:nvSpPr>
          <p:cNvPr id="12" name="Shape 10"/>
          <p:cNvSpPr/>
          <p:nvPr/>
        </p:nvSpPr>
        <p:spPr>
          <a:xfrm>
            <a:off x="502920" y="2353666"/>
            <a:ext cx="2286000" cy="872338"/>
          </a:xfrm>
          <a:prstGeom prst="rect">
            <a:avLst/>
          </a:prstGeom>
          <a:solidFill>
            <a:srgbClr val="0B1220"/>
          </a:solidFill>
          <a:ln/>
        </p:spPr>
      </p:sp>
      <p:sp>
        <p:nvSpPr>
          <p:cNvPr id="13" name="Text 11"/>
          <p:cNvSpPr/>
          <p:nvPr/>
        </p:nvSpPr>
        <p:spPr>
          <a:xfrm>
            <a:off x="640080" y="2353666"/>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API Layer</a:t>
            </a:r>
            <a:endParaRPr lang="en-US" sz="1300" dirty="0"/>
          </a:p>
        </p:txBody>
      </p:sp>
      <p:sp>
        <p:nvSpPr>
          <p:cNvPr id="14" name="Shape 12"/>
          <p:cNvSpPr/>
          <p:nvPr/>
        </p:nvSpPr>
        <p:spPr>
          <a:xfrm>
            <a:off x="2971800" y="2408530"/>
            <a:ext cx="2832506" cy="762610"/>
          </a:xfrm>
          <a:prstGeom prst="rect">
            <a:avLst/>
          </a:prstGeom>
          <a:solidFill>
            <a:srgbClr val="F3F5F9"/>
          </a:solidFill>
          <a:ln w="15875">
            <a:solidFill>
              <a:srgbClr val="1E2C4F"/>
            </a:solidFill>
            <a:prstDash val="solid"/>
          </a:ln>
        </p:spPr>
      </p:sp>
      <p:sp>
        <p:nvSpPr>
          <p:cNvPr id="15" name="Text 13"/>
          <p:cNvSpPr/>
          <p:nvPr/>
        </p:nvSpPr>
        <p:spPr>
          <a:xfrm>
            <a:off x="3044952" y="2408530"/>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215 REST endpoints across 26+ routers</a:t>
            </a:r>
            <a:endParaRPr lang="en-US" sz="1050" dirty="0"/>
          </a:p>
        </p:txBody>
      </p:sp>
      <p:sp>
        <p:nvSpPr>
          <p:cNvPr id="16" name="Shape 14"/>
          <p:cNvSpPr/>
          <p:nvPr/>
        </p:nvSpPr>
        <p:spPr>
          <a:xfrm>
            <a:off x="5914034" y="2408530"/>
            <a:ext cx="2832506" cy="762610"/>
          </a:xfrm>
          <a:prstGeom prst="rect">
            <a:avLst/>
          </a:prstGeom>
          <a:solidFill>
            <a:srgbClr val="F3F5F9"/>
          </a:solidFill>
          <a:ln w="15875">
            <a:solidFill>
              <a:srgbClr val="1E2C4F"/>
            </a:solidFill>
            <a:prstDash val="solid"/>
          </a:ln>
        </p:spPr>
      </p:sp>
      <p:sp>
        <p:nvSpPr>
          <p:cNvPr id="17" name="Text 15"/>
          <p:cNvSpPr/>
          <p:nvPr/>
        </p:nvSpPr>
        <p:spPr>
          <a:xfrm>
            <a:off x="5987186" y="2408530"/>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Authentication &amp; permission scopes</a:t>
            </a:r>
            <a:endParaRPr lang="en-US" sz="1050" dirty="0"/>
          </a:p>
        </p:txBody>
      </p:sp>
      <p:sp>
        <p:nvSpPr>
          <p:cNvPr id="18" name="Shape 16"/>
          <p:cNvSpPr/>
          <p:nvPr/>
        </p:nvSpPr>
        <p:spPr>
          <a:xfrm>
            <a:off x="8856269" y="2408530"/>
            <a:ext cx="2832506" cy="762610"/>
          </a:xfrm>
          <a:prstGeom prst="rect">
            <a:avLst/>
          </a:prstGeom>
          <a:solidFill>
            <a:srgbClr val="F3F5F9"/>
          </a:solidFill>
          <a:ln w="15875">
            <a:solidFill>
              <a:srgbClr val="1E2C4F"/>
            </a:solidFill>
            <a:prstDash val="solid"/>
          </a:ln>
        </p:spPr>
      </p:sp>
      <p:sp>
        <p:nvSpPr>
          <p:cNvPr id="19" name="Text 17"/>
          <p:cNvSpPr/>
          <p:nvPr/>
        </p:nvSpPr>
        <p:spPr>
          <a:xfrm>
            <a:off x="8929421" y="2408530"/>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Rate limiting &amp; webhook signatures</a:t>
            </a:r>
            <a:endParaRPr lang="en-US" sz="1050" dirty="0"/>
          </a:p>
        </p:txBody>
      </p:sp>
      <p:sp>
        <p:nvSpPr>
          <p:cNvPr id="20" name="Shape 18"/>
          <p:cNvSpPr/>
          <p:nvPr/>
        </p:nvSpPr>
        <p:spPr>
          <a:xfrm>
            <a:off x="502920" y="3335731"/>
            <a:ext cx="2286000" cy="872338"/>
          </a:xfrm>
          <a:prstGeom prst="rect">
            <a:avLst/>
          </a:prstGeom>
          <a:solidFill>
            <a:srgbClr val="0B1220"/>
          </a:solidFill>
          <a:ln/>
        </p:spPr>
      </p:sp>
      <p:sp>
        <p:nvSpPr>
          <p:cNvPr id="21" name="Text 19"/>
          <p:cNvSpPr/>
          <p:nvPr/>
        </p:nvSpPr>
        <p:spPr>
          <a:xfrm>
            <a:off x="640080" y="3335731"/>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Business Logic Layer</a:t>
            </a:r>
            <a:endParaRPr lang="en-US" sz="1300" dirty="0"/>
          </a:p>
        </p:txBody>
      </p:sp>
      <p:sp>
        <p:nvSpPr>
          <p:cNvPr id="22" name="Shape 20"/>
          <p:cNvSpPr/>
          <p:nvPr/>
        </p:nvSpPr>
        <p:spPr>
          <a:xfrm>
            <a:off x="2971800" y="3390595"/>
            <a:ext cx="2096948" cy="762610"/>
          </a:xfrm>
          <a:prstGeom prst="rect">
            <a:avLst/>
          </a:prstGeom>
          <a:solidFill>
            <a:srgbClr val="F3F5F9"/>
          </a:solidFill>
          <a:ln w="15875">
            <a:solidFill>
              <a:srgbClr val="1E2C4F"/>
            </a:solidFill>
            <a:prstDash val="solid"/>
          </a:ln>
        </p:spPr>
      </p:sp>
      <p:sp>
        <p:nvSpPr>
          <p:cNvPr id="23" name="Text 21"/>
          <p:cNvSpPr/>
          <p:nvPr/>
        </p:nvSpPr>
        <p:spPr>
          <a:xfrm>
            <a:off x="3044952" y="3390595"/>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CRM engine</a:t>
            </a:r>
            <a:endParaRPr lang="en-US" sz="1050" dirty="0"/>
          </a:p>
        </p:txBody>
      </p:sp>
      <p:sp>
        <p:nvSpPr>
          <p:cNvPr id="24" name="Shape 22"/>
          <p:cNvSpPr/>
          <p:nvPr/>
        </p:nvSpPr>
        <p:spPr>
          <a:xfrm>
            <a:off x="5178476" y="3390595"/>
            <a:ext cx="2096948" cy="762610"/>
          </a:xfrm>
          <a:prstGeom prst="rect">
            <a:avLst/>
          </a:prstGeom>
          <a:solidFill>
            <a:srgbClr val="F3F5F9"/>
          </a:solidFill>
          <a:ln w="15875">
            <a:solidFill>
              <a:srgbClr val="1E2C4F"/>
            </a:solidFill>
            <a:prstDash val="solid"/>
          </a:ln>
        </p:spPr>
      </p:sp>
      <p:sp>
        <p:nvSpPr>
          <p:cNvPr id="25" name="Text 23"/>
          <p:cNvSpPr/>
          <p:nvPr/>
        </p:nvSpPr>
        <p:spPr>
          <a:xfrm>
            <a:off x="5251628" y="3390595"/>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Marketing &amp; campaign engine</a:t>
            </a:r>
            <a:endParaRPr lang="en-US" sz="1050" dirty="0"/>
          </a:p>
        </p:txBody>
      </p:sp>
      <p:sp>
        <p:nvSpPr>
          <p:cNvPr id="26" name="Shape 24"/>
          <p:cNvSpPr/>
          <p:nvPr/>
        </p:nvSpPr>
        <p:spPr>
          <a:xfrm>
            <a:off x="7385152" y="3390595"/>
            <a:ext cx="2096948" cy="762610"/>
          </a:xfrm>
          <a:prstGeom prst="rect">
            <a:avLst/>
          </a:prstGeom>
          <a:solidFill>
            <a:srgbClr val="F3F5F9"/>
          </a:solidFill>
          <a:ln w="15875">
            <a:solidFill>
              <a:srgbClr val="1E2C4F"/>
            </a:solidFill>
            <a:prstDash val="solid"/>
          </a:ln>
        </p:spPr>
      </p:sp>
      <p:sp>
        <p:nvSpPr>
          <p:cNvPr id="27" name="Text 25"/>
          <p:cNvSpPr/>
          <p:nvPr/>
        </p:nvSpPr>
        <p:spPr>
          <a:xfrm>
            <a:off x="7458304" y="3390595"/>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AI / decision engine</a:t>
            </a:r>
            <a:endParaRPr lang="en-US" sz="1050" dirty="0"/>
          </a:p>
        </p:txBody>
      </p:sp>
      <p:sp>
        <p:nvSpPr>
          <p:cNvPr id="28" name="Shape 26"/>
          <p:cNvSpPr/>
          <p:nvPr/>
        </p:nvSpPr>
        <p:spPr>
          <a:xfrm>
            <a:off x="9591827" y="3390595"/>
            <a:ext cx="2096948" cy="762610"/>
          </a:xfrm>
          <a:prstGeom prst="rect">
            <a:avLst/>
          </a:prstGeom>
          <a:solidFill>
            <a:srgbClr val="F3F5F9"/>
          </a:solidFill>
          <a:ln w="15875">
            <a:solidFill>
              <a:srgbClr val="1E2C4F"/>
            </a:solidFill>
            <a:prstDash val="solid"/>
          </a:ln>
        </p:spPr>
      </p:sp>
      <p:sp>
        <p:nvSpPr>
          <p:cNvPr id="29" name="Text 27"/>
          <p:cNvSpPr/>
          <p:nvPr/>
        </p:nvSpPr>
        <p:spPr>
          <a:xfrm>
            <a:off x="9664979" y="3390595"/>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Workflow &amp; rules engine</a:t>
            </a:r>
            <a:endParaRPr lang="en-US" sz="1050" dirty="0"/>
          </a:p>
        </p:txBody>
      </p:sp>
      <p:sp>
        <p:nvSpPr>
          <p:cNvPr id="30" name="Shape 28"/>
          <p:cNvSpPr/>
          <p:nvPr/>
        </p:nvSpPr>
        <p:spPr>
          <a:xfrm>
            <a:off x="502920" y="4317797"/>
            <a:ext cx="2286000" cy="872338"/>
          </a:xfrm>
          <a:prstGeom prst="rect">
            <a:avLst/>
          </a:prstGeom>
          <a:solidFill>
            <a:srgbClr val="0B1220"/>
          </a:solidFill>
          <a:ln/>
        </p:spPr>
      </p:sp>
      <p:sp>
        <p:nvSpPr>
          <p:cNvPr id="31" name="Text 29"/>
          <p:cNvSpPr/>
          <p:nvPr/>
        </p:nvSpPr>
        <p:spPr>
          <a:xfrm>
            <a:off x="640080" y="4317797"/>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Data Layer</a:t>
            </a:r>
            <a:endParaRPr lang="en-US" sz="1300" dirty="0"/>
          </a:p>
        </p:txBody>
      </p:sp>
      <p:sp>
        <p:nvSpPr>
          <p:cNvPr id="32" name="Shape 30"/>
          <p:cNvSpPr/>
          <p:nvPr/>
        </p:nvSpPr>
        <p:spPr>
          <a:xfrm>
            <a:off x="2971800" y="4372661"/>
            <a:ext cx="2832506" cy="762610"/>
          </a:xfrm>
          <a:prstGeom prst="rect">
            <a:avLst/>
          </a:prstGeom>
          <a:solidFill>
            <a:srgbClr val="F3F5F9"/>
          </a:solidFill>
          <a:ln w="15875">
            <a:solidFill>
              <a:srgbClr val="1E2C4F"/>
            </a:solidFill>
            <a:prstDash val="solid"/>
          </a:ln>
        </p:spPr>
      </p:sp>
      <p:sp>
        <p:nvSpPr>
          <p:cNvPr id="33" name="Text 31"/>
          <p:cNvSpPr/>
          <p:nvPr/>
        </p:nvSpPr>
        <p:spPr>
          <a:xfrm>
            <a:off x="3044952" y="4372661"/>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PostgreSQL — 91 tables</a:t>
            </a:r>
            <a:endParaRPr lang="en-US" sz="1050" dirty="0"/>
          </a:p>
        </p:txBody>
      </p:sp>
      <p:sp>
        <p:nvSpPr>
          <p:cNvPr id="34" name="Shape 32"/>
          <p:cNvSpPr/>
          <p:nvPr/>
        </p:nvSpPr>
        <p:spPr>
          <a:xfrm>
            <a:off x="5914034" y="4372661"/>
            <a:ext cx="2832506" cy="762610"/>
          </a:xfrm>
          <a:prstGeom prst="rect">
            <a:avLst/>
          </a:prstGeom>
          <a:solidFill>
            <a:srgbClr val="F3F5F9"/>
          </a:solidFill>
          <a:ln w="15875">
            <a:solidFill>
              <a:srgbClr val="1E2C4F"/>
            </a:solidFill>
            <a:prstDash val="solid"/>
          </a:ln>
        </p:spPr>
      </p:sp>
      <p:sp>
        <p:nvSpPr>
          <p:cNvPr id="35" name="Text 33"/>
          <p:cNvSpPr/>
          <p:nvPr/>
        </p:nvSpPr>
        <p:spPr>
          <a:xfrm>
            <a:off x="5987186" y="4372661"/>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Row-level multi-tenant security</a:t>
            </a:r>
            <a:endParaRPr lang="en-US" sz="1050" dirty="0"/>
          </a:p>
        </p:txBody>
      </p:sp>
      <p:sp>
        <p:nvSpPr>
          <p:cNvPr id="36" name="Shape 34"/>
          <p:cNvSpPr/>
          <p:nvPr/>
        </p:nvSpPr>
        <p:spPr>
          <a:xfrm>
            <a:off x="8856269" y="4372661"/>
            <a:ext cx="2832506" cy="762610"/>
          </a:xfrm>
          <a:prstGeom prst="rect">
            <a:avLst/>
          </a:prstGeom>
          <a:solidFill>
            <a:srgbClr val="F3F5F9"/>
          </a:solidFill>
          <a:ln w="15875">
            <a:solidFill>
              <a:srgbClr val="1E2C4F"/>
            </a:solidFill>
            <a:prstDash val="solid"/>
          </a:ln>
        </p:spPr>
      </p:sp>
      <p:sp>
        <p:nvSpPr>
          <p:cNvPr id="37" name="Text 35"/>
          <p:cNvSpPr/>
          <p:nvPr/>
        </p:nvSpPr>
        <p:spPr>
          <a:xfrm>
            <a:off x="8929421" y="4372661"/>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Full audit trail on every change</a:t>
            </a:r>
            <a:endParaRPr lang="en-US" sz="1050" dirty="0"/>
          </a:p>
        </p:txBody>
      </p:sp>
      <p:sp>
        <p:nvSpPr>
          <p:cNvPr id="38" name="Shape 36"/>
          <p:cNvSpPr/>
          <p:nvPr/>
        </p:nvSpPr>
        <p:spPr>
          <a:xfrm>
            <a:off x="502920" y="5299862"/>
            <a:ext cx="2286000" cy="872338"/>
          </a:xfrm>
          <a:prstGeom prst="rect">
            <a:avLst/>
          </a:prstGeom>
          <a:solidFill>
            <a:srgbClr val="0B1220"/>
          </a:solidFill>
          <a:ln/>
        </p:spPr>
      </p:sp>
      <p:sp>
        <p:nvSpPr>
          <p:cNvPr id="39" name="Text 37"/>
          <p:cNvSpPr/>
          <p:nvPr/>
        </p:nvSpPr>
        <p:spPr>
          <a:xfrm>
            <a:off x="640080" y="5299862"/>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Background Layer</a:t>
            </a:r>
            <a:endParaRPr lang="en-US" sz="1300" dirty="0"/>
          </a:p>
        </p:txBody>
      </p:sp>
      <p:sp>
        <p:nvSpPr>
          <p:cNvPr id="40" name="Shape 38"/>
          <p:cNvSpPr/>
          <p:nvPr/>
        </p:nvSpPr>
        <p:spPr>
          <a:xfrm>
            <a:off x="2971800" y="5354726"/>
            <a:ext cx="2832506" cy="762610"/>
          </a:xfrm>
          <a:prstGeom prst="rect">
            <a:avLst/>
          </a:prstGeom>
          <a:solidFill>
            <a:srgbClr val="F3F5F9"/>
          </a:solidFill>
          <a:ln w="15875">
            <a:solidFill>
              <a:srgbClr val="1E2C4F"/>
            </a:solidFill>
            <a:prstDash val="solid"/>
          </a:ln>
        </p:spPr>
      </p:sp>
      <p:sp>
        <p:nvSpPr>
          <p:cNvPr id="41" name="Text 39"/>
          <p:cNvSpPr/>
          <p:nvPr/>
        </p:nvSpPr>
        <p:spPr>
          <a:xfrm>
            <a:off x="3044952" y="5354726"/>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Durable job queue</a:t>
            </a:r>
            <a:endParaRPr lang="en-US" sz="1050" dirty="0"/>
          </a:p>
        </p:txBody>
      </p:sp>
      <p:sp>
        <p:nvSpPr>
          <p:cNvPr id="42" name="Shape 40"/>
          <p:cNvSpPr/>
          <p:nvPr/>
        </p:nvSpPr>
        <p:spPr>
          <a:xfrm>
            <a:off x="5914034" y="5354726"/>
            <a:ext cx="2832506" cy="762610"/>
          </a:xfrm>
          <a:prstGeom prst="rect">
            <a:avLst/>
          </a:prstGeom>
          <a:solidFill>
            <a:srgbClr val="F3F5F9"/>
          </a:solidFill>
          <a:ln w="15875">
            <a:solidFill>
              <a:srgbClr val="1E2C4F"/>
            </a:solidFill>
            <a:prstDash val="solid"/>
          </a:ln>
        </p:spPr>
      </p:sp>
      <p:sp>
        <p:nvSpPr>
          <p:cNvPr id="43" name="Text 41"/>
          <p:cNvSpPr/>
          <p:nvPr/>
        </p:nvSpPr>
        <p:spPr>
          <a:xfrm>
            <a:off x="5987186" y="5354726"/>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Scheduler (beat loop)</a:t>
            </a:r>
            <a:endParaRPr lang="en-US" sz="1050" dirty="0"/>
          </a:p>
        </p:txBody>
      </p:sp>
      <p:sp>
        <p:nvSpPr>
          <p:cNvPr id="44" name="Shape 42"/>
          <p:cNvSpPr/>
          <p:nvPr/>
        </p:nvSpPr>
        <p:spPr>
          <a:xfrm>
            <a:off x="8856269" y="5354726"/>
            <a:ext cx="2832506" cy="762610"/>
          </a:xfrm>
          <a:prstGeom prst="rect">
            <a:avLst/>
          </a:prstGeom>
          <a:solidFill>
            <a:srgbClr val="F3F5F9"/>
          </a:solidFill>
          <a:ln w="15875">
            <a:solidFill>
              <a:srgbClr val="1E2C4F"/>
            </a:solidFill>
            <a:prstDash val="solid"/>
          </a:ln>
        </p:spPr>
      </p:sp>
      <p:sp>
        <p:nvSpPr>
          <p:cNvPr id="45" name="Text 43"/>
          <p:cNvSpPr/>
          <p:nvPr/>
        </p:nvSpPr>
        <p:spPr>
          <a:xfrm>
            <a:off x="8929421" y="5354726"/>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Signal collectors (RSS/news)</a:t>
            </a:r>
            <a:endParaRPr lang="en-US" sz="1050" dirty="0"/>
          </a:p>
        </p:txBody>
      </p:sp>
      <p:sp>
        <p:nvSpPr>
          <p:cNvPr id="46" name="Text 4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47" name="Text 4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3 — ARCHITECTURE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Frontend — what a user actually sees</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DRIP OS, the primary application.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One single-page web application served at the root address. A user logs in once and everything — accounts, contacts, campaigns, pipeline, AI tools, admin — lives behind hash-based navigation (addresses like #/accounts/123) inside that one page, so switching screens never triggers a full page reload.</a:t>
            </a:r>
            <a:endParaRPr lang="en-US" sz="1350" dirty="0"/>
          </a:p>
        </p:txBody>
      </p:sp>
      <p:sp>
        <p:nvSpPr>
          <p:cNvPr id="6" name="Shape 4"/>
          <p:cNvSpPr/>
          <p:nvPr/>
        </p:nvSpPr>
        <p:spPr>
          <a:xfrm>
            <a:off x="502920" y="2468880"/>
            <a:ext cx="100584" cy="100584"/>
          </a:xfrm>
          <a:prstGeom prst="ellipse">
            <a:avLst/>
          </a:prstGeom>
          <a:solidFill>
            <a:srgbClr val="C9A227"/>
          </a:solidFill>
          <a:ln/>
        </p:spPr>
      </p:sp>
      <p:sp>
        <p:nvSpPr>
          <p:cNvPr id="7" name="Text 5"/>
          <p:cNvSpPr/>
          <p:nvPr/>
        </p:nvSpPr>
        <p:spPr>
          <a:xfrm>
            <a:off x="777240" y="2331720"/>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One shared state, one login.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small piece of shared memory in the browser (which bank you're currently viewing, your login token, your language direction) is available to every screen, so the system always knows the context you're working in.</a:t>
            </a:r>
            <a:endParaRPr lang="en-US" sz="1350" dirty="0"/>
          </a:p>
        </p:txBody>
      </p:sp>
      <p:sp>
        <p:nvSpPr>
          <p:cNvPr id="8" name="Shape 6"/>
          <p:cNvSpPr/>
          <p:nvPr/>
        </p:nvSpPr>
        <p:spPr>
          <a:xfrm>
            <a:off x="502920" y="3438144"/>
            <a:ext cx="100584" cy="100584"/>
          </a:xfrm>
          <a:prstGeom prst="ellipse">
            <a:avLst/>
          </a:prstGeom>
          <a:solidFill>
            <a:srgbClr val="C9A227"/>
          </a:solidFill>
          <a:ln/>
        </p:spPr>
      </p:sp>
      <p:sp>
        <p:nvSpPr>
          <p:cNvPr id="9" name="Text 7"/>
          <p:cNvSpPr/>
          <p:nvPr/>
        </p:nvSpPr>
        <p:spPr>
          <a:xfrm>
            <a:off x="777240" y="3300984"/>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Command palette and notifications.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Pressing Ctrl+K opens an instant search across every entity in the system; a notification bell shows what changed since you last looked.</a:t>
            </a:r>
            <a:endParaRPr lang="en-US" sz="1350" dirty="0"/>
          </a:p>
        </p:txBody>
      </p:sp>
      <p:sp>
        <p:nvSpPr>
          <p:cNvPr id="10" name="Shape 8"/>
          <p:cNvSpPr/>
          <p:nvPr/>
        </p:nvSpPr>
        <p:spPr>
          <a:xfrm>
            <a:off x="502920" y="4407408"/>
            <a:ext cx="100584" cy="100584"/>
          </a:xfrm>
          <a:prstGeom prst="ellipse">
            <a:avLst/>
          </a:prstGeom>
          <a:solidFill>
            <a:srgbClr val="C9A227"/>
          </a:solidFill>
          <a:ln/>
        </p:spPr>
      </p:sp>
      <p:sp>
        <p:nvSpPr>
          <p:cNvPr id="11" name="Text 9"/>
          <p:cNvSpPr/>
          <p:nvPr/>
        </p:nvSpPr>
        <p:spPr>
          <a:xfrm>
            <a:off x="777240" y="4270248"/>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The legacy BD dashboard.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separate, older Flask-based application, kept alive at a secondary address purely as a safety net during the transition — every feature it has is being folded into DRIP OS (Section 2), and it will eventually be retired.</a:t>
            </a:r>
            <a:endParaRPr lang="en-US" sz="1350" dirty="0"/>
          </a:p>
        </p:txBody>
      </p:sp>
      <p:sp>
        <p:nvSpPr>
          <p:cNvPr id="12" name="Shape 10"/>
          <p:cNvSpPr/>
          <p:nvPr/>
        </p:nvSpPr>
        <p:spPr>
          <a:xfrm>
            <a:off x="502920" y="5376672"/>
            <a:ext cx="100584" cy="100584"/>
          </a:xfrm>
          <a:prstGeom prst="ellipse">
            <a:avLst/>
          </a:prstGeom>
          <a:solidFill>
            <a:srgbClr val="C9A227"/>
          </a:solidFill>
          <a:ln/>
        </p:spPr>
      </p:sp>
      <p:sp>
        <p:nvSpPr>
          <p:cNvPr id="13" name="Text 11"/>
          <p:cNvSpPr/>
          <p:nvPr/>
        </p:nvSpPr>
        <p:spPr>
          <a:xfrm>
            <a:off x="777240" y="5239512"/>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Arabic / right-to-left support.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language and direction toggle exists and is wired through the shell; full Arabic translation of every screen's text is still in progress (see Section 15).</a:t>
            </a:r>
            <a:endParaRPr lang="en-US" sz="1350" dirty="0"/>
          </a:p>
        </p:txBody>
      </p:sp>
      <p:sp>
        <p:nvSpPr>
          <p:cNvPr id="14"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5"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3 — ARCHITECTURE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Backend — the engine room</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 runs the show</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One Python web server (FastAPI).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single running program handles every API request — there is no separate 'microservice' per feature to keep track of, which keeps the system simple to run and debug.</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26+ routers, one per business area.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Code is organised so that, for example, everything about campaigns lives in one file and everything about deals lives in another — a new engineer can find the right place quickly.</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Services layer underneath.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Each router calls into a matching 'service' file that contains the actual business rules (how a score is calculated, how a duplicate is detected) — keeping rules separate from the web-request plumbing.</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Why it's built this way</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One process is easier to reason about.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For a five-person team's scale, a single well-organised program is far easier to operate than a sprawling set of microservices.</a:t>
            </a:r>
            <a:endParaRPr lang="en-US" sz="1250" dirty="0"/>
          </a:p>
        </p:txBody>
      </p:sp>
      <p:sp>
        <p:nvSpPr>
          <p:cNvPr id="18" name="Shape 16"/>
          <p:cNvSpPr/>
          <p:nvPr/>
        </p:nvSpPr>
        <p:spPr>
          <a:xfrm>
            <a:off x="6324448" y="3514344"/>
            <a:ext cx="82296" cy="82296"/>
          </a:xfrm>
          <a:prstGeom prst="ellipse">
            <a:avLst/>
          </a:prstGeom>
          <a:solidFill>
            <a:srgbClr val="2657A8"/>
          </a:solidFill>
          <a:ln/>
        </p:spPr>
      </p:sp>
      <p:sp>
        <p:nvSpPr>
          <p:cNvPr id="19" name="Text 17"/>
          <p:cNvSpPr/>
          <p:nvPr/>
        </p:nvSpPr>
        <p:spPr>
          <a:xfrm>
            <a:off x="6553048"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Routers + services = a map of the business.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Anyone can open the routers folder and see, literally, every capability the business has — it doubles as living documentation.</a:t>
            </a:r>
            <a:endParaRPr lang="en-US" sz="1250" dirty="0"/>
          </a:p>
        </p:txBody>
      </p:sp>
      <p:sp>
        <p:nvSpPr>
          <p:cNvPr id="20" name="Shape 18"/>
          <p:cNvSpPr/>
          <p:nvPr/>
        </p:nvSpPr>
        <p:spPr>
          <a:xfrm>
            <a:off x="6324448" y="4879848"/>
            <a:ext cx="82296" cy="82296"/>
          </a:xfrm>
          <a:prstGeom prst="ellipse">
            <a:avLst/>
          </a:prstGeom>
          <a:solidFill>
            <a:srgbClr val="2657A8"/>
          </a:solidFill>
          <a:ln/>
        </p:spPr>
      </p:sp>
      <p:sp>
        <p:nvSpPr>
          <p:cNvPr id="21" name="Text 19"/>
          <p:cNvSpPr/>
          <p:nvPr/>
        </p:nvSpPr>
        <p:spPr>
          <a:xfrm>
            <a:off x="6553048"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Ready to split later if needed.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Because logic is cleanly separated into services, individual pieces (for example, the AI engine) could be pulled into their own service later without a rewrite, if scale ever demands it.</a:t>
            </a:r>
            <a:endParaRPr lang="en-US" sz="1250" dirty="0"/>
          </a:p>
        </p:txBody>
      </p:sp>
      <p:sp>
        <p:nvSpPr>
          <p:cNvPr id="22" name="Text 2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3" name="Text 2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21</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3 — ARCHITECTURE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How a request actually flows through the system</a:t>
            </a:r>
            <a:endParaRPr lang="en-US" sz="2600" dirty="0"/>
          </a:p>
        </p:txBody>
      </p:sp>
      <p:sp>
        <p:nvSpPr>
          <p:cNvPr id="4" name="Shape 2"/>
          <p:cNvSpPr/>
          <p:nvPr/>
        </p:nvSpPr>
        <p:spPr>
          <a:xfrm>
            <a:off x="502920" y="1371600"/>
            <a:ext cx="2286000" cy="872338"/>
          </a:xfrm>
          <a:prstGeom prst="rect">
            <a:avLst/>
          </a:prstGeom>
          <a:solidFill>
            <a:srgbClr val="0B1220"/>
          </a:solidFill>
          <a:ln/>
        </p:spPr>
      </p:sp>
      <p:sp>
        <p:nvSpPr>
          <p:cNvPr id="5" name="Text 3"/>
          <p:cNvSpPr/>
          <p:nvPr/>
        </p:nvSpPr>
        <p:spPr>
          <a:xfrm>
            <a:off x="640080" y="1371600"/>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1. Browser</a:t>
            </a:r>
            <a:endParaRPr lang="en-US" sz="1300" dirty="0"/>
          </a:p>
        </p:txBody>
      </p:sp>
      <p:sp>
        <p:nvSpPr>
          <p:cNvPr id="6" name="Shape 4"/>
          <p:cNvSpPr/>
          <p:nvPr/>
        </p:nvSpPr>
        <p:spPr>
          <a:xfrm>
            <a:off x="2971800" y="1426464"/>
            <a:ext cx="8716975" cy="762610"/>
          </a:xfrm>
          <a:prstGeom prst="rect">
            <a:avLst/>
          </a:prstGeom>
          <a:solidFill>
            <a:srgbClr val="F3F5F9"/>
          </a:solidFill>
          <a:ln w="15875">
            <a:solidFill>
              <a:srgbClr val="1E2C4F"/>
            </a:solidFill>
            <a:prstDash val="solid"/>
          </a:ln>
        </p:spPr>
      </p:sp>
      <p:sp>
        <p:nvSpPr>
          <p:cNvPr id="7" name="Text 5"/>
          <p:cNvSpPr/>
          <p:nvPr/>
        </p:nvSpPr>
        <p:spPr>
          <a:xfrm>
            <a:off x="3044952" y="1426464"/>
            <a:ext cx="8570671"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User clicks a button in DRIP OS</a:t>
            </a:r>
            <a:endParaRPr lang="en-US" sz="1050" dirty="0"/>
          </a:p>
        </p:txBody>
      </p:sp>
      <p:sp>
        <p:nvSpPr>
          <p:cNvPr id="8" name="Shape 6"/>
          <p:cNvSpPr/>
          <p:nvPr/>
        </p:nvSpPr>
        <p:spPr>
          <a:xfrm>
            <a:off x="502920" y="2353666"/>
            <a:ext cx="2286000" cy="872338"/>
          </a:xfrm>
          <a:prstGeom prst="rect">
            <a:avLst/>
          </a:prstGeom>
          <a:solidFill>
            <a:srgbClr val="0B1220"/>
          </a:solidFill>
          <a:ln/>
        </p:spPr>
      </p:sp>
      <p:sp>
        <p:nvSpPr>
          <p:cNvPr id="9" name="Text 7"/>
          <p:cNvSpPr/>
          <p:nvPr/>
        </p:nvSpPr>
        <p:spPr>
          <a:xfrm>
            <a:off x="640080" y="2353666"/>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2. API Layer</a:t>
            </a:r>
            <a:endParaRPr lang="en-US" sz="1300" dirty="0"/>
          </a:p>
        </p:txBody>
      </p:sp>
      <p:sp>
        <p:nvSpPr>
          <p:cNvPr id="10" name="Shape 8"/>
          <p:cNvSpPr/>
          <p:nvPr/>
        </p:nvSpPr>
        <p:spPr>
          <a:xfrm>
            <a:off x="2971800" y="2408530"/>
            <a:ext cx="2832506" cy="762610"/>
          </a:xfrm>
          <a:prstGeom prst="rect">
            <a:avLst/>
          </a:prstGeom>
          <a:solidFill>
            <a:srgbClr val="F3F5F9"/>
          </a:solidFill>
          <a:ln w="15875">
            <a:solidFill>
              <a:srgbClr val="1E2C4F"/>
            </a:solidFill>
            <a:prstDash val="solid"/>
          </a:ln>
        </p:spPr>
      </p:sp>
      <p:sp>
        <p:nvSpPr>
          <p:cNvPr id="11" name="Text 9"/>
          <p:cNvSpPr/>
          <p:nvPr/>
        </p:nvSpPr>
        <p:spPr>
          <a:xfrm>
            <a:off x="3044952" y="2408530"/>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Checks login token</a:t>
            </a:r>
            <a:endParaRPr lang="en-US" sz="1050" dirty="0"/>
          </a:p>
        </p:txBody>
      </p:sp>
      <p:sp>
        <p:nvSpPr>
          <p:cNvPr id="12" name="Shape 10"/>
          <p:cNvSpPr/>
          <p:nvPr/>
        </p:nvSpPr>
        <p:spPr>
          <a:xfrm>
            <a:off x="5914034" y="2408530"/>
            <a:ext cx="2832506" cy="762610"/>
          </a:xfrm>
          <a:prstGeom prst="rect">
            <a:avLst/>
          </a:prstGeom>
          <a:solidFill>
            <a:srgbClr val="F3F5F9"/>
          </a:solidFill>
          <a:ln w="15875">
            <a:solidFill>
              <a:srgbClr val="1E2C4F"/>
            </a:solidFill>
            <a:prstDash val="solid"/>
          </a:ln>
        </p:spPr>
      </p:sp>
      <p:sp>
        <p:nvSpPr>
          <p:cNvPr id="13" name="Text 11"/>
          <p:cNvSpPr/>
          <p:nvPr/>
        </p:nvSpPr>
        <p:spPr>
          <a:xfrm>
            <a:off x="5987186" y="2408530"/>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Checks permission scope</a:t>
            </a:r>
            <a:endParaRPr lang="en-US" sz="1050" dirty="0"/>
          </a:p>
        </p:txBody>
      </p:sp>
      <p:sp>
        <p:nvSpPr>
          <p:cNvPr id="14" name="Shape 12"/>
          <p:cNvSpPr/>
          <p:nvPr/>
        </p:nvSpPr>
        <p:spPr>
          <a:xfrm>
            <a:off x="8856269" y="2408530"/>
            <a:ext cx="2832506" cy="762610"/>
          </a:xfrm>
          <a:prstGeom prst="rect">
            <a:avLst/>
          </a:prstGeom>
          <a:solidFill>
            <a:srgbClr val="F3F5F9"/>
          </a:solidFill>
          <a:ln w="15875">
            <a:solidFill>
              <a:srgbClr val="1E2C4F"/>
            </a:solidFill>
            <a:prstDash val="solid"/>
          </a:ln>
        </p:spPr>
      </p:sp>
      <p:sp>
        <p:nvSpPr>
          <p:cNvPr id="15" name="Text 13"/>
          <p:cNvSpPr/>
          <p:nvPr/>
        </p:nvSpPr>
        <p:spPr>
          <a:xfrm>
            <a:off x="8929421" y="2408530"/>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Checks rate limit</a:t>
            </a:r>
            <a:endParaRPr lang="en-US" sz="1050" dirty="0"/>
          </a:p>
        </p:txBody>
      </p:sp>
      <p:sp>
        <p:nvSpPr>
          <p:cNvPr id="16" name="Shape 14"/>
          <p:cNvSpPr/>
          <p:nvPr/>
        </p:nvSpPr>
        <p:spPr>
          <a:xfrm>
            <a:off x="502920" y="3335731"/>
            <a:ext cx="2286000" cy="872338"/>
          </a:xfrm>
          <a:prstGeom prst="rect">
            <a:avLst/>
          </a:prstGeom>
          <a:solidFill>
            <a:srgbClr val="0B1220"/>
          </a:solidFill>
          <a:ln/>
        </p:spPr>
      </p:sp>
      <p:sp>
        <p:nvSpPr>
          <p:cNvPr id="17" name="Text 15"/>
          <p:cNvSpPr/>
          <p:nvPr/>
        </p:nvSpPr>
        <p:spPr>
          <a:xfrm>
            <a:off x="640080" y="3335731"/>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3. Router</a:t>
            </a:r>
            <a:endParaRPr lang="en-US" sz="1300" dirty="0"/>
          </a:p>
        </p:txBody>
      </p:sp>
      <p:sp>
        <p:nvSpPr>
          <p:cNvPr id="18" name="Shape 16"/>
          <p:cNvSpPr/>
          <p:nvPr/>
        </p:nvSpPr>
        <p:spPr>
          <a:xfrm>
            <a:off x="2971800" y="3390595"/>
            <a:ext cx="4303624" cy="762610"/>
          </a:xfrm>
          <a:prstGeom prst="rect">
            <a:avLst/>
          </a:prstGeom>
          <a:solidFill>
            <a:srgbClr val="F3F5F9"/>
          </a:solidFill>
          <a:ln w="15875">
            <a:solidFill>
              <a:srgbClr val="1E2C4F"/>
            </a:solidFill>
            <a:prstDash val="solid"/>
          </a:ln>
        </p:spPr>
      </p:sp>
      <p:sp>
        <p:nvSpPr>
          <p:cNvPr id="19" name="Text 17"/>
          <p:cNvSpPr/>
          <p:nvPr/>
        </p:nvSpPr>
        <p:spPr>
          <a:xfrm>
            <a:off x="3044952" y="3390595"/>
            <a:ext cx="4157320"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Finds the matching endpoint</a:t>
            </a:r>
            <a:endParaRPr lang="en-US" sz="1050" dirty="0"/>
          </a:p>
        </p:txBody>
      </p:sp>
      <p:sp>
        <p:nvSpPr>
          <p:cNvPr id="20" name="Shape 18"/>
          <p:cNvSpPr/>
          <p:nvPr/>
        </p:nvSpPr>
        <p:spPr>
          <a:xfrm>
            <a:off x="7385152" y="3390595"/>
            <a:ext cx="4303624" cy="762610"/>
          </a:xfrm>
          <a:prstGeom prst="rect">
            <a:avLst/>
          </a:prstGeom>
          <a:solidFill>
            <a:srgbClr val="F3F5F9"/>
          </a:solidFill>
          <a:ln w="15875">
            <a:solidFill>
              <a:srgbClr val="1E2C4F"/>
            </a:solidFill>
            <a:prstDash val="solid"/>
          </a:ln>
        </p:spPr>
      </p:sp>
      <p:sp>
        <p:nvSpPr>
          <p:cNvPr id="21" name="Text 19"/>
          <p:cNvSpPr/>
          <p:nvPr/>
        </p:nvSpPr>
        <p:spPr>
          <a:xfrm>
            <a:off x="7458304" y="3390595"/>
            <a:ext cx="4157320"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e.g. PATCH /bd/banks/{id}/score</a:t>
            </a:r>
            <a:endParaRPr lang="en-US" sz="1050" dirty="0"/>
          </a:p>
        </p:txBody>
      </p:sp>
      <p:sp>
        <p:nvSpPr>
          <p:cNvPr id="22" name="Shape 20"/>
          <p:cNvSpPr/>
          <p:nvPr/>
        </p:nvSpPr>
        <p:spPr>
          <a:xfrm>
            <a:off x="502920" y="4317797"/>
            <a:ext cx="2286000" cy="872338"/>
          </a:xfrm>
          <a:prstGeom prst="rect">
            <a:avLst/>
          </a:prstGeom>
          <a:solidFill>
            <a:srgbClr val="0B1220"/>
          </a:solidFill>
          <a:ln/>
        </p:spPr>
      </p:sp>
      <p:sp>
        <p:nvSpPr>
          <p:cNvPr id="23" name="Text 21"/>
          <p:cNvSpPr/>
          <p:nvPr/>
        </p:nvSpPr>
        <p:spPr>
          <a:xfrm>
            <a:off x="640080" y="4317797"/>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4. Service</a:t>
            </a:r>
            <a:endParaRPr lang="en-US" sz="1300" dirty="0"/>
          </a:p>
        </p:txBody>
      </p:sp>
      <p:sp>
        <p:nvSpPr>
          <p:cNvPr id="24" name="Shape 22"/>
          <p:cNvSpPr/>
          <p:nvPr/>
        </p:nvSpPr>
        <p:spPr>
          <a:xfrm>
            <a:off x="2971800" y="4372661"/>
            <a:ext cx="4303624" cy="762610"/>
          </a:xfrm>
          <a:prstGeom prst="rect">
            <a:avLst/>
          </a:prstGeom>
          <a:solidFill>
            <a:srgbClr val="F3F5F9"/>
          </a:solidFill>
          <a:ln w="15875">
            <a:solidFill>
              <a:srgbClr val="1E2C4F"/>
            </a:solidFill>
            <a:prstDash val="solid"/>
          </a:ln>
        </p:spPr>
      </p:sp>
      <p:sp>
        <p:nvSpPr>
          <p:cNvPr id="25" name="Text 23"/>
          <p:cNvSpPr/>
          <p:nvPr/>
        </p:nvSpPr>
        <p:spPr>
          <a:xfrm>
            <a:off x="3044952" y="4372661"/>
            <a:ext cx="4157320"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Runs the actual business rule</a:t>
            </a:r>
            <a:endParaRPr lang="en-US" sz="1050" dirty="0"/>
          </a:p>
        </p:txBody>
      </p:sp>
      <p:sp>
        <p:nvSpPr>
          <p:cNvPr id="26" name="Shape 24"/>
          <p:cNvSpPr/>
          <p:nvPr/>
        </p:nvSpPr>
        <p:spPr>
          <a:xfrm>
            <a:off x="7385152" y="4372661"/>
            <a:ext cx="4303624" cy="762610"/>
          </a:xfrm>
          <a:prstGeom prst="rect">
            <a:avLst/>
          </a:prstGeom>
          <a:solidFill>
            <a:srgbClr val="F3F5F9"/>
          </a:solidFill>
          <a:ln w="15875">
            <a:solidFill>
              <a:srgbClr val="1E2C4F"/>
            </a:solidFill>
            <a:prstDash val="solid"/>
          </a:ln>
        </p:spPr>
      </p:sp>
      <p:sp>
        <p:nvSpPr>
          <p:cNvPr id="27" name="Text 25"/>
          <p:cNvSpPr/>
          <p:nvPr/>
        </p:nvSpPr>
        <p:spPr>
          <a:xfrm>
            <a:off x="7458304" y="4372661"/>
            <a:ext cx="4157320"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e.g. recalculate account score</a:t>
            </a:r>
            <a:endParaRPr lang="en-US" sz="1050" dirty="0"/>
          </a:p>
        </p:txBody>
      </p:sp>
      <p:sp>
        <p:nvSpPr>
          <p:cNvPr id="28" name="Shape 26"/>
          <p:cNvSpPr/>
          <p:nvPr/>
        </p:nvSpPr>
        <p:spPr>
          <a:xfrm>
            <a:off x="502920" y="5299862"/>
            <a:ext cx="2286000" cy="872338"/>
          </a:xfrm>
          <a:prstGeom prst="rect">
            <a:avLst/>
          </a:prstGeom>
          <a:solidFill>
            <a:srgbClr val="0B1220"/>
          </a:solidFill>
          <a:ln/>
        </p:spPr>
      </p:sp>
      <p:sp>
        <p:nvSpPr>
          <p:cNvPr id="29" name="Text 27"/>
          <p:cNvSpPr/>
          <p:nvPr/>
        </p:nvSpPr>
        <p:spPr>
          <a:xfrm>
            <a:off x="640080" y="5299862"/>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5. Database</a:t>
            </a:r>
            <a:endParaRPr lang="en-US" sz="1300" dirty="0"/>
          </a:p>
        </p:txBody>
      </p:sp>
      <p:sp>
        <p:nvSpPr>
          <p:cNvPr id="30" name="Shape 28"/>
          <p:cNvSpPr/>
          <p:nvPr/>
        </p:nvSpPr>
        <p:spPr>
          <a:xfrm>
            <a:off x="2971800" y="5354726"/>
            <a:ext cx="4303624" cy="762610"/>
          </a:xfrm>
          <a:prstGeom prst="rect">
            <a:avLst/>
          </a:prstGeom>
          <a:solidFill>
            <a:srgbClr val="F3F5F9"/>
          </a:solidFill>
          <a:ln w="15875">
            <a:solidFill>
              <a:srgbClr val="1E2C4F"/>
            </a:solidFill>
            <a:prstDash val="solid"/>
          </a:ln>
        </p:spPr>
      </p:sp>
      <p:sp>
        <p:nvSpPr>
          <p:cNvPr id="31" name="Text 29"/>
          <p:cNvSpPr/>
          <p:nvPr/>
        </p:nvSpPr>
        <p:spPr>
          <a:xfrm>
            <a:off x="3044952" y="5354726"/>
            <a:ext cx="4157320"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Reads/writes PostgreSQL</a:t>
            </a:r>
            <a:endParaRPr lang="en-US" sz="1050" dirty="0"/>
          </a:p>
        </p:txBody>
      </p:sp>
      <p:sp>
        <p:nvSpPr>
          <p:cNvPr id="32" name="Shape 30"/>
          <p:cNvSpPr/>
          <p:nvPr/>
        </p:nvSpPr>
        <p:spPr>
          <a:xfrm>
            <a:off x="7385152" y="5354726"/>
            <a:ext cx="4303624" cy="762610"/>
          </a:xfrm>
          <a:prstGeom prst="rect">
            <a:avLst/>
          </a:prstGeom>
          <a:solidFill>
            <a:srgbClr val="F3F5F9"/>
          </a:solidFill>
          <a:ln w="15875">
            <a:solidFill>
              <a:srgbClr val="1E2C4F"/>
            </a:solidFill>
            <a:prstDash val="solid"/>
          </a:ln>
        </p:spPr>
      </p:sp>
      <p:sp>
        <p:nvSpPr>
          <p:cNvPr id="33" name="Text 31"/>
          <p:cNvSpPr/>
          <p:nvPr/>
        </p:nvSpPr>
        <p:spPr>
          <a:xfrm>
            <a:off x="7458304" y="5354726"/>
            <a:ext cx="4157320"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Every change is audit-logged</a:t>
            </a:r>
            <a:endParaRPr lang="en-US" sz="1050" dirty="0"/>
          </a:p>
        </p:txBody>
      </p:sp>
      <p:sp>
        <p:nvSpPr>
          <p:cNvPr id="34" name="Text 3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35" name="Text 3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3 — ARCHITECTURE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Authentication &amp; authorisation — who can do what</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Login (JWT tokens).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user logs in once and receives a signed digital token proving who they are; every subsequent request carries that token instead of a password, and the token expires automatically.</a:t>
            </a:r>
            <a:endParaRPr lang="en-US" sz="1350" dirty="0"/>
          </a:p>
        </p:txBody>
      </p:sp>
      <p:sp>
        <p:nvSpPr>
          <p:cNvPr id="6" name="Shape 4"/>
          <p:cNvSpPr/>
          <p:nvPr/>
        </p:nvSpPr>
        <p:spPr>
          <a:xfrm>
            <a:off x="502920" y="2468880"/>
            <a:ext cx="100584" cy="100584"/>
          </a:xfrm>
          <a:prstGeom prst="ellipse">
            <a:avLst/>
          </a:prstGeom>
          <a:solidFill>
            <a:srgbClr val="C9A227"/>
          </a:solidFill>
          <a:ln/>
        </p:spPr>
      </p:sp>
      <p:sp>
        <p:nvSpPr>
          <p:cNvPr id="7" name="Text 5"/>
          <p:cNvSpPr/>
          <p:nvPr/>
        </p:nvSpPr>
        <p:spPr>
          <a:xfrm>
            <a:off x="777240" y="2331720"/>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Rate-limited login.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Repeated failed login attempts are automatically slowed down and locked, closing an obvious attack the original dashboard did not defend against.</a:t>
            </a:r>
            <a:endParaRPr lang="en-US" sz="1350" dirty="0"/>
          </a:p>
        </p:txBody>
      </p:sp>
      <p:sp>
        <p:nvSpPr>
          <p:cNvPr id="8" name="Shape 6"/>
          <p:cNvSpPr/>
          <p:nvPr/>
        </p:nvSpPr>
        <p:spPr>
          <a:xfrm>
            <a:off x="502920" y="3438144"/>
            <a:ext cx="100584" cy="100584"/>
          </a:xfrm>
          <a:prstGeom prst="ellipse">
            <a:avLst/>
          </a:prstGeom>
          <a:solidFill>
            <a:srgbClr val="C9A227"/>
          </a:solidFill>
          <a:ln/>
        </p:spPr>
      </p:sp>
      <p:sp>
        <p:nvSpPr>
          <p:cNvPr id="9" name="Text 7"/>
          <p:cNvSpPr/>
          <p:nvPr/>
        </p:nvSpPr>
        <p:spPr>
          <a:xfrm>
            <a:off x="777240" y="3300984"/>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Scopes — permission by role.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Each API endpoint declares exactly which permission 'scope' it requires, so a viewer-level account cannot accidentally (or deliberately) delete a bank record.</a:t>
            </a:r>
            <a:endParaRPr lang="en-US" sz="1350" dirty="0"/>
          </a:p>
        </p:txBody>
      </p:sp>
      <p:sp>
        <p:nvSpPr>
          <p:cNvPr id="10" name="Shape 8"/>
          <p:cNvSpPr/>
          <p:nvPr/>
        </p:nvSpPr>
        <p:spPr>
          <a:xfrm>
            <a:off x="502920" y="4407408"/>
            <a:ext cx="100584" cy="100584"/>
          </a:xfrm>
          <a:prstGeom prst="ellipse">
            <a:avLst/>
          </a:prstGeom>
          <a:solidFill>
            <a:srgbClr val="C9A227"/>
          </a:solidFill>
          <a:ln/>
        </p:spPr>
      </p:sp>
      <p:sp>
        <p:nvSpPr>
          <p:cNvPr id="11" name="Text 9"/>
          <p:cNvSpPr/>
          <p:nvPr/>
        </p:nvSpPr>
        <p:spPr>
          <a:xfrm>
            <a:off x="777240" y="4270248"/>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Row-level security in the database itself.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Multi-tenancy — keeping one client's data invisible to another — is enforced by PostgreSQL itself, not just by careful application code. Even a bug in the API cannot leak one tenant's data to another, because the database refuses the query at its own level.</a:t>
            </a:r>
            <a:endParaRPr lang="en-US" sz="1350" dirty="0"/>
          </a:p>
        </p:txBody>
      </p:sp>
      <p:sp>
        <p:nvSpPr>
          <p:cNvPr id="12" name="Shape 10"/>
          <p:cNvSpPr/>
          <p:nvPr/>
        </p:nvSpPr>
        <p:spPr>
          <a:xfrm>
            <a:off x="502920" y="5376672"/>
            <a:ext cx="100584" cy="100584"/>
          </a:xfrm>
          <a:prstGeom prst="ellipse">
            <a:avLst/>
          </a:prstGeom>
          <a:solidFill>
            <a:srgbClr val="C9A227"/>
          </a:solidFill>
          <a:ln/>
        </p:spPr>
      </p:sp>
      <p:sp>
        <p:nvSpPr>
          <p:cNvPr id="13" name="Text 11"/>
          <p:cNvSpPr/>
          <p:nvPr/>
        </p:nvSpPr>
        <p:spPr>
          <a:xfrm>
            <a:off x="777240" y="5239512"/>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Full audit trail.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Every create, update, and delete on 28 business tables is captured automatically with a before-and-after snapshot, who did it, and when.</a:t>
            </a:r>
            <a:endParaRPr lang="en-US" sz="1350" dirty="0"/>
          </a:p>
        </p:txBody>
      </p:sp>
      <p:sp>
        <p:nvSpPr>
          <p:cNvPr id="14"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5"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3 — ARCHITECTURE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ETL — how data actually gets in and stays clean</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ETL stands for Extract, Transform, Load.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In plain terms: pull data out of a messy source file, clean and reshape it, then put it into the database properly.</a:t>
            </a:r>
            <a:endParaRPr lang="en-US" sz="1350" dirty="0"/>
          </a:p>
        </p:txBody>
      </p:sp>
      <p:sp>
        <p:nvSpPr>
          <p:cNvPr id="6" name="Shape 4"/>
          <p:cNvSpPr/>
          <p:nvPr/>
        </p:nvSpPr>
        <p:spPr>
          <a:xfrm>
            <a:off x="502920" y="2468880"/>
            <a:ext cx="100584" cy="100584"/>
          </a:xfrm>
          <a:prstGeom prst="ellipse">
            <a:avLst/>
          </a:prstGeom>
          <a:solidFill>
            <a:srgbClr val="C9A227"/>
          </a:solidFill>
          <a:ln/>
        </p:spPr>
      </p:sp>
      <p:sp>
        <p:nvSpPr>
          <p:cNvPr id="7" name="Text 5"/>
          <p:cNvSpPr/>
          <p:nvPr/>
        </p:nvSpPr>
        <p:spPr>
          <a:xfrm>
            <a:off x="777240" y="2331720"/>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Smart file import.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importer auto-detects whether a spreadsheet is a simple flat table or one of the real, messy 'LinkedIn Priority Contacts' exports the BD team actually uses — including pulling LinkedIn URLs out of hyperlinks embedded in a person's name cell, not a separate column.</a:t>
            </a:r>
            <a:endParaRPr lang="en-US" sz="1350" dirty="0"/>
          </a:p>
        </p:txBody>
      </p:sp>
      <p:sp>
        <p:nvSpPr>
          <p:cNvPr id="8" name="Shape 6"/>
          <p:cNvSpPr/>
          <p:nvPr/>
        </p:nvSpPr>
        <p:spPr>
          <a:xfrm>
            <a:off x="502920" y="3438144"/>
            <a:ext cx="100584" cy="100584"/>
          </a:xfrm>
          <a:prstGeom prst="ellipse">
            <a:avLst/>
          </a:prstGeom>
          <a:solidFill>
            <a:srgbClr val="C9A227"/>
          </a:solidFill>
          <a:ln/>
        </p:spPr>
      </p:sp>
      <p:sp>
        <p:nvSpPr>
          <p:cNvPr id="9" name="Text 7"/>
          <p:cNvSpPr/>
          <p:nvPr/>
        </p:nvSpPr>
        <p:spPr>
          <a:xfrm>
            <a:off x="777240" y="3300984"/>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Safe to re-run.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Importing the same file twice updates existing records instead of duplicating them, matched on name plus institution.</a:t>
            </a:r>
            <a:endParaRPr lang="en-US" sz="1350" dirty="0"/>
          </a:p>
        </p:txBody>
      </p:sp>
      <p:sp>
        <p:nvSpPr>
          <p:cNvPr id="10" name="Shape 8"/>
          <p:cNvSpPr/>
          <p:nvPr/>
        </p:nvSpPr>
        <p:spPr>
          <a:xfrm>
            <a:off x="502920" y="4407408"/>
            <a:ext cx="100584" cy="100584"/>
          </a:xfrm>
          <a:prstGeom prst="ellipse">
            <a:avLst/>
          </a:prstGeom>
          <a:solidFill>
            <a:srgbClr val="C9A227"/>
          </a:solidFill>
          <a:ln/>
        </p:spPr>
      </p:sp>
      <p:sp>
        <p:nvSpPr>
          <p:cNvPr id="11" name="Text 9"/>
          <p:cNvSpPr/>
          <p:nvPr/>
        </p:nvSpPr>
        <p:spPr>
          <a:xfrm>
            <a:off x="777240" y="4270248"/>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Per-bank upload, from inside the bank's own page.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same fast importer is now available directly on each bank's Contacts tab — no need to go through a separate admin screen.</a:t>
            </a:r>
            <a:endParaRPr lang="en-US" sz="1350" dirty="0"/>
          </a:p>
        </p:txBody>
      </p:sp>
      <p:sp>
        <p:nvSpPr>
          <p:cNvPr id="12" name="Shape 10"/>
          <p:cNvSpPr/>
          <p:nvPr/>
        </p:nvSpPr>
        <p:spPr>
          <a:xfrm>
            <a:off x="502920" y="5376672"/>
            <a:ext cx="100584" cy="100584"/>
          </a:xfrm>
          <a:prstGeom prst="ellipse">
            <a:avLst/>
          </a:prstGeom>
          <a:solidFill>
            <a:srgbClr val="C9A227"/>
          </a:solidFill>
          <a:ln/>
        </p:spPr>
      </p:sp>
      <p:sp>
        <p:nvSpPr>
          <p:cNvPr id="13" name="Text 11"/>
          <p:cNvSpPr/>
          <p:nvPr/>
        </p:nvSpPr>
        <p:spPr>
          <a:xfrm>
            <a:off x="777240" y="5239512"/>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One-command environment setup.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single script (sync_db.py) brings the database schema up to date, safely and repeatably, every time the platform starts.</a:t>
            </a:r>
            <a:endParaRPr lang="en-US" sz="1350" dirty="0"/>
          </a:p>
        </p:txBody>
      </p:sp>
      <p:sp>
        <p:nvSpPr>
          <p:cNvPr id="14"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5"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3 — ARCHITECTURE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Scheduler &amp; background jobs — what happens while nobody's watching</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The durable job queue.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Background tasks (like sending a batch of emails, or recalculating a score) are placed in a queue and processed reliably — if the server restarts mid-task, nothing is lost or double-processed.</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The scheduler ('beat loop').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background process that wakes up on a timer and asks 'is anything due to run right now?' — this is what checks whether a news feed needs refreshing, or a sequence step needs sending.</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Signal collectors run on their own timer.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Each configured news/regulatory source has its own refresh interval (for example, every 60 minutes); a source that fails five times in a row disables itself automatically rather than spamming errors forever.</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Async execution substrate.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Heavy background work runs without blocking the main application, so a large batch job never makes the live screens feel slow.</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3 — ARCHITECTURE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AI layer, search layer &amp; campaign layer, at a glance</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61544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AI layer.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versioned library of prompts, live connections to Anthropic/OpenAI/Gemini, per-call cost tracking, and a guardrail layer that anonymises personal data before it ever reaches an AI model. Full detail in Section 11.</a:t>
            </a:r>
            <a:endParaRPr lang="en-US" sz="1350" dirty="0"/>
          </a:p>
        </p:txBody>
      </p:sp>
      <p:sp>
        <p:nvSpPr>
          <p:cNvPr id="6" name="Shape 4"/>
          <p:cNvSpPr/>
          <p:nvPr/>
        </p:nvSpPr>
        <p:spPr>
          <a:xfrm>
            <a:off x="502920" y="3115056"/>
            <a:ext cx="100584" cy="100584"/>
          </a:xfrm>
          <a:prstGeom prst="ellipse">
            <a:avLst/>
          </a:prstGeom>
          <a:solidFill>
            <a:srgbClr val="C9A227"/>
          </a:solidFill>
          <a:ln/>
        </p:spPr>
      </p:sp>
      <p:sp>
        <p:nvSpPr>
          <p:cNvPr id="7" name="Text 5"/>
          <p:cNvSpPr/>
          <p:nvPr/>
        </p:nvSpPr>
        <p:spPr>
          <a:xfrm>
            <a:off x="777240" y="2977896"/>
            <a:ext cx="10911535" cy="161544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Search layer.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One global search box queries companies, contacts, deals, campaigns, signals, tasks, quotes, and more, all at once, ranked and grouped by type. Full detail in Section 8.</a:t>
            </a:r>
            <a:endParaRPr lang="en-US" sz="1350" dirty="0"/>
          </a:p>
        </p:txBody>
      </p:sp>
      <p:sp>
        <p:nvSpPr>
          <p:cNvPr id="8" name="Shape 6"/>
          <p:cNvSpPr/>
          <p:nvPr/>
        </p:nvSpPr>
        <p:spPr>
          <a:xfrm>
            <a:off x="502920" y="4730496"/>
            <a:ext cx="100584" cy="100584"/>
          </a:xfrm>
          <a:prstGeom prst="ellipse">
            <a:avLst/>
          </a:prstGeom>
          <a:solidFill>
            <a:srgbClr val="C9A227"/>
          </a:solidFill>
          <a:ln/>
        </p:spPr>
      </p:sp>
      <p:sp>
        <p:nvSpPr>
          <p:cNvPr id="9" name="Text 7"/>
          <p:cNvSpPr/>
          <p:nvPr/>
        </p:nvSpPr>
        <p:spPr>
          <a:xfrm>
            <a:off x="777240" y="4593336"/>
            <a:ext cx="10911535" cy="161544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Campaign layer.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Audiences (static lists or live-evaluated segments), templates, A/B variant testing, and a send engine that is deliberately 'dry-run only' until a real email domain is connected — nothing can accidentally email a real bank contact today. Full detail in Section 12.</a:t>
            </a:r>
            <a:endParaRPr lang="en-US" sz="1350" dirty="0"/>
          </a:p>
        </p:txBody>
      </p:sp>
      <p:sp>
        <p:nvSpPr>
          <p:cNvPr id="10" name="Text 8"/>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1" name="Text 9"/>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3 — ARCHITECTURE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Analytics, reporting, and integrations, at a glance</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80772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Analytics layer.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An event firehose captures every meaningful action (opens, clicks, page views) into a partitioned table built to handle very large volumes; cohort retention and attribution models sit on top.</a:t>
            </a:r>
            <a:endParaRPr lang="en-US" sz="1350" dirty="0"/>
          </a:p>
        </p:txBody>
      </p:sp>
      <p:sp>
        <p:nvSpPr>
          <p:cNvPr id="6" name="Shape 4"/>
          <p:cNvSpPr/>
          <p:nvPr/>
        </p:nvSpPr>
        <p:spPr>
          <a:xfrm>
            <a:off x="502920" y="2307336"/>
            <a:ext cx="100584" cy="100584"/>
          </a:xfrm>
          <a:prstGeom prst="ellipse">
            <a:avLst/>
          </a:prstGeom>
          <a:solidFill>
            <a:srgbClr val="C9A227"/>
          </a:solidFill>
          <a:ln/>
        </p:spPr>
      </p:sp>
      <p:sp>
        <p:nvSpPr>
          <p:cNvPr id="7" name="Text 5"/>
          <p:cNvSpPr/>
          <p:nvPr/>
        </p:nvSpPr>
        <p:spPr>
          <a:xfrm>
            <a:off x="777240" y="2170176"/>
            <a:ext cx="10911535" cy="80772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Reporting layer.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custom report builder lets any table be filtered, grouped, and summed on demand, plus saved report definitions that can be reused.</a:t>
            </a:r>
            <a:endParaRPr lang="en-US" sz="1350" dirty="0"/>
          </a:p>
        </p:txBody>
      </p:sp>
      <p:sp>
        <p:nvSpPr>
          <p:cNvPr id="8" name="Shape 6"/>
          <p:cNvSpPr/>
          <p:nvPr/>
        </p:nvSpPr>
        <p:spPr>
          <a:xfrm>
            <a:off x="502920" y="3115056"/>
            <a:ext cx="100584" cy="100584"/>
          </a:xfrm>
          <a:prstGeom prst="ellipse">
            <a:avLst/>
          </a:prstGeom>
          <a:solidFill>
            <a:srgbClr val="C9A227"/>
          </a:solidFill>
          <a:ln/>
        </p:spPr>
      </p:sp>
      <p:sp>
        <p:nvSpPr>
          <p:cNvPr id="9" name="Text 7"/>
          <p:cNvSpPr/>
          <p:nvPr/>
        </p:nvSpPr>
        <p:spPr>
          <a:xfrm>
            <a:off x="777240" y="2977896"/>
            <a:ext cx="10911535" cy="80772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CRM integration.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DRIP is itself the CRM — there is currently a one-way logging connection into HubSpot for teams that still use it, but DRIP does not depend on an external CRM to function.</a:t>
            </a:r>
            <a:endParaRPr lang="en-US" sz="1350" dirty="0"/>
          </a:p>
        </p:txBody>
      </p:sp>
      <p:sp>
        <p:nvSpPr>
          <p:cNvPr id="10" name="Shape 8"/>
          <p:cNvSpPr/>
          <p:nvPr/>
        </p:nvSpPr>
        <p:spPr>
          <a:xfrm>
            <a:off x="502920" y="3922776"/>
            <a:ext cx="100584" cy="100584"/>
          </a:xfrm>
          <a:prstGeom prst="ellipse">
            <a:avLst/>
          </a:prstGeom>
          <a:solidFill>
            <a:srgbClr val="C9A227"/>
          </a:solidFill>
          <a:ln/>
        </p:spPr>
      </p:sp>
      <p:sp>
        <p:nvSpPr>
          <p:cNvPr id="11" name="Text 9"/>
          <p:cNvSpPr/>
          <p:nvPr/>
        </p:nvSpPr>
        <p:spPr>
          <a:xfrm>
            <a:off x="777240" y="3785616"/>
            <a:ext cx="10911535" cy="80772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LinkedIn integration.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LinkedIn actions (connection requests, messages) are tracked as structured data per contact; there is no automated LinkedIn browser-bot today — outreach itself is still done by a human, tracked in the system.</a:t>
            </a:r>
            <a:endParaRPr lang="en-US" sz="1350" dirty="0"/>
          </a:p>
        </p:txBody>
      </p:sp>
      <p:sp>
        <p:nvSpPr>
          <p:cNvPr id="12" name="Shape 10"/>
          <p:cNvSpPr/>
          <p:nvPr/>
        </p:nvSpPr>
        <p:spPr>
          <a:xfrm>
            <a:off x="502920" y="4730496"/>
            <a:ext cx="100584" cy="100584"/>
          </a:xfrm>
          <a:prstGeom prst="ellipse">
            <a:avLst/>
          </a:prstGeom>
          <a:solidFill>
            <a:srgbClr val="C9A227"/>
          </a:solidFill>
          <a:ln/>
        </p:spPr>
      </p:sp>
      <p:sp>
        <p:nvSpPr>
          <p:cNvPr id="13" name="Text 11"/>
          <p:cNvSpPr/>
          <p:nvPr/>
        </p:nvSpPr>
        <p:spPr>
          <a:xfrm>
            <a:off x="777240" y="4593336"/>
            <a:ext cx="10911535" cy="80772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Email integration.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email-sending pathway (via Amazon SES) is fully coded and tested, but deliberately locked to 'dry run' mode until a real sending domain and credentials are provided — see Section 15 for exactly what unlocks it.</a:t>
            </a:r>
            <a:endParaRPr lang="en-US" sz="1350" dirty="0"/>
          </a:p>
        </p:txBody>
      </p:sp>
      <p:sp>
        <p:nvSpPr>
          <p:cNvPr id="14" name="Shape 12"/>
          <p:cNvSpPr/>
          <p:nvPr/>
        </p:nvSpPr>
        <p:spPr>
          <a:xfrm>
            <a:off x="502920" y="5538216"/>
            <a:ext cx="100584" cy="100584"/>
          </a:xfrm>
          <a:prstGeom prst="ellipse">
            <a:avLst/>
          </a:prstGeom>
          <a:solidFill>
            <a:srgbClr val="C9A227"/>
          </a:solidFill>
          <a:ln/>
        </p:spPr>
      </p:sp>
      <p:sp>
        <p:nvSpPr>
          <p:cNvPr id="15" name="Text 13"/>
          <p:cNvSpPr/>
          <p:nvPr/>
        </p:nvSpPr>
        <p:spPr>
          <a:xfrm>
            <a:off x="777240" y="5401056"/>
            <a:ext cx="10911535" cy="80772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Future integrations.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marketplace/OAuth app framework, GraphQL API, and official SDKs are planned but not yet started — see Section 18.</a:t>
            </a:r>
            <a:endParaRPr lang="en-US" sz="1350" dirty="0"/>
          </a:p>
        </p:txBody>
      </p:sp>
      <p:sp>
        <p:nvSpPr>
          <p:cNvPr id="16" name="Text 1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7" name="Text 1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04</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04</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Core Database Design</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Why PostgreSQL, how 91 tables are organised and connected, and how the data stays safe, unique, and fast at scale.</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Why PostgreSQL was chosen</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How tables are organised and connected</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Indexing, unique keys, foreign keys, duplicate prevention</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Synchronisation, backup, scalability, security</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4 — DATABASE DESIGN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Why PostgreSQL was chosen</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 PostgreSQL is</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A relational database.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Data is stored in structured tables (like a spreadsheet with strict rules) and tables can be linked to each other — a contact links to a bank, a deal links to a contact, and so on.</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Open source and free to run.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No per-seat licence fee, unlike many commercial databases — important for a lean team.</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Battle-tested at massive scale.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same database engine used by banks, governments, and companies handling billions of rows.</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Why it fits DRIP specifically</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Row-level security, built in.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PostgreSQL can enforce 'tenant A can never see tenant B's rows' inside the database itself — critical for a system that may one day serve more than one business unit or client.</a:t>
            </a:r>
            <a:endParaRPr lang="en-US" sz="1250" dirty="0"/>
          </a:p>
        </p:txBody>
      </p:sp>
      <p:sp>
        <p:nvSpPr>
          <p:cNvPr id="18" name="Shape 16"/>
          <p:cNvSpPr/>
          <p:nvPr/>
        </p:nvSpPr>
        <p:spPr>
          <a:xfrm>
            <a:off x="6324448" y="3514344"/>
            <a:ext cx="82296" cy="82296"/>
          </a:xfrm>
          <a:prstGeom prst="ellipse">
            <a:avLst/>
          </a:prstGeom>
          <a:solidFill>
            <a:srgbClr val="2657A8"/>
          </a:solidFill>
          <a:ln/>
        </p:spPr>
      </p:sp>
      <p:sp>
        <p:nvSpPr>
          <p:cNvPr id="19" name="Text 17"/>
          <p:cNvSpPr/>
          <p:nvPr/>
        </p:nvSpPr>
        <p:spPr>
          <a:xfrm>
            <a:off x="6553048"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Rich data types.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Native support for flexible, semi-structured data (JSON columns) alongside strict typed columns — useful for things like a person's list of past employers, which don't fit a rigid table shape.</a:t>
            </a:r>
            <a:endParaRPr lang="en-US" sz="1250" dirty="0"/>
          </a:p>
        </p:txBody>
      </p:sp>
      <p:sp>
        <p:nvSpPr>
          <p:cNvPr id="20" name="Shape 18"/>
          <p:cNvSpPr/>
          <p:nvPr/>
        </p:nvSpPr>
        <p:spPr>
          <a:xfrm>
            <a:off x="6324448" y="4879848"/>
            <a:ext cx="82296" cy="82296"/>
          </a:xfrm>
          <a:prstGeom prst="ellipse">
            <a:avLst/>
          </a:prstGeom>
          <a:solidFill>
            <a:srgbClr val="2657A8"/>
          </a:solidFill>
          <a:ln/>
        </p:spPr>
      </p:sp>
      <p:sp>
        <p:nvSpPr>
          <p:cNvPr id="21" name="Text 19"/>
          <p:cNvSpPr/>
          <p:nvPr/>
        </p:nvSpPr>
        <p:spPr>
          <a:xfrm>
            <a:off x="6553048"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One database, two modes.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same code also runs on a lightweight file-based database (SQLite) for fast local testing, then runs unchanged against real PostgreSQL in production — so tests are fast without sacrificing production realism.</a:t>
            </a:r>
            <a:endParaRPr lang="en-US" sz="1250" dirty="0"/>
          </a:p>
        </p:txBody>
      </p:sp>
      <p:sp>
        <p:nvSpPr>
          <p:cNvPr id="22" name="Text 2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3" name="Text 2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4 — DATABASE DESIGN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How the database is organised — three kinds of tables</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Master tables.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'nouns' of the business — organisations (banks/vendors), people, products, technologies. Each master record is the single source of truth for that thing; everything else points back to it.</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Transaction tables.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'verbs' — things that happen over time: a signal being ingested, an email being sent, a deal moving stage, an activity being logged. These grow continuously and reference master records.</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Lookup / configuration tables.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Small reference tables that define allowed categories — for example, the list of valid organisation-type tags (Bank, NBFI, Ecosystem), or pipeline stage definitions — so the rest of the system stays consistent instead of every screen inventing its own labels.</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91 tables in total today.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Spanning core CRM (24 tables), marketing/delivery extensions (36 tables), plus dedicated tables for audit, tenancy, jobs, sequences, LLM calls, collectors, segments, and more — each addition documented in its own phase note.</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4 — DATABASE DESIGN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How the major table groups connect</a:t>
            </a:r>
            <a:endParaRPr lang="en-US" sz="2600" dirty="0"/>
          </a:p>
        </p:txBody>
      </p:sp>
      <p:sp>
        <p:nvSpPr>
          <p:cNvPr id="4" name="Shape 2"/>
          <p:cNvSpPr/>
          <p:nvPr/>
        </p:nvSpPr>
        <p:spPr>
          <a:xfrm>
            <a:off x="502920" y="1371600"/>
            <a:ext cx="2286000" cy="872338"/>
          </a:xfrm>
          <a:prstGeom prst="rect">
            <a:avLst/>
          </a:prstGeom>
          <a:solidFill>
            <a:srgbClr val="0B1220"/>
          </a:solidFill>
          <a:ln/>
        </p:spPr>
      </p:sp>
      <p:sp>
        <p:nvSpPr>
          <p:cNvPr id="5" name="Text 3"/>
          <p:cNvSpPr/>
          <p:nvPr/>
        </p:nvSpPr>
        <p:spPr>
          <a:xfrm>
            <a:off x="640080" y="1371600"/>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People &amp; Orgs</a:t>
            </a:r>
            <a:endParaRPr lang="en-US" sz="1300" dirty="0"/>
          </a:p>
        </p:txBody>
      </p:sp>
      <p:sp>
        <p:nvSpPr>
          <p:cNvPr id="6" name="Shape 4"/>
          <p:cNvSpPr/>
          <p:nvPr/>
        </p:nvSpPr>
        <p:spPr>
          <a:xfrm>
            <a:off x="2971800" y="1426464"/>
            <a:ext cx="2096948" cy="762610"/>
          </a:xfrm>
          <a:prstGeom prst="rect">
            <a:avLst/>
          </a:prstGeom>
          <a:solidFill>
            <a:srgbClr val="F3F5F9"/>
          </a:solidFill>
          <a:ln w="15875">
            <a:solidFill>
              <a:srgbClr val="1E2C4F"/>
            </a:solidFill>
            <a:prstDash val="solid"/>
          </a:ln>
        </p:spPr>
      </p:sp>
      <p:sp>
        <p:nvSpPr>
          <p:cNvPr id="7" name="Text 5"/>
          <p:cNvSpPr/>
          <p:nvPr/>
        </p:nvSpPr>
        <p:spPr>
          <a:xfrm>
            <a:off x="3044952" y="1426464"/>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organizations</a:t>
            </a:r>
            <a:endParaRPr lang="en-US" sz="1050" dirty="0"/>
          </a:p>
        </p:txBody>
      </p:sp>
      <p:sp>
        <p:nvSpPr>
          <p:cNvPr id="8" name="Shape 6"/>
          <p:cNvSpPr/>
          <p:nvPr/>
        </p:nvSpPr>
        <p:spPr>
          <a:xfrm>
            <a:off x="5178476" y="1426464"/>
            <a:ext cx="2096948" cy="762610"/>
          </a:xfrm>
          <a:prstGeom prst="rect">
            <a:avLst/>
          </a:prstGeom>
          <a:solidFill>
            <a:srgbClr val="F3F5F9"/>
          </a:solidFill>
          <a:ln w="15875">
            <a:solidFill>
              <a:srgbClr val="1E2C4F"/>
            </a:solidFill>
            <a:prstDash val="solid"/>
          </a:ln>
        </p:spPr>
      </p:sp>
      <p:sp>
        <p:nvSpPr>
          <p:cNvPr id="9" name="Text 7"/>
          <p:cNvSpPr/>
          <p:nvPr/>
        </p:nvSpPr>
        <p:spPr>
          <a:xfrm>
            <a:off x="5251628" y="1426464"/>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persons</a:t>
            </a:r>
            <a:endParaRPr lang="en-US" sz="1050" dirty="0"/>
          </a:p>
        </p:txBody>
      </p:sp>
      <p:sp>
        <p:nvSpPr>
          <p:cNvPr id="10" name="Shape 8"/>
          <p:cNvSpPr/>
          <p:nvPr/>
        </p:nvSpPr>
        <p:spPr>
          <a:xfrm>
            <a:off x="7385152" y="1426464"/>
            <a:ext cx="2096948" cy="762610"/>
          </a:xfrm>
          <a:prstGeom prst="rect">
            <a:avLst/>
          </a:prstGeom>
          <a:solidFill>
            <a:srgbClr val="F3F5F9"/>
          </a:solidFill>
          <a:ln w="15875">
            <a:solidFill>
              <a:srgbClr val="1E2C4F"/>
            </a:solidFill>
            <a:prstDash val="solid"/>
          </a:ln>
        </p:spPr>
      </p:sp>
      <p:sp>
        <p:nvSpPr>
          <p:cNvPr id="11" name="Text 9"/>
          <p:cNvSpPr/>
          <p:nvPr/>
        </p:nvSpPr>
        <p:spPr>
          <a:xfrm>
            <a:off x="7458304" y="1426464"/>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org_relationships</a:t>
            </a:r>
            <a:endParaRPr lang="en-US" sz="1050" dirty="0"/>
          </a:p>
        </p:txBody>
      </p:sp>
      <p:sp>
        <p:nvSpPr>
          <p:cNvPr id="12" name="Shape 10"/>
          <p:cNvSpPr/>
          <p:nvPr/>
        </p:nvSpPr>
        <p:spPr>
          <a:xfrm>
            <a:off x="9591827" y="1426464"/>
            <a:ext cx="2096948" cy="762610"/>
          </a:xfrm>
          <a:prstGeom prst="rect">
            <a:avLst/>
          </a:prstGeom>
          <a:solidFill>
            <a:srgbClr val="F3F5F9"/>
          </a:solidFill>
          <a:ln w="15875">
            <a:solidFill>
              <a:srgbClr val="1E2C4F"/>
            </a:solidFill>
            <a:prstDash val="solid"/>
          </a:ln>
        </p:spPr>
      </p:sp>
      <p:sp>
        <p:nvSpPr>
          <p:cNvPr id="13" name="Text 11"/>
          <p:cNvSpPr/>
          <p:nvPr/>
        </p:nvSpPr>
        <p:spPr>
          <a:xfrm>
            <a:off x="9664979" y="1426464"/>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person_relationships</a:t>
            </a:r>
            <a:endParaRPr lang="en-US" sz="1050" dirty="0"/>
          </a:p>
        </p:txBody>
      </p:sp>
      <p:sp>
        <p:nvSpPr>
          <p:cNvPr id="14" name="Shape 12"/>
          <p:cNvSpPr/>
          <p:nvPr/>
        </p:nvSpPr>
        <p:spPr>
          <a:xfrm>
            <a:off x="502920" y="2353666"/>
            <a:ext cx="2286000" cy="872338"/>
          </a:xfrm>
          <a:prstGeom prst="rect">
            <a:avLst/>
          </a:prstGeom>
          <a:solidFill>
            <a:srgbClr val="0B1220"/>
          </a:solidFill>
          <a:ln/>
        </p:spPr>
      </p:sp>
      <p:sp>
        <p:nvSpPr>
          <p:cNvPr id="15" name="Text 13"/>
          <p:cNvSpPr/>
          <p:nvPr/>
        </p:nvSpPr>
        <p:spPr>
          <a:xfrm>
            <a:off x="640080" y="2353666"/>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Sales &amp; Deals</a:t>
            </a:r>
            <a:endParaRPr lang="en-US" sz="1300" dirty="0"/>
          </a:p>
        </p:txBody>
      </p:sp>
      <p:sp>
        <p:nvSpPr>
          <p:cNvPr id="16" name="Shape 14"/>
          <p:cNvSpPr/>
          <p:nvPr/>
        </p:nvSpPr>
        <p:spPr>
          <a:xfrm>
            <a:off x="2971800" y="2408530"/>
            <a:ext cx="2096948" cy="762610"/>
          </a:xfrm>
          <a:prstGeom prst="rect">
            <a:avLst/>
          </a:prstGeom>
          <a:solidFill>
            <a:srgbClr val="F3F5F9"/>
          </a:solidFill>
          <a:ln w="15875">
            <a:solidFill>
              <a:srgbClr val="1E2C4F"/>
            </a:solidFill>
            <a:prstDash val="solid"/>
          </a:ln>
        </p:spPr>
      </p:sp>
      <p:sp>
        <p:nvSpPr>
          <p:cNvPr id="17" name="Text 15"/>
          <p:cNvSpPr/>
          <p:nvPr/>
        </p:nvSpPr>
        <p:spPr>
          <a:xfrm>
            <a:off x="3044952" y="2408530"/>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opportunities</a:t>
            </a:r>
            <a:endParaRPr lang="en-US" sz="1050" dirty="0"/>
          </a:p>
        </p:txBody>
      </p:sp>
      <p:sp>
        <p:nvSpPr>
          <p:cNvPr id="18" name="Shape 16"/>
          <p:cNvSpPr/>
          <p:nvPr/>
        </p:nvSpPr>
        <p:spPr>
          <a:xfrm>
            <a:off x="5178476" y="2408530"/>
            <a:ext cx="2096948" cy="762610"/>
          </a:xfrm>
          <a:prstGeom prst="rect">
            <a:avLst/>
          </a:prstGeom>
          <a:solidFill>
            <a:srgbClr val="F3F5F9"/>
          </a:solidFill>
          <a:ln w="15875">
            <a:solidFill>
              <a:srgbClr val="1E2C4F"/>
            </a:solidFill>
            <a:prstDash val="solid"/>
          </a:ln>
        </p:spPr>
      </p:sp>
      <p:sp>
        <p:nvSpPr>
          <p:cNvPr id="19" name="Text 17"/>
          <p:cNvSpPr/>
          <p:nvPr/>
        </p:nvSpPr>
        <p:spPr>
          <a:xfrm>
            <a:off x="5251628" y="2408530"/>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buying_committee_members</a:t>
            </a:r>
            <a:endParaRPr lang="en-US" sz="1050" dirty="0"/>
          </a:p>
        </p:txBody>
      </p:sp>
      <p:sp>
        <p:nvSpPr>
          <p:cNvPr id="20" name="Shape 18"/>
          <p:cNvSpPr/>
          <p:nvPr/>
        </p:nvSpPr>
        <p:spPr>
          <a:xfrm>
            <a:off x="7385152" y="2408530"/>
            <a:ext cx="2096948" cy="762610"/>
          </a:xfrm>
          <a:prstGeom prst="rect">
            <a:avLst/>
          </a:prstGeom>
          <a:solidFill>
            <a:srgbClr val="F3F5F9"/>
          </a:solidFill>
          <a:ln w="15875">
            <a:solidFill>
              <a:srgbClr val="1E2C4F"/>
            </a:solidFill>
            <a:prstDash val="solid"/>
          </a:ln>
        </p:spPr>
      </p:sp>
      <p:sp>
        <p:nvSpPr>
          <p:cNvPr id="21" name="Text 19"/>
          <p:cNvSpPr/>
          <p:nvPr/>
        </p:nvSpPr>
        <p:spPr>
          <a:xfrm>
            <a:off x="7458304" y="2408530"/>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quotes</a:t>
            </a:r>
            <a:endParaRPr lang="en-US" sz="1050" dirty="0"/>
          </a:p>
        </p:txBody>
      </p:sp>
      <p:sp>
        <p:nvSpPr>
          <p:cNvPr id="22" name="Shape 20"/>
          <p:cNvSpPr/>
          <p:nvPr/>
        </p:nvSpPr>
        <p:spPr>
          <a:xfrm>
            <a:off x="9591827" y="2408530"/>
            <a:ext cx="2096948" cy="762610"/>
          </a:xfrm>
          <a:prstGeom prst="rect">
            <a:avLst/>
          </a:prstGeom>
          <a:solidFill>
            <a:srgbClr val="F3F5F9"/>
          </a:solidFill>
          <a:ln w="15875">
            <a:solidFill>
              <a:srgbClr val="1E2C4F"/>
            </a:solidFill>
            <a:prstDash val="solid"/>
          </a:ln>
        </p:spPr>
      </p:sp>
      <p:sp>
        <p:nvSpPr>
          <p:cNvPr id="23" name="Text 21"/>
          <p:cNvSpPr/>
          <p:nvPr/>
        </p:nvSpPr>
        <p:spPr>
          <a:xfrm>
            <a:off x="9664979" y="2408530"/>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products</a:t>
            </a:r>
            <a:endParaRPr lang="en-US" sz="1050" dirty="0"/>
          </a:p>
        </p:txBody>
      </p:sp>
      <p:sp>
        <p:nvSpPr>
          <p:cNvPr id="24" name="Shape 22"/>
          <p:cNvSpPr/>
          <p:nvPr/>
        </p:nvSpPr>
        <p:spPr>
          <a:xfrm>
            <a:off x="502920" y="3335731"/>
            <a:ext cx="2286000" cy="872338"/>
          </a:xfrm>
          <a:prstGeom prst="rect">
            <a:avLst/>
          </a:prstGeom>
          <a:solidFill>
            <a:srgbClr val="0B1220"/>
          </a:solidFill>
          <a:ln/>
        </p:spPr>
      </p:sp>
      <p:sp>
        <p:nvSpPr>
          <p:cNvPr id="25" name="Text 23"/>
          <p:cNvSpPr/>
          <p:nvPr/>
        </p:nvSpPr>
        <p:spPr>
          <a:xfrm>
            <a:off x="640080" y="3335731"/>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Marketing</a:t>
            </a:r>
            <a:endParaRPr lang="en-US" sz="1300" dirty="0"/>
          </a:p>
        </p:txBody>
      </p:sp>
      <p:sp>
        <p:nvSpPr>
          <p:cNvPr id="26" name="Shape 24"/>
          <p:cNvSpPr/>
          <p:nvPr/>
        </p:nvSpPr>
        <p:spPr>
          <a:xfrm>
            <a:off x="2971800" y="3390595"/>
            <a:ext cx="2096948" cy="762610"/>
          </a:xfrm>
          <a:prstGeom prst="rect">
            <a:avLst/>
          </a:prstGeom>
          <a:solidFill>
            <a:srgbClr val="F3F5F9"/>
          </a:solidFill>
          <a:ln w="15875">
            <a:solidFill>
              <a:srgbClr val="1E2C4F"/>
            </a:solidFill>
            <a:prstDash val="solid"/>
          </a:ln>
        </p:spPr>
      </p:sp>
      <p:sp>
        <p:nvSpPr>
          <p:cNvPr id="27" name="Text 25"/>
          <p:cNvSpPr/>
          <p:nvPr/>
        </p:nvSpPr>
        <p:spPr>
          <a:xfrm>
            <a:off x="3044952" y="3390595"/>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email_campaigns</a:t>
            </a:r>
            <a:endParaRPr lang="en-US" sz="1050" dirty="0"/>
          </a:p>
        </p:txBody>
      </p:sp>
      <p:sp>
        <p:nvSpPr>
          <p:cNvPr id="28" name="Shape 26"/>
          <p:cNvSpPr/>
          <p:nvPr/>
        </p:nvSpPr>
        <p:spPr>
          <a:xfrm>
            <a:off x="5178476" y="3390595"/>
            <a:ext cx="2096948" cy="762610"/>
          </a:xfrm>
          <a:prstGeom prst="rect">
            <a:avLst/>
          </a:prstGeom>
          <a:solidFill>
            <a:srgbClr val="F3F5F9"/>
          </a:solidFill>
          <a:ln w="15875">
            <a:solidFill>
              <a:srgbClr val="1E2C4F"/>
            </a:solidFill>
            <a:prstDash val="solid"/>
          </a:ln>
        </p:spPr>
      </p:sp>
      <p:sp>
        <p:nvSpPr>
          <p:cNvPr id="29" name="Text 27"/>
          <p:cNvSpPr/>
          <p:nvPr/>
        </p:nvSpPr>
        <p:spPr>
          <a:xfrm>
            <a:off x="5251628" y="3390595"/>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audiences</a:t>
            </a:r>
            <a:endParaRPr lang="en-US" sz="1050" dirty="0"/>
          </a:p>
        </p:txBody>
      </p:sp>
      <p:sp>
        <p:nvSpPr>
          <p:cNvPr id="30" name="Shape 28"/>
          <p:cNvSpPr/>
          <p:nvPr/>
        </p:nvSpPr>
        <p:spPr>
          <a:xfrm>
            <a:off x="7385152" y="3390595"/>
            <a:ext cx="2096948" cy="762610"/>
          </a:xfrm>
          <a:prstGeom prst="rect">
            <a:avLst/>
          </a:prstGeom>
          <a:solidFill>
            <a:srgbClr val="F3F5F9"/>
          </a:solidFill>
          <a:ln w="15875">
            <a:solidFill>
              <a:srgbClr val="1E2C4F"/>
            </a:solidFill>
            <a:prstDash val="solid"/>
          </a:ln>
        </p:spPr>
      </p:sp>
      <p:sp>
        <p:nvSpPr>
          <p:cNvPr id="31" name="Text 29"/>
          <p:cNvSpPr/>
          <p:nvPr/>
        </p:nvSpPr>
        <p:spPr>
          <a:xfrm>
            <a:off x="7458304" y="3390595"/>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sequences</a:t>
            </a:r>
            <a:endParaRPr lang="en-US" sz="1050" dirty="0"/>
          </a:p>
        </p:txBody>
      </p:sp>
      <p:sp>
        <p:nvSpPr>
          <p:cNvPr id="32" name="Shape 30"/>
          <p:cNvSpPr/>
          <p:nvPr/>
        </p:nvSpPr>
        <p:spPr>
          <a:xfrm>
            <a:off x="9591827" y="3390595"/>
            <a:ext cx="2096948" cy="762610"/>
          </a:xfrm>
          <a:prstGeom prst="rect">
            <a:avLst/>
          </a:prstGeom>
          <a:solidFill>
            <a:srgbClr val="F3F5F9"/>
          </a:solidFill>
          <a:ln w="15875">
            <a:solidFill>
              <a:srgbClr val="1E2C4F"/>
            </a:solidFill>
            <a:prstDash val="solid"/>
          </a:ln>
        </p:spPr>
      </p:sp>
      <p:sp>
        <p:nvSpPr>
          <p:cNvPr id="33" name="Text 31"/>
          <p:cNvSpPr/>
          <p:nvPr/>
        </p:nvSpPr>
        <p:spPr>
          <a:xfrm>
            <a:off x="9664979" y="3390595"/>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journeys</a:t>
            </a:r>
            <a:endParaRPr lang="en-US" sz="1050" dirty="0"/>
          </a:p>
        </p:txBody>
      </p:sp>
      <p:sp>
        <p:nvSpPr>
          <p:cNvPr id="34" name="Shape 32"/>
          <p:cNvSpPr/>
          <p:nvPr/>
        </p:nvSpPr>
        <p:spPr>
          <a:xfrm>
            <a:off x="502920" y="4317797"/>
            <a:ext cx="2286000" cy="872338"/>
          </a:xfrm>
          <a:prstGeom prst="rect">
            <a:avLst/>
          </a:prstGeom>
          <a:solidFill>
            <a:srgbClr val="0B1220"/>
          </a:solidFill>
          <a:ln/>
        </p:spPr>
      </p:sp>
      <p:sp>
        <p:nvSpPr>
          <p:cNvPr id="35" name="Text 33"/>
          <p:cNvSpPr/>
          <p:nvPr/>
        </p:nvSpPr>
        <p:spPr>
          <a:xfrm>
            <a:off x="640080" y="4317797"/>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Intelligence</a:t>
            </a:r>
            <a:endParaRPr lang="en-US" sz="1300" dirty="0"/>
          </a:p>
        </p:txBody>
      </p:sp>
      <p:sp>
        <p:nvSpPr>
          <p:cNvPr id="36" name="Shape 34"/>
          <p:cNvSpPr/>
          <p:nvPr/>
        </p:nvSpPr>
        <p:spPr>
          <a:xfrm>
            <a:off x="2971800" y="4372661"/>
            <a:ext cx="2096948" cy="762610"/>
          </a:xfrm>
          <a:prstGeom prst="rect">
            <a:avLst/>
          </a:prstGeom>
          <a:solidFill>
            <a:srgbClr val="F3F5F9"/>
          </a:solidFill>
          <a:ln w="15875">
            <a:solidFill>
              <a:srgbClr val="1E2C4F"/>
            </a:solidFill>
            <a:prstDash val="solid"/>
          </a:ln>
        </p:spPr>
      </p:sp>
      <p:sp>
        <p:nvSpPr>
          <p:cNvPr id="37" name="Text 35"/>
          <p:cNvSpPr/>
          <p:nvPr/>
        </p:nvSpPr>
        <p:spPr>
          <a:xfrm>
            <a:off x="3044952" y="4372661"/>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signals</a:t>
            </a:r>
            <a:endParaRPr lang="en-US" sz="1050" dirty="0"/>
          </a:p>
        </p:txBody>
      </p:sp>
      <p:sp>
        <p:nvSpPr>
          <p:cNvPr id="38" name="Shape 36"/>
          <p:cNvSpPr/>
          <p:nvPr/>
        </p:nvSpPr>
        <p:spPr>
          <a:xfrm>
            <a:off x="5178476" y="4372661"/>
            <a:ext cx="2096948" cy="762610"/>
          </a:xfrm>
          <a:prstGeom prst="rect">
            <a:avLst/>
          </a:prstGeom>
          <a:solidFill>
            <a:srgbClr val="F3F5F9"/>
          </a:solidFill>
          <a:ln w="15875">
            <a:solidFill>
              <a:srgbClr val="1E2C4F"/>
            </a:solidFill>
            <a:prstDash val="solid"/>
          </a:ln>
        </p:spPr>
      </p:sp>
      <p:sp>
        <p:nvSpPr>
          <p:cNvPr id="39" name="Text 37"/>
          <p:cNvSpPr/>
          <p:nvPr/>
        </p:nvSpPr>
        <p:spPr>
          <a:xfrm>
            <a:off x="5251628" y="4372661"/>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signal_sources</a:t>
            </a:r>
            <a:endParaRPr lang="en-US" sz="1050" dirty="0"/>
          </a:p>
        </p:txBody>
      </p:sp>
      <p:sp>
        <p:nvSpPr>
          <p:cNvPr id="40" name="Shape 38"/>
          <p:cNvSpPr/>
          <p:nvPr/>
        </p:nvSpPr>
        <p:spPr>
          <a:xfrm>
            <a:off x="7385152" y="4372661"/>
            <a:ext cx="2096948" cy="762610"/>
          </a:xfrm>
          <a:prstGeom prst="rect">
            <a:avLst/>
          </a:prstGeom>
          <a:solidFill>
            <a:srgbClr val="F3F5F9"/>
          </a:solidFill>
          <a:ln w="15875">
            <a:solidFill>
              <a:srgbClr val="1E2C4F"/>
            </a:solidFill>
            <a:prstDash val="solid"/>
          </a:ln>
        </p:spPr>
      </p:sp>
      <p:sp>
        <p:nvSpPr>
          <p:cNvPr id="41" name="Text 39"/>
          <p:cNvSpPr/>
          <p:nvPr/>
        </p:nvSpPr>
        <p:spPr>
          <a:xfrm>
            <a:off x="7458304" y="4372661"/>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account_intelligence</a:t>
            </a:r>
            <a:endParaRPr lang="en-US" sz="1050" dirty="0"/>
          </a:p>
        </p:txBody>
      </p:sp>
      <p:sp>
        <p:nvSpPr>
          <p:cNvPr id="42" name="Shape 40"/>
          <p:cNvSpPr/>
          <p:nvPr/>
        </p:nvSpPr>
        <p:spPr>
          <a:xfrm>
            <a:off x="9591827" y="4372661"/>
            <a:ext cx="2096948" cy="762610"/>
          </a:xfrm>
          <a:prstGeom prst="rect">
            <a:avLst/>
          </a:prstGeom>
          <a:solidFill>
            <a:srgbClr val="F3F5F9"/>
          </a:solidFill>
          <a:ln w="15875">
            <a:solidFill>
              <a:srgbClr val="1E2C4F"/>
            </a:solidFill>
            <a:prstDash val="solid"/>
          </a:ln>
        </p:spPr>
      </p:sp>
      <p:sp>
        <p:nvSpPr>
          <p:cNvPr id="43" name="Text 41"/>
          <p:cNvSpPr/>
          <p:nvPr/>
        </p:nvSpPr>
        <p:spPr>
          <a:xfrm>
            <a:off x="9664979" y="4372661"/>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account_scores</a:t>
            </a:r>
            <a:endParaRPr lang="en-US" sz="1050" dirty="0"/>
          </a:p>
        </p:txBody>
      </p:sp>
      <p:sp>
        <p:nvSpPr>
          <p:cNvPr id="44" name="Shape 42"/>
          <p:cNvSpPr/>
          <p:nvPr/>
        </p:nvSpPr>
        <p:spPr>
          <a:xfrm>
            <a:off x="502920" y="5299862"/>
            <a:ext cx="2286000" cy="872338"/>
          </a:xfrm>
          <a:prstGeom prst="rect">
            <a:avLst/>
          </a:prstGeom>
          <a:solidFill>
            <a:srgbClr val="0B1220"/>
          </a:solidFill>
          <a:ln/>
        </p:spPr>
      </p:sp>
      <p:sp>
        <p:nvSpPr>
          <p:cNvPr id="45" name="Text 43"/>
          <p:cNvSpPr/>
          <p:nvPr/>
        </p:nvSpPr>
        <p:spPr>
          <a:xfrm>
            <a:off x="640080" y="5299862"/>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Platform</a:t>
            </a:r>
            <a:endParaRPr lang="en-US" sz="1300" dirty="0"/>
          </a:p>
        </p:txBody>
      </p:sp>
      <p:sp>
        <p:nvSpPr>
          <p:cNvPr id="46" name="Shape 44"/>
          <p:cNvSpPr/>
          <p:nvPr/>
        </p:nvSpPr>
        <p:spPr>
          <a:xfrm>
            <a:off x="2971800" y="5354726"/>
            <a:ext cx="2096948" cy="762610"/>
          </a:xfrm>
          <a:prstGeom prst="rect">
            <a:avLst/>
          </a:prstGeom>
          <a:solidFill>
            <a:srgbClr val="F3F5F9"/>
          </a:solidFill>
          <a:ln w="15875">
            <a:solidFill>
              <a:srgbClr val="1E2C4F"/>
            </a:solidFill>
            <a:prstDash val="solid"/>
          </a:ln>
        </p:spPr>
      </p:sp>
      <p:sp>
        <p:nvSpPr>
          <p:cNvPr id="47" name="Text 45"/>
          <p:cNvSpPr/>
          <p:nvPr/>
        </p:nvSpPr>
        <p:spPr>
          <a:xfrm>
            <a:off x="3044952" y="5354726"/>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audit_log</a:t>
            </a:r>
            <a:endParaRPr lang="en-US" sz="1050" dirty="0"/>
          </a:p>
        </p:txBody>
      </p:sp>
      <p:sp>
        <p:nvSpPr>
          <p:cNvPr id="48" name="Shape 46"/>
          <p:cNvSpPr/>
          <p:nvPr/>
        </p:nvSpPr>
        <p:spPr>
          <a:xfrm>
            <a:off x="5178476" y="5354726"/>
            <a:ext cx="2096948" cy="762610"/>
          </a:xfrm>
          <a:prstGeom prst="rect">
            <a:avLst/>
          </a:prstGeom>
          <a:solidFill>
            <a:srgbClr val="F3F5F9"/>
          </a:solidFill>
          <a:ln w="15875">
            <a:solidFill>
              <a:srgbClr val="1E2C4F"/>
            </a:solidFill>
            <a:prstDash val="solid"/>
          </a:ln>
        </p:spPr>
      </p:sp>
      <p:sp>
        <p:nvSpPr>
          <p:cNvPr id="49" name="Text 47"/>
          <p:cNvSpPr/>
          <p:nvPr/>
        </p:nvSpPr>
        <p:spPr>
          <a:xfrm>
            <a:off x="5251628" y="5354726"/>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jobs / outbox</a:t>
            </a:r>
            <a:endParaRPr lang="en-US" sz="1050" dirty="0"/>
          </a:p>
        </p:txBody>
      </p:sp>
      <p:sp>
        <p:nvSpPr>
          <p:cNvPr id="50" name="Shape 48"/>
          <p:cNvSpPr/>
          <p:nvPr/>
        </p:nvSpPr>
        <p:spPr>
          <a:xfrm>
            <a:off x="7385152" y="5354726"/>
            <a:ext cx="2096948" cy="762610"/>
          </a:xfrm>
          <a:prstGeom prst="rect">
            <a:avLst/>
          </a:prstGeom>
          <a:solidFill>
            <a:srgbClr val="F3F5F9"/>
          </a:solidFill>
          <a:ln w="15875">
            <a:solidFill>
              <a:srgbClr val="1E2C4F"/>
            </a:solidFill>
            <a:prstDash val="solid"/>
          </a:ln>
        </p:spPr>
      </p:sp>
      <p:sp>
        <p:nvSpPr>
          <p:cNvPr id="51" name="Text 49"/>
          <p:cNvSpPr/>
          <p:nvPr/>
        </p:nvSpPr>
        <p:spPr>
          <a:xfrm>
            <a:off x="7458304" y="5354726"/>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api_keys</a:t>
            </a:r>
            <a:endParaRPr lang="en-US" sz="1050" dirty="0"/>
          </a:p>
        </p:txBody>
      </p:sp>
      <p:sp>
        <p:nvSpPr>
          <p:cNvPr id="52" name="Shape 50"/>
          <p:cNvSpPr/>
          <p:nvPr/>
        </p:nvSpPr>
        <p:spPr>
          <a:xfrm>
            <a:off x="9591827" y="5354726"/>
            <a:ext cx="2096948" cy="762610"/>
          </a:xfrm>
          <a:prstGeom prst="rect">
            <a:avLst/>
          </a:prstGeom>
          <a:solidFill>
            <a:srgbClr val="F3F5F9"/>
          </a:solidFill>
          <a:ln w="15875">
            <a:solidFill>
              <a:srgbClr val="1E2C4F"/>
            </a:solidFill>
            <a:prstDash val="solid"/>
          </a:ln>
        </p:spPr>
      </p:sp>
      <p:sp>
        <p:nvSpPr>
          <p:cNvPr id="53" name="Text 51"/>
          <p:cNvSpPr/>
          <p:nvPr/>
        </p:nvSpPr>
        <p:spPr>
          <a:xfrm>
            <a:off x="9664979" y="5354726"/>
            <a:ext cx="1950644"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tenants</a:t>
            </a:r>
            <a:endParaRPr lang="en-US" sz="1050" dirty="0"/>
          </a:p>
        </p:txBody>
      </p:sp>
      <p:sp>
        <p:nvSpPr>
          <p:cNvPr id="54" name="Text 5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55" name="Text 5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30</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4 — DATABASE DESIGN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Example: how a foreign key actually works</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persons.current_org_id → organizations.id</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A 'foreign key' is simply a rule: this column's value must match a real row's ID in another table. It is how the database enforces that every contact belongs to a real, existing bank — you cannot save a person pointing at a bank that doesn't exist.</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persons.current_org_id -&gt; organizations.id</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opportunities.org_id -&gt; organizations.id</a:t>
            </a:r>
            <a:endParaRPr lang="en-US" sz="1050" dirty="0"/>
          </a:p>
        </p:txBody>
      </p:sp>
      <p:sp>
        <p:nvSpPr>
          <p:cNvPr id="12" name="Shape 10"/>
          <p:cNvSpPr/>
          <p:nvPr/>
        </p:nvSpPr>
        <p:spPr>
          <a:xfrm>
            <a:off x="502920" y="4059936"/>
            <a:ext cx="64008" cy="64008"/>
          </a:xfrm>
          <a:prstGeom prst="ellipse">
            <a:avLst/>
          </a:prstGeom>
          <a:solidFill>
            <a:srgbClr val="2657A8"/>
          </a:solidFill>
          <a:ln/>
        </p:spPr>
      </p:sp>
      <p:sp>
        <p:nvSpPr>
          <p:cNvPr id="13" name="Text 11"/>
          <p:cNvSpPr/>
          <p:nvPr/>
        </p:nvSpPr>
        <p:spPr>
          <a:xfrm>
            <a:off x="704088" y="3950208"/>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signals.org_id -&gt; organizations.id</a:t>
            </a:r>
            <a:endParaRPr lang="en-US" sz="1050" dirty="0"/>
          </a:p>
        </p:txBody>
      </p:sp>
      <p:sp>
        <p:nvSpPr>
          <p:cNvPr id="14" name="Shape 12"/>
          <p:cNvSpPr/>
          <p:nvPr/>
        </p:nvSpPr>
        <p:spPr>
          <a:xfrm>
            <a:off x="502920" y="4370832"/>
            <a:ext cx="64008" cy="64008"/>
          </a:xfrm>
          <a:prstGeom prst="ellipse">
            <a:avLst/>
          </a:prstGeom>
          <a:solidFill>
            <a:srgbClr val="2657A8"/>
          </a:solidFill>
          <a:ln/>
        </p:spPr>
      </p:sp>
      <p:sp>
        <p:nvSpPr>
          <p:cNvPr id="15" name="Text 13"/>
          <p:cNvSpPr/>
          <p:nvPr/>
        </p:nvSpPr>
        <p:spPr>
          <a:xfrm>
            <a:off x="704088" y="4261104"/>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buying_committee_members.person_id -&gt; persons.id</a:t>
            </a:r>
            <a:endParaRPr lang="en-US" sz="1050" dirty="0"/>
          </a:p>
        </p:txBody>
      </p:sp>
      <p:sp>
        <p:nvSpPr>
          <p:cNvPr id="16" name="Text 14"/>
          <p:cNvSpPr/>
          <p:nvPr/>
        </p:nvSpPr>
        <p:spPr>
          <a:xfrm>
            <a:off x="502920" y="4736592"/>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7" name="Text 15"/>
          <p:cNvSpPr/>
          <p:nvPr/>
        </p:nvSpPr>
        <p:spPr>
          <a:xfrm>
            <a:off x="502920" y="5029200"/>
            <a:ext cx="4206240" cy="1143000"/>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If someone tries to delete a bank that still has contacts pointing to it, the database itself blocks or cascades the change depending on the rule configured — this is what prevents 'orphaned' records that silently point at nothing.</a:t>
            </a:r>
            <a:endParaRPr lang="en-US" sz="10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96012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ForeignKey(...)</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The technical annotation that creates this rule</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index=True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Makes lookups by this column fast, even with millions of rows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nullable=True/False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Whether a record is allowed to have no link at all</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cascade rules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What happens to child rows if the parent is deleted</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19" name="Text 16"/>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0" name="Text 17"/>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31</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4 — DATABASE DESIGN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Indexing, unique keys &amp; duplicate prevention</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Indexing — why lookups stay fast</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What an index is.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Like the index at the back of a book — instead of reading every page to find a name, the database jumps straight to it.</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Where they're used.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Organisation short names, person org-links, outreach-channel lookups, and every high-traffic search column carry an index.</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Why it matters at scale.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With 8,000+ contacts today and a target of far more, an unindexed search would get slower every month; an indexed one stays fast.</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Unique keys — why duplicates can't sneak in</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Hard uniqueness rules.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bank's canonical name must be unique; a person can only have one outreach row per channel — the database itself rejects a second one.</a:t>
            </a:r>
            <a:endParaRPr lang="en-US" sz="1250" dirty="0"/>
          </a:p>
        </p:txBody>
      </p:sp>
      <p:sp>
        <p:nvSpPr>
          <p:cNvPr id="18" name="Shape 16"/>
          <p:cNvSpPr/>
          <p:nvPr/>
        </p:nvSpPr>
        <p:spPr>
          <a:xfrm>
            <a:off x="6324448" y="3514344"/>
            <a:ext cx="82296" cy="82296"/>
          </a:xfrm>
          <a:prstGeom prst="ellipse">
            <a:avLst/>
          </a:prstGeom>
          <a:solidFill>
            <a:srgbClr val="2657A8"/>
          </a:solidFill>
          <a:ln/>
        </p:spPr>
      </p:sp>
      <p:sp>
        <p:nvSpPr>
          <p:cNvPr id="19" name="Text 17"/>
          <p:cNvSpPr/>
          <p:nvPr/>
        </p:nvSpPr>
        <p:spPr>
          <a:xfrm>
            <a:off x="6553048"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Content-hash + URL de-duplication for signals.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Every ingested news item is fingerprinted so the same article from two different feeds is never stored twice.</a:t>
            </a:r>
            <a:endParaRPr lang="en-US" sz="1250" dirty="0"/>
          </a:p>
        </p:txBody>
      </p:sp>
      <p:sp>
        <p:nvSpPr>
          <p:cNvPr id="20" name="Shape 18"/>
          <p:cNvSpPr/>
          <p:nvPr/>
        </p:nvSpPr>
        <p:spPr>
          <a:xfrm>
            <a:off x="6324448" y="4879848"/>
            <a:ext cx="82296" cy="82296"/>
          </a:xfrm>
          <a:prstGeom prst="ellipse">
            <a:avLst/>
          </a:prstGeom>
          <a:solidFill>
            <a:srgbClr val="2657A8"/>
          </a:solidFill>
          <a:ln/>
        </p:spPr>
      </p:sp>
      <p:sp>
        <p:nvSpPr>
          <p:cNvPr id="21" name="Text 19"/>
          <p:cNvSpPr/>
          <p:nvPr/>
        </p:nvSpPr>
        <p:spPr>
          <a:xfrm>
            <a:off x="6553048"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In-batch duplicate detection on import.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When bulk-importing 100 rows in one file, the system tracks what it has already seen in that same batch — not just what's already saved — so duplicates within one spreadsheet don't slip through.</a:t>
            </a:r>
            <a:endParaRPr lang="en-US" sz="1250" dirty="0"/>
          </a:p>
        </p:txBody>
      </p:sp>
      <p:sp>
        <p:nvSpPr>
          <p:cNvPr id="22" name="Text 2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3" name="Text 2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4 — DATABASE DESIGN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Synchronisation, backup, and how schema changes are applied</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Two ways schema changes get applied.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formal migration chain (Alembic, currently 28 revisions) for permanent, reviewed changes, and a fast 'sync' script (sync_db.py) that safely adds any missing tables or columns and backfills them — used for rapid iteration during active development, always re-run after a schema change.</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Idempotent by design.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Both approaches are safe to run more than once — re-running never breaks anything or duplicates work, which matters enormously for a small team without a dedicated DBA on call.</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Backups.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Standard PostgreSQL backup/restore tooling (pg_dump / pg_restore) is documented in the deployment playbook for moving data between local and cloud databases; a fully automated, scheduled backup job is not yet running (see Section 15).</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Audit trail doubles as a change history.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Because every row change is captured with a before/after snapshot, the audit log itself provides a form of point-in-time recovery information even before a formal backup schedule exists.</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33</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4 — DATABASE DESIGN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Scalability &amp; security, built into the data layer</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Scalability</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Set-based SQL, not row-by-row loops.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Heavy calculations (like re-scoring thousands of accounts) run as single efficient database operations instead of one-row-at-a-time code loops that get slower as data grows.</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Partitioned event tables.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High-volume tables (like every email open/click) are split into manageable time-based chunks so a table with millions of rows doesn't slow down every query.</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Modern, sortable unique IDs (UUIDv7).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Every new row's unique ID is generated in a way that also sorts roughly by creation time, which keeps large tables fast to insert into and query.</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Security</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1024128"/>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Row-level security enforced by the database.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Not just application code — the database itself refuses to return another tenant's rows, even to a buggy or malicious query.</a:t>
            </a:r>
            <a:endParaRPr lang="en-US" sz="1250" dirty="0"/>
          </a:p>
        </p:txBody>
      </p:sp>
      <p:sp>
        <p:nvSpPr>
          <p:cNvPr id="18" name="Shape 16"/>
          <p:cNvSpPr/>
          <p:nvPr/>
        </p:nvSpPr>
        <p:spPr>
          <a:xfrm>
            <a:off x="6324448" y="3172968"/>
            <a:ext cx="82296" cy="82296"/>
          </a:xfrm>
          <a:prstGeom prst="ellipse">
            <a:avLst/>
          </a:prstGeom>
          <a:solidFill>
            <a:srgbClr val="2657A8"/>
          </a:solidFill>
          <a:ln/>
        </p:spPr>
      </p:sp>
      <p:sp>
        <p:nvSpPr>
          <p:cNvPr id="19" name="Text 17"/>
          <p:cNvSpPr/>
          <p:nvPr/>
        </p:nvSpPr>
        <p:spPr>
          <a:xfrm>
            <a:off x="6553048" y="3054096"/>
            <a:ext cx="5090008" cy="1024128"/>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Field-level encryption for sensitive data.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Selected sensitive fields are encrypted at rest, not stored in plain text.</a:t>
            </a:r>
            <a:endParaRPr lang="en-US" sz="1250" dirty="0"/>
          </a:p>
        </p:txBody>
      </p:sp>
      <p:sp>
        <p:nvSpPr>
          <p:cNvPr id="20" name="Shape 18"/>
          <p:cNvSpPr/>
          <p:nvPr/>
        </p:nvSpPr>
        <p:spPr>
          <a:xfrm>
            <a:off x="6324448" y="4197096"/>
            <a:ext cx="82296" cy="82296"/>
          </a:xfrm>
          <a:prstGeom prst="ellipse">
            <a:avLst/>
          </a:prstGeom>
          <a:solidFill>
            <a:srgbClr val="2657A8"/>
          </a:solidFill>
          <a:ln/>
        </p:spPr>
      </p:sp>
      <p:sp>
        <p:nvSpPr>
          <p:cNvPr id="21" name="Text 19"/>
          <p:cNvSpPr/>
          <p:nvPr/>
        </p:nvSpPr>
        <p:spPr>
          <a:xfrm>
            <a:off x="6553048" y="4078224"/>
            <a:ext cx="5090008" cy="1024128"/>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Full audit trail.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Every create, update, and delete on 28 business tables is logged with who, when, and the exact before/after values.</a:t>
            </a:r>
            <a:endParaRPr lang="en-US" sz="1250" dirty="0"/>
          </a:p>
        </p:txBody>
      </p:sp>
      <p:sp>
        <p:nvSpPr>
          <p:cNvPr id="22" name="Shape 20"/>
          <p:cNvSpPr/>
          <p:nvPr/>
        </p:nvSpPr>
        <p:spPr>
          <a:xfrm>
            <a:off x="6324448" y="5221224"/>
            <a:ext cx="82296" cy="82296"/>
          </a:xfrm>
          <a:prstGeom prst="ellipse">
            <a:avLst/>
          </a:prstGeom>
          <a:solidFill>
            <a:srgbClr val="2657A8"/>
          </a:solidFill>
          <a:ln/>
        </p:spPr>
      </p:sp>
      <p:sp>
        <p:nvSpPr>
          <p:cNvPr id="23" name="Text 21"/>
          <p:cNvSpPr/>
          <p:nvPr/>
        </p:nvSpPr>
        <p:spPr>
          <a:xfrm>
            <a:off x="6553048" y="5102352"/>
            <a:ext cx="5090008" cy="1024128"/>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Compliance groundwork for PDPL.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Data export, erase-on-request, consent tracking, and data-retention rules are built to support Saudi Arabia's PDPL data protection law (legal sign-off is still pending — see Section 15).</a:t>
            </a:r>
            <a:endParaRPr lang="en-US" sz="1250" dirty="0"/>
          </a:p>
        </p:txBody>
      </p:sp>
      <p:sp>
        <p:nvSpPr>
          <p:cNvPr id="24" name="Text 2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5" name="Text 2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05</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05</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Master Databases</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Every major table, explained one at a time: what it stores, how it connects, how data enters and updates, and who uses it.</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Banks, vendors, and people</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Products, technology, and initiatives</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Campaigns, email, meetings, and deals</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Interaction history and LinkedIn activity</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Bank / Institution Master</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organizations</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The master record for every bank, non-bank financial institution, vendor, and ecosystem player DRIP tracks. Every contact, deal, signal, and document ultimately links back to one row here.</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1 organization -&gt; many persons (contacts)</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1 organization -&gt; many signals (news/regulatory)</a:t>
            </a:r>
            <a:endParaRPr lang="en-US" sz="1050" dirty="0"/>
          </a:p>
        </p:txBody>
      </p:sp>
      <p:sp>
        <p:nvSpPr>
          <p:cNvPr id="12" name="Shape 10"/>
          <p:cNvSpPr/>
          <p:nvPr/>
        </p:nvSpPr>
        <p:spPr>
          <a:xfrm>
            <a:off x="502920" y="4059936"/>
            <a:ext cx="64008" cy="64008"/>
          </a:xfrm>
          <a:prstGeom prst="ellipse">
            <a:avLst/>
          </a:prstGeom>
          <a:solidFill>
            <a:srgbClr val="2657A8"/>
          </a:solidFill>
          <a:ln/>
        </p:spPr>
      </p:sp>
      <p:sp>
        <p:nvSpPr>
          <p:cNvPr id="13" name="Text 11"/>
          <p:cNvSpPr/>
          <p:nvPr/>
        </p:nvSpPr>
        <p:spPr>
          <a:xfrm>
            <a:off x="704088" y="3950208"/>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organization &lt;-&gt; organization (parent/subsidiary, via parent_org_id)</a:t>
            </a:r>
            <a:endParaRPr lang="en-US" sz="1050" dirty="0"/>
          </a:p>
        </p:txBody>
      </p:sp>
      <p:sp>
        <p:nvSpPr>
          <p:cNvPr id="14" name="Shape 12"/>
          <p:cNvSpPr/>
          <p:nvPr/>
        </p:nvSpPr>
        <p:spPr>
          <a:xfrm>
            <a:off x="502920" y="4370832"/>
            <a:ext cx="64008" cy="64008"/>
          </a:xfrm>
          <a:prstGeom prst="ellipse">
            <a:avLst/>
          </a:prstGeom>
          <a:solidFill>
            <a:srgbClr val="2657A8"/>
          </a:solidFill>
          <a:ln/>
        </p:spPr>
      </p:sp>
      <p:sp>
        <p:nvSpPr>
          <p:cNvPr id="15" name="Text 13"/>
          <p:cNvSpPr/>
          <p:nvPr/>
        </p:nvSpPr>
        <p:spPr>
          <a:xfrm>
            <a:off x="704088" y="4261104"/>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1 organization -&gt; many opportunities (deals)</a:t>
            </a:r>
            <a:endParaRPr lang="en-US" sz="1050" dirty="0"/>
          </a:p>
        </p:txBody>
      </p:sp>
      <p:sp>
        <p:nvSpPr>
          <p:cNvPr id="16" name="Text 14"/>
          <p:cNvSpPr/>
          <p:nvPr/>
        </p:nvSpPr>
        <p:spPr>
          <a:xfrm>
            <a:off x="502920" y="4736592"/>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7" name="Text 15"/>
          <p:cNvSpPr/>
          <p:nvPr/>
        </p:nvSpPr>
        <p:spPr>
          <a:xfrm>
            <a:off x="502920" y="5029200"/>
            <a:ext cx="4206240" cy="1143000"/>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Created via manual entry, CSV/Excel bulk upload, or the fast legacy DRIP importer. Updated whenever tags, tier, or hierarchy change. Every change is captured in the audit trail automatically.</a:t>
            </a:r>
            <a:endParaRPr lang="en-US" sz="10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80010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canonical_name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The institution's official registered name (must be unique)</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org_type_tags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Bank / NBFI / Ecosystem, plus a sub-type (see next slide)</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parent_org_id</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Parent company, if this record is a subsidiary</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core_banking / crm / los / ...</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Known technology vendors this institution uses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verification_status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unverified / verified / stale — data-quality flag</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9" name="Text 16"/>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0" name="Text 17"/>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Bank vs. Non-Bank vs. Ecosystem — the taxonomy</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How it's stored</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org_type_tags table.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separate small table links each organisation to one or more tags, so an entity can be tagged, for example, both 'Payments' and 'Fintech' at once.</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Banks.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Commercial banks, Islamic banks, and government-affiliated banks operating in Saudi Arabia.</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Non-Bank Financial Institutions.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Insurance companies, payment/e-money institutions, and specialised financing companies — each a distinct sub-type, not lumped together.</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Ecosystem</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Vendors.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Core-banking, fintech, and technology vendors already selling into these institutions — useful to know who we compete or partner with.</a:t>
            </a:r>
            <a:endParaRPr lang="en-US" sz="1250" dirty="0"/>
          </a:p>
        </p:txBody>
      </p:sp>
      <p:sp>
        <p:nvSpPr>
          <p:cNvPr id="18" name="Shape 16"/>
          <p:cNvSpPr/>
          <p:nvPr/>
        </p:nvSpPr>
        <p:spPr>
          <a:xfrm>
            <a:off x="6324448" y="3514344"/>
            <a:ext cx="82296" cy="82296"/>
          </a:xfrm>
          <a:prstGeom prst="ellipse">
            <a:avLst/>
          </a:prstGeom>
          <a:solidFill>
            <a:srgbClr val="2657A8"/>
          </a:solidFill>
          <a:ln/>
        </p:spPr>
      </p:sp>
      <p:sp>
        <p:nvSpPr>
          <p:cNvPr id="19" name="Text 17"/>
          <p:cNvSpPr/>
          <p:nvPr/>
        </p:nvSpPr>
        <p:spPr>
          <a:xfrm>
            <a:off x="6553048"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Regulators &amp; bodies.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SAMA, Tadawul, and other bodies whose announcements matter as signals even though they are never a sales target.</a:t>
            </a:r>
            <a:endParaRPr lang="en-US" sz="1250" dirty="0"/>
          </a:p>
        </p:txBody>
      </p:sp>
      <p:sp>
        <p:nvSpPr>
          <p:cNvPr id="20" name="Shape 18"/>
          <p:cNvSpPr/>
          <p:nvPr/>
        </p:nvSpPr>
        <p:spPr>
          <a:xfrm>
            <a:off x="6324448" y="4879848"/>
            <a:ext cx="82296" cy="82296"/>
          </a:xfrm>
          <a:prstGeom prst="ellipse">
            <a:avLst/>
          </a:prstGeom>
          <a:solidFill>
            <a:srgbClr val="2657A8"/>
          </a:solidFill>
          <a:ln/>
        </p:spPr>
      </p:sp>
      <p:sp>
        <p:nvSpPr>
          <p:cNvPr id="21" name="Text 19"/>
          <p:cNvSpPr/>
          <p:nvPr/>
        </p:nvSpPr>
        <p:spPr>
          <a:xfrm>
            <a:off x="6553048"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Why this matters.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This split was a direct, repeated user requirement — generic CRMs treat every organisation the same, which hides the very different sales motion each category actually needs.</a:t>
            </a:r>
            <a:endParaRPr lang="en-US" sz="1250" dirty="0"/>
          </a:p>
        </p:txBody>
      </p:sp>
      <p:sp>
        <p:nvSpPr>
          <p:cNvPr id="22" name="Text 2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3" name="Text 2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Vendor Master</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vendor_intelligence</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A dedicated intelligence record for any organisation that is itself a technology or services vendor — what they sell, who their clients are, and which technologies and countries they operate in.</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1 vendor_intelligence -&gt; 1 organization (one-to-one)</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linked conceptually to product_fit (what they compete with)</a:t>
            </a:r>
            <a:endParaRPr lang="en-US" sz="1050" dirty="0"/>
          </a:p>
        </p:txBody>
      </p:sp>
      <p:sp>
        <p:nvSpPr>
          <p:cNvPr id="12" name="Shape 10"/>
          <p:cNvSpPr/>
          <p:nvPr/>
        </p:nvSpPr>
        <p:spPr>
          <a:xfrm>
            <a:off x="502920" y="4059936"/>
            <a:ext cx="64008" cy="64008"/>
          </a:xfrm>
          <a:prstGeom prst="ellipse">
            <a:avLst/>
          </a:prstGeom>
          <a:solidFill>
            <a:srgbClr val="2657A8"/>
          </a:solidFill>
          <a:ln/>
        </p:spPr>
      </p:sp>
      <p:sp>
        <p:nvSpPr>
          <p:cNvPr id="13" name="Text 11"/>
          <p:cNvSpPr/>
          <p:nvPr/>
        </p:nvSpPr>
        <p:spPr>
          <a:xfrm>
            <a:off x="704088" y="3950208"/>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linked to org_relationships (vendor-of / partner-of edges)</a:t>
            </a:r>
            <a:endParaRPr lang="en-US" sz="1050" dirty="0"/>
          </a:p>
        </p:txBody>
      </p:sp>
      <p:sp>
        <p:nvSpPr>
          <p:cNvPr id="14" name="Text 12"/>
          <p:cNvSpPr/>
          <p:nvPr/>
        </p:nvSpPr>
        <p:spPr>
          <a:xfrm>
            <a:off x="502920" y="4425696"/>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5" name="Text 13"/>
          <p:cNvSpPr/>
          <p:nvPr/>
        </p:nvSpPr>
        <p:spPr>
          <a:xfrm>
            <a:off x="502920" y="4718304"/>
            <a:ext cx="4206240" cy="1453896"/>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Populated as BD research uncovers a vendor's products, clients, and partners; updated any time new competitive intelligence is gathered. Attached to a bank's page via the 'add vendor' flow so a bank's known vendor relationships are visible on its own page.</a:t>
            </a:r>
            <a:endParaRPr lang="en-US" sz="10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80010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products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List of products/services this vendor offers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capabilities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Technical or functional capabilities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clients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Known client organisations (competitive intel)</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technologies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Underlying technologies they build on</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case_studies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Known reference deployments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7" name="Text 1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8" name="Text 1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People Master</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persons</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The master record for every individual contact — over 40 fields covering identity, role, seniority, contact channels, outreach state, and BD-specific placement.</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persons.current_org_id -&gt; organizations.id</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1 person -&gt; many outreach_channels (LinkedIn/email/phone/WhatsApp)</a:t>
            </a:r>
            <a:endParaRPr lang="en-US" sz="1050" dirty="0"/>
          </a:p>
        </p:txBody>
      </p:sp>
      <p:sp>
        <p:nvSpPr>
          <p:cNvPr id="12" name="Shape 10"/>
          <p:cNvSpPr/>
          <p:nvPr/>
        </p:nvSpPr>
        <p:spPr>
          <a:xfrm>
            <a:off x="502920" y="4059936"/>
            <a:ext cx="64008" cy="64008"/>
          </a:xfrm>
          <a:prstGeom prst="ellipse">
            <a:avLst/>
          </a:prstGeom>
          <a:solidFill>
            <a:srgbClr val="2657A8"/>
          </a:solidFill>
          <a:ln/>
        </p:spPr>
      </p:sp>
      <p:sp>
        <p:nvSpPr>
          <p:cNvPr id="13" name="Text 11"/>
          <p:cNvSpPr/>
          <p:nvPr/>
        </p:nvSpPr>
        <p:spPr>
          <a:xfrm>
            <a:off x="704088" y="3950208"/>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1 person -&gt; many buying_committee_members rows (per product)</a:t>
            </a:r>
            <a:endParaRPr lang="en-US" sz="1050" dirty="0"/>
          </a:p>
        </p:txBody>
      </p:sp>
      <p:sp>
        <p:nvSpPr>
          <p:cNvPr id="14" name="Shape 12"/>
          <p:cNvSpPr/>
          <p:nvPr/>
        </p:nvSpPr>
        <p:spPr>
          <a:xfrm>
            <a:off x="502920" y="4370832"/>
            <a:ext cx="64008" cy="64008"/>
          </a:xfrm>
          <a:prstGeom prst="ellipse">
            <a:avLst/>
          </a:prstGeom>
          <a:solidFill>
            <a:srgbClr val="2657A8"/>
          </a:solidFill>
          <a:ln/>
        </p:spPr>
      </p:sp>
      <p:sp>
        <p:nvSpPr>
          <p:cNvPr id="15" name="Text 13"/>
          <p:cNvSpPr/>
          <p:nvPr/>
        </p:nvSpPr>
        <p:spPr>
          <a:xfrm>
            <a:off x="704088" y="4261104"/>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person &lt;-&gt; person (reporting_manager_id, person_relationships)</a:t>
            </a:r>
            <a:endParaRPr lang="en-US" sz="1050" dirty="0"/>
          </a:p>
        </p:txBody>
      </p:sp>
      <p:sp>
        <p:nvSpPr>
          <p:cNvPr id="16" name="Text 14"/>
          <p:cNvSpPr/>
          <p:nvPr/>
        </p:nvSpPr>
        <p:spPr>
          <a:xfrm>
            <a:off x="502920" y="4736592"/>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7" name="Text 15"/>
          <p:cNvSpPr/>
          <p:nvPr/>
        </p:nvSpPr>
        <p:spPr>
          <a:xfrm>
            <a:off x="502920" y="5029200"/>
            <a:ext cx="4206240" cy="1143000"/>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Created via CSV/Excel bulk upload (including real messy 'LinkedIn Priority Contacts' exports), manual entry, or future enrichment providers. Outreach fields update every time a channel's stage changes; a rollup summary field regenerates automatically.</a:t>
            </a:r>
            <a:endParaRPr lang="en-US" sz="10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80010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seniority_level / persona</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c_suite, VP, director... / Decision Maker, Champion...</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priority_tier / tier</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Source-list priority (Tier 1-3) vs. internal warmth (COLD/WARM/HOT)</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is_indian_origin</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From 'Indians at X' nationality-focused source sheets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bd_flow_column / bd_priority</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Placement on the BD connection/flow diagram</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80010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consent_status / do_not_contact</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Compliance flags enforced before any outreach</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9" name="Text 16"/>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0" name="Text 17"/>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Technology &amp; Product Master</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organizations (tech fields) + products + product_fit</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Two connected ideas: what technology an institution already runs (stored directly on its organisation record), and what Decimal sells (a separate product catalogue), with a fit score connecting the two.</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organizations.core_banking / crm / los / lms / ... (technology stack fields)</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products.id &lt;- product_fit.product_id -&gt; organizations.id</a:t>
            </a:r>
            <a:endParaRPr lang="en-US" sz="1050" dirty="0"/>
          </a:p>
        </p:txBody>
      </p:sp>
      <p:sp>
        <p:nvSpPr>
          <p:cNvPr id="12" name="Shape 10"/>
          <p:cNvSpPr/>
          <p:nvPr/>
        </p:nvSpPr>
        <p:spPr>
          <a:xfrm>
            <a:off x="502920" y="4059936"/>
            <a:ext cx="64008" cy="64008"/>
          </a:xfrm>
          <a:prstGeom prst="ellipse">
            <a:avLst/>
          </a:prstGeom>
          <a:solidFill>
            <a:srgbClr val="2657A8"/>
          </a:solidFill>
          <a:ln/>
        </p:spPr>
      </p:sp>
      <p:sp>
        <p:nvSpPr>
          <p:cNvPr id="13" name="Text 11"/>
          <p:cNvSpPr/>
          <p:nvPr/>
        </p:nvSpPr>
        <p:spPr>
          <a:xfrm>
            <a:off x="704088" y="3950208"/>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product_fit.fit_score / fit_reason / pitch_angle / objection_notes</a:t>
            </a:r>
            <a:endParaRPr lang="en-US" sz="1050" dirty="0"/>
          </a:p>
        </p:txBody>
      </p:sp>
      <p:sp>
        <p:nvSpPr>
          <p:cNvPr id="14" name="Text 12"/>
          <p:cNvSpPr/>
          <p:nvPr/>
        </p:nvSpPr>
        <p:spPr>
          <a:xfrm>
            <a:off x="502920" y="4425696"/>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5" name="Text 13"/>
          <p:cNvSpPr/>
          <p:nvPr/>
        </p:nvSpPr>
        <p:spPr>
          <a:xfrm>
            <a:off x="502920" y="4718304"/>
            <a:ext cx="4206240" cy="1453896"/>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Technology stack fields are populated from research (annual reports, vendor case studies, RFPs); product_fit rows are created or updated by the BD team as they assess how well a product matches a given institution's needs.</a:t>
            </a:r>
            <a:endParaRPr lang="en-US" sz="10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96012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core_banking, los, lms, treasury...</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Named systems already in place at this institution</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ai_initiatives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List of known AI/digital initiatives at this institution</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products.category / competitors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What Decimal sells and who else sells it</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product_fit.fit_score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0-100 estimate of how well a product fits this account</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17" name="Text 1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8" name="Text 1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Initiative &amp; Digital Transformation Programs</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signals (type=rfp/regulatory) + organizations.ai_initiatives</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What the product calls 'Initiatives' today is a live filtered view of the Signals table (tenders, regulatory changes, digital-transformation announcements) rather than its own dedicated table — an honest architectural note, not a hidden gap.</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signals.org_id -&gt; organizations.id</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signals.signal_type = 'rfp' carries deadline / scope_description / estimated_value</a:t>
            </a:r>
            <a:endParaRPr lang="en-US" sz="1050" dirty="0"/>
          </a:p>
        </p:txBody>
      </p:sp>
      <p:sp>
        <p:nvSpPr>
          <p:cNvPr id="12" name="Shape 10"/>
          <p:cNvSpPr/>
          <p:nvPr/>
        </p:nvSpPr>
        <p:spPr>
          <a:xfrm>
            <a:off x="502920" y="4059936"/>
            <a:ext cx="64008" cy="64008"/>
          </a:xfrm>
          <a:prstGeom prst="ellipse">
            <a:avLst/>
          </a:prstGeom>
          <a:solidFill>
            <a:srgbClr val="2657A8"/>
          </a:solidFill>
          <a:ln/>
        </p:spPr>
      </p:sp>
      <p:sp>
        <p:nvSpPr>
          <p:cNvPr id="13" name="Text 11"/>
          <p:cNvSpPr/>
          <p:nvPr/>
        </p:nvSpPr>
        <p:spPr>
          <a:xfrm>
            <a:off x="704088" y="3950208"/>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organizations.ai_initiatives (JSON list) for known named programmes</a:t>
            </a:r>
            <a:endParaRPr lang="en-US" sz="1050" dirty="0"/>
          </a:p>
        </p:txBody>
      </p:sp>
      <p:sp>
        <p:nvSpPr>
          <p:cNvPr id="14" name="Text 12"/>
          <p:cNvSpPr/>
          <p:nvPr/>
        </p:nvSpPr>
        <p:spPr>
          <a:xfrm>
            <a:off x="502920" y="4425696"/>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5" name="Text 13"/>
          <p:cNvSpPr/>
          <p:nvPr/>
        </p:nvSpPr>
        <p:spPr>
          <a:xfrm>
            <a:off x="502920" y="4718304"/>
            <a:ext cx="4206240" cy="1453896"/>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Tender/RFP details are logged manually today by the BD team when heard about through the network (not yet auto-scraped from government tender portals — see Section 15). Regulatory and transformation-programme signals arrive through the news collectors described in Section 6.</a:t>
            </a:r>
            <a:endParaRPr lang="en-US" sz="10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96012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deadline / estimated_value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Tender response deadline and rough deal size</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scope_description</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What is actually being procured</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source_of_knowledge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Who told us about this, distinct from the news source</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ai_initiatives (JSON)</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Named digital-transformation programmes at this institution</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17" name="Text 1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8" name="Text 1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40</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News &amp; Buying Signals Master</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signals + signal_sources</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Every piece of external intelligence DRIP has ever ingested — news, regulatory changes, leadership moves, hiring, funding, partnerships — each carrying an urgency level and a fading confidence score.</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signals.org_id -&gt; organizations.id (NULL = not yet matched to a bank)</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signal_sources.org_id -&gt; organizations.id (a source dedicated to one bank)</a:t>
            </a:r>
            <a:endParaRPr lang="en-US" sz="1050" dirty="0"/>
          </a:p>
        </p:txBody>
      </p:sp>
      <p:sp>
        <p:nvSpPr>
          <p:cNvPr id="12" name="Shape 10"/>
          <p:cNvSpPr/>
          <p:nvPr/>
        </p:nvSpPr>
        <p:spPr>
          <a:xfrm>
            <a:off x="502920" y="4059936"/>
            <a:ext cx="64008" cy="64008"/>
          </a:xfrm>
          <a:prstGeom prst="ellipse">
            <a:avLst/>
          </a:prstGeom>
          <a:solidFill>
            <a:srgbClr val="2657A8"/>
          </a:solidFill>
          <a:ln/>
        </p:spPr>
      </p:sp>
      <p:sp>
        <p:nvSpPr>
          <p:cNvPr id="13" name="Text 11"/>
          <p:cNvSpPr/>
          <p:nvPr/>
        </p:nvSpPr>
        <p:spPr>
          <a:xfrm>
            <a:off x="704088" y="3950208"/>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signals feed account_intelligence / account_scores</a:t>
            </a:r>
            <a:endParaRPr lang="en-US" sz="1050" dirty="0"/>
          </a:p>
        </p:txBody>
      </p:sp>
      <p:sp>
        <p:nvSpPr>
          <p:cNvPr id="14" name="Text 12"/>
          <p:cNvSpPr/>
          <p:nvPr/>
        </p:nvSpPr>
        <p:spPr>
          <a:xfrm>
            <a:off x="502920" y="4425696"/>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5" name="Text 13"/>
          <p:cNvSpPr/>
          <p:nvPr/>
        </p:nvSpPr>
        <p:spPr>
          <a:xfrm>
            <a:off x="502920" y="4718304"/>
            <a:ext cx="4206240" cy="1453896"/>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Automatically ingested by the signal collectors (Section 6) on a timer, or logged manually by the BD team. Every signal is content-hash and URL de-duplicated so the same story is never stored twice, and its confidence score decays over time based on its category.</a:t>
            </a:r>
            <a:endParaRPr lang="en-US" sz="10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96012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signal_type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leadership_change, regulatory, rfp, partnership, hiring...</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urgency</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CRITICAL / HIGH / MEDIUM / LOW</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confidence_score / decay_category</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How much to trust this signal, and how fast that fades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partner_classification</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Is a named partner competitive, complementary, or neutral?</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17" name="Text 1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8" name="Text 1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41</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Subsidiary &amp; Relationship Master</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org_relationships + person_relationships + parent_org_id</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How organisations and people connect to each other beyond the simple 'works at' link — parent/subsidiary company structures, vendor-of relationships, and person-to-person professional connections, each with a strength and confidence score.</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organizations.parent_org_id -&gt; organizations.id (self-referencing hierarchy)</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org_relationships: org_id &lt;-&gt; related_org_id, typed and scored</a:t>
            </a:r>
            <a:endParaRPr lang="en-US" sz="1050" dirty="0"/>
          </a:p>
        </p:txBody>
      </p:sp>
      <p:sp>
        <p:nvSpPr>
          <p:cNvPr id="12" name="Shape 10"/>
          <p:cNvSpPr/>
          <p:nvPr/>
        </p:nvSpPr>
        <p:spPr>
          <a:xfrm>
            <a:off x="502920" y="4059936"/>
            <a:ext cx="64008" cy="64008"/>
          </a:xfrm>
          <a:prstGeom prst="ellipse">
            <a:avLst/>
          </a:prstGeom>
          <a:solidFill>
            <a:srgbClr val="2657A8"/>
          </a:solidFill>
          <a:ln/>
        </p:spPr>
      </p:sp>
      <p:sp>
        <p:nvSpPr>
          <p:cNvPr id="13" name="Text 11"/>
          <p:cNvSpPr/>
          <p:nvPr/>
        </p:nvSpPr>
        <p:spPr>
          <a:xfrm>
            <a:off x="704088" y="3950208"/>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person_relationships: person_id &lt;-&gt; related_person_id, typed and scored</a:t>
            </a:r>
            <a:endParaRPr lang="en-US" sz="1050" dirty="0"/>
          </a:p>
        </p:txBody>
      </p:sp>
      <p:sp>
        <p:nvSpPr>
          <p:cNvPr id="14" name="Text 12"/>
          <p:cNvSpPr/>
          <p:nvPr/>
        </p:nvSpPr>
        <p:spPr>
          <a:xfrm>
            <a:off x="502920" y="4425696"/>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5" name="Text 13"/>
          <p:cNvSpPr/>
          <p:nvPr/>
        </p:nvSpPr>
        <p:spPr>
          <a:xfrm>
            <a:off x="502920" y="4718304"/>
            <a:ext cx="4206240" cy="1453896"/>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Populated from BD research (org charts, LinkedIn connections, introductions) and updated as new relationships are discovered; each relationship carries a type, a strength score, a confidence level, and its source.</a:t>
            </a:r>
            <a:endParaRPr lang="en-US" sz="10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120015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relationship_type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parent_of, subsidiary_of, vendor_of, reports_to, introduced_by...</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strength / confidence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How strong and how certain this relationship is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source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Where this relationship was learned (LinkedIn, referral, research)</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7" name="Text 1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8" name="Text 1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42</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Campaign Master</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email_campaigns + abm_campaigns + audiences</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Every outbound marketing effort — who it's sent to (the audience), what it says (the template), and how it performed — whether a simple one-off email blast or a coordinated account-based campaign across multiple banks.</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email_campaigns.audience_id -&gt; audiences.id</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audiences kind='list' -&gt; audience_members (static) or kind='segment' (live-evaluated)</a:t>
            </a:r>
            <a:endParaRPr lang="en-US" sz="1050" dirty="0"/>
          </a:p>
        </p:txBody>
      </p:sp>
      <p:sp>
        <p:nvSpPr>
          <p:cNvPr id="12" name="Shape 10"/>
          <p:cNvSpPr/>
          <p:nvPr/>
        </p:nvSpPr>
        <p:spPr>
          <a:xfrm>
            <a:off x="502920" y="4059936"/>
            <a:ext cx="64008" cy="64008"/>
          </a:xfrm>
          <a:prstGeom prst="ellipse">
            <a:avLst/>
          </a:prstGeom>
          <a:solidFill>
            <a:srgbClr val="2657A8"/>
          </a:solidFill>
          <a:ln/>
        </p:spPr>
      </p:sp>
      <p:sp>
        <p:nvSpPr>
          <p:cNvPr id="13" name="Text 11"/>
          <p:cNvSpPr/>
          <p:nvPr/>
        </p:nvSpPr>
        <p:spPr>
          <a:xfrm>
            <a:off x="704088" y="3950208"/>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abm_campaign_members -&gt; organizations.id (account-based campaigns)</a:t>
            </a:r>
            <a:endParaRPr lang="en-US" sz="1050" dirty="0"/>
          </a:p>
        </p:txBody>
      </p:sp>
      <p:sp>
        <p:nvSpPr>
          <p:cNvPr id="14" name="Text 12"/>
          <p:cNvSpPr/>
          <p:nvPr/>
        </p:nvSpPr>
        <p:spPr>
          <a:xfrm>
            <a:off x="502920" y="4425696"/>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5" name="Text 13"/>
          <p:cNvSpPr/>
          <p:nvPr/>
        </p:nvSpPr>
        <p:spPr>
          <a:xfrm>
            <a:off x="502920" y="4718304"/>
            <a:ext cx="4206240" cy="1453896"/>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Created from the Campaigns screen: pick or build an audience (built-in cohort, by-bank, or a saved segment with a live member-count preview), attach a template, then create and send (currently dry-run only, see Section 15).</a:t>
            </a:r>
            <a:endParaRPr lang="en-US" sz="10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120015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audience.kind</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'list' (fixed membership) or 'segment' (live filter conditions)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email_campaigns.subject / template_id</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What gets sent and to whom</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ab_variant</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Which A/B variant a recipient received</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7" name="Text 1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8" name="Text 1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43</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Email Master</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email_messages + delivery_events</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One row per individual email actually queued to a specific recipient, plus a normalized event log of everything that happened to it — sent, delivered, opened, clicked, bounced, or marked as spam.</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email_messages.campaign_id -&gt; email_campaigns.id</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email_messages.person_id -&gt; persons.id</a:t>
            </a:r>
            <a:endParaRPr lang="en-US" sz="1050" dirty="0"/>
          </a:p>
        </p:txBody>
      </p:sp>
      <p:sp>
        <p:nvSpPr>
          <p:cNvPr id="12" name="Shape 10"/>
          <p:cNvSpPr/>
          <p:nvPr/>
        </p:nvSpPr>
        <p:spPr>
          <a:xfrm>
            <a:off x="502920" y="4059936"/>
            <a:ext cx="64008" cy="64008"/>
          </a:xfrm>
          <a:prstGeom prst="ellipse">
            <a:avLst/>
          </a:prstGeom>
          <a:solidFill>
            <a:srgbClr val="2657A8"/>
          </a:solidFill>
          <a:ln/>
        </p:spPr>
      </p:sp>
      <p:sp>
        <p:nvSpPr>
          <p:cNvPr id="13" name="Text 11"/>
          <p:cNvSpPr/>
          <p:nvPr/>
        </p:nvSpPr>
        <p:spPr>
          <a:xfrm>
            <a:off x="704088" y="3950208"/>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delivery_events.message_id -&gt; email_messages.id</a:t>
            </a:r>
            <a:endParaRPr lang="en-US" sz="1050" dirty="0"/>
          </a:p>
        </p:txBody>
      </p:sp>
      <p:sp>
        <p:nvSpPr>
          <p:cNvPr id="14" name="Text 12"/>
          <p:cNvSpPr/>
          <p:nvPr/>
        </p:nvSpPr>
        <p:spPr>
          <a:xfrm>
            <a:off x="502920" y="4425696"/>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5" name="Text 13"/>
          <p:cNvSpPr/>
          <p:nvPr/>
        </p:nvSpPr>
        <p:spPr>
          <a:xfrm>
            <a:off x="502920" y="4718304"/>
            <a:ext cx="4206240" cy="1453896"/>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Created when a campaign sends (or dry-runs); delivery events are appended as they occur — a real send will produce these via webhook from the email provider once real sending is enabled (Section 15).</a:t>
            </a:r>
            <a:endParaRPr lang="en-US" sz="10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120015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status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queued / sent / delivered / bounced / complained</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opened_at / clicked_at</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First-touch timestamps for engagement</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delivery_events.event_type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open, click, bounce, complaint, unsubscribe</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7" name="Text 1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8" name="Text 1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44</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Meeting Master</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meetings</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Scheduled meetings with conflict detection and calendar export — the record of every call, demo, or in-person visit planned with a contact or account.</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meetings.org_id -&gt; organizations.id</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meetings.person_ids -&gt; persons.id (attendees)</a:t>
            </a:r>
            <a:endParaRPr lang="en-US" sz="1050" dirty="0"/>
          </a:p>
        </p:txBody>
      </p:sp>
      <p:sp>
        <p:nvSpPr>
          <p:cNvPr id="12" name="Shape 10"/>
          <p:cNvSpPr/>
          <p:nvPr/>
        </p:nvSpPr>
        <p:spPr>
          <a:xfrm>
            <a:off x="502920" y="4059936"/>
            <a:ext cx="64008" cy="64008"/>
          </a:xfrm>
          <a:prstGeom prst="ellipse">
            <a:avLst/>
          </a:prstGeom>
          <a:solidFill>
            <a:srgbClr val="2657A8"/>
          </a:solidFill>
          <a:ln/>
        </p:spPr>
      </p:sp>
      <p:sp>
        <p:nvSpPr>
          <p:cNvPr id="13" name="Text 11"/>
          <p:cNvSpPr/>
          <p:nvPr/>
        </p:nvSpPr>
        <p:spPr>
          <a:xfrm>
            <a:off x="704088" y="3950208"/>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meetings feed into activity_log and the contact/org timeline</a:t>
            </a:r>
            <a:endParaRPr lang="en-US" sz="1050" dirty="0"/>
          </a:p>
        </p:txBody>
      </p:sp>
      <p:sp>
        <p:nvSpPr>
          <p:cNvPr id="14" name="Text 12"/>
          <p:cNvSpPr/>
          <p:nvPr/>
        </p:nvSpPr>
        <p:spPr>
          <a:xfrm>
            <a:off x="502920" y="4425696"/>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5" name="Text 13"/>
          <p:cNvSpPr/>
          <p:nvPr/>
        </p:nvSpPr>
        <p:spPr>
          <a:xfrm>
            <a:off x="502920" y="4718304"/>
            <a:ext cx="4206240" cy="1453896"/>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Created from the Meetings screen; the system checks for double-booking before confirming, and an ICS calendar file can be exported for any meeting. Full two-way Google/Outlook calendar sync is credential-gated and not yet connected (Section 15).</a:t>
            </a:r>
            <a:endParaRPr lang="en-US" sz="105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120015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scheduled_at / duration</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When and how long</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conflict-checked</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Whether this slot overlaps another meeting</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ics_export</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Downloadable calendar file for the meeting</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7" name="Text 1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8" name="Text 1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45</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Opportunity (Deal) Master</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opportunities + buying_committee_members</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Every active or past deal, tracked through a HubSpot-style pipeline of stages, with a money-correct amount, a champion, and a full buying committee attached per product.</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opportunities.org_id -&gt; organizations.id</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opportunities.champion_id -&gt; persons.id</a:t>
            </a:r>
            <a:endParaRPr lang="en-US" sz="1050" dirty="0"/>
          </a:p>
        </p:txBody>
      </p:sp>
      <p:sp>
        <p:nvSpPr>
          <p:cNvPr id="12" name="Shape 10"/>
          <p:cNvSpPr/>
          <p:nvPr/>
        </p:nvSpPr>
        <p:spPr>
          <a:xfrm>
            <a:off x="502920" y="4059936"/>
            <a:ext cx="64008" cy="64008"/>
          </a:xfrm>
          <a:prstGeom prst="ellipse">
            <a:avLst/>
          </a:prstGeom>
          <a:solidFill>
            <a:srgbClr val="2657A8"/>
          </a:solidFill>
          <a:ln/>
        </p:spPr>
      </p:sp>
      <p:sp>
        <p:nvSpPr>
          <p:cNvPr id="13" name="Text 11"/>
          <p:cNvSpPr/>
          <p:nvPr/>
        </p:nvSpPr>
        <p:spPr>
          <a:xfrm>
            <a:off x="704088" y="3950208"/>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buying_committee_members.org_id / person_id / product_id</a:t>
            </a:r>
            <a:endParaRPr lang="en-US" sz="1050" dirty="0"/>
          </a:p>
        </p:txBody>
      </p:sp>
      <p:sp>
        <p:nvSpPr>
          <p:cNvPr id="14" name="Text 12"/>
          <p:cNvSpPr/>
          <p:nvPr/>
        </p:nvSpPr>
        <p:spPr>
          <a:xfrm>
            <a:off x="502920" y="4425696"/>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5" name="Text 13"/>
          <p:cNvSpPr/>
          <p:nvPr/>
        </p:nvSpPr>
        <p:spPr>
          <a:xfrm>
            <a:off x="502920" y="4718304"/>
            <a:ext cx="4206240" cy="1453896"/>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Created from the Pipeline screen or via the API; stage changes are made via drag-and-drop on the deal board (Section 9) and automatically stamp a closed_at date on Won/Lost.</a:t>
            </a:r>
            <a:endParaRPr lang="en-US" sz="105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120015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stage / probability</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Identified, Proposal, Negotiation, Won, Lost, and their odds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amount_minor / currency</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Deal value stored in minor units (cents/halalas) for exact money math</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champion_id</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The internal advocate driving this deal forward at the bank</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7" name="Text 1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8" name="Text 1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46</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Interaction History</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activity_log + audit_log</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Two related but distinct histories: activity_log is the human-authored story of engagement (calls, emails, demos, meetings, notes) while audit_log is the system's own automatic record of every data change, for compliance and troubleshooting.</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activity_log.org_id / person_id -&gt; organizations.id / persons.id</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audit_log covers 28 business tables automatically</a:t>
            </a:r>
            <a:endParaRPr lang="en-US" sz="1050" dirty="0"/>
          </a:p>
        </p:txBody>
      </p:sp>
      <p:sp>
        <p:nvSpPr>
          <p:cNvPr id="12" name="Text 10"/>
          <p:cNvSpPr/>
          <p:nvPr/>
        </p:nvSpPr>
        <p:spPr>
          <a:xfrm>
            <a:off x="502920" y="4114800"/>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3" name="Text 11"/>
          <p:cNvSpPr/>
          <p:nvPr/>
        </p:nvSpPr>
        <p:spPr>
          <a:xfrm>
            <a:off x="502920" y="4407408"/>
            <a:ext cx="4206240" cy="1764792"/>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activity_log rows are created manually ('log activity') or automatically by rule actions; audit_log rows are captured by a database hook that fires on every insert/update/delete — no code has to remember to log anything.</a:t>
            </a:r>
            <a:endParaRPr lang="en-US" sz="105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120015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activity_log.type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email, linkedin, phone, whatsapp, meeting, demo, rfp, poc...</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activity_log.outcome / next_action</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What happened and what's next</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audit_log.before / after</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The exact field values before and after a change</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5"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6"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47</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LinkedIn Activity</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outreach_channels (channel='linkedin') + li_seats + li_actions</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LinkedIn is tracked as one of four outreach channels per contact (alongside email, phone, WhatsApp), plus a separate framework for managing which LinkedIn seats (licensed accounts) are performing which actions.</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outreach_channels.person_id -&gt; persons.id, channel='linkedin'</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li_actions.seat_id -&gt; li_seats.id</a:t>
            </a:r>
            <a:endParaRPr lang="en-US" sz="1050" dirty="0"/>
          </a:p>
        </p:txBody>
      </p:sp>
      <p:sp>
        <p:nvSpPr>
          <p:cNvPr id="12" name="Text 10"/>
          <p:cNvSpPr/>
          <p:nvPr/>
        </p:nvSpPr>
        <p:spPr>
          <a:xfrm>
            <a:off x="502920" y="4114800"/>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3" name="Text 11"/>
          <p:cNvSpPr/>
          <p:nvPr/>
        </p:nvSpPr>
        <p:spPr>
          <a:xfrm>
            <a:off x="502920" y="4407408"/>
            <a:ext cx="4206240" cy="1764792"/>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Every LinkedIn touch (connection sent, accepted, message sent, reply received) is logged as a stage update on that contact's LinkedIn outreach row — a human still performs the action; the system tracks it, it does not automate LinkedIn itself.</a:t>
            </a:r>
            <a:endParaRPr lang="en-US" sz="10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120015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stage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Free text: 'Connection sent', 'Replied', etc., with suggested values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notes / next_step</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Their response, in your own words, and what to do next</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li_seats.daily_limit</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Safe-usage limits per licensed LinkedIn seat</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5"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6"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48</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Named gaps: Procurement History &amp; Pain Points</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Procurement History — not yet a dedicated table.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Today, past procurement/RFP history is captured only as free-text notes on a Signal (scope_description, estimated_value) or on a Person (background_notes). There is no structured 'this bank ran an RFP for X in 2024, vendor Y won it' record you can query across accounts.</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Pain Points — not yet a dedicated table.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Similarly, a contact's stated pain points live only inside free-text fields (pitch_notes, activity_log notes) — real, but not structured enough to answer 'show me every account with a fraud-detection pain point' in one query.</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Why this is worth building.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Both are high business value: a structured Pain Point table would let AI-driven next-best-action recommendations (Section 11) reason over them directly instead of re-reading free text every time.</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How it should be implemented.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Two new small tables — procurement_history (org_id, product_category, vendor_won, year, value, source) and pain_points (org_id/person_id, category, description, severity, identified_date) — with light UI: a form on the Account 360 page and a filter in Search. Database impact: two tables, a handful of foreign keys, no changes to existing tables. API impact: two new CRUD routers, following the exact pattern already used everywhere else. UI impact: one new tab and one new filter.</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49</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5 — MASTER DATABASES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Decision Makers — how they're identified today</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Not a separate table — a set of fields and a linking table.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'Decision Maker' is a persona value on the Person record (persona = 'Decision Maker', is_decision_maker = true) combined with a row in buying_committee_members carrying committee_role for a specific product at a specific bank.</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Why per-product, not just per-bank.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same person can be the decision maker for a core-banking deal and merely an influencer for a fraud-detection deal — modelling the committee role per product, not just per person, captures that correctly.</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Where this shows up.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Buying Committee screen (Section 9) renders exactly this data — every named role, per product, per account, in one place.</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What is still manual.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Auto-inferring committee roles from signals (for example, promoting someone to 'Decision Maker' automatically after a title change) is a named, not-yet-built capability — see Section 15.</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50</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06</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06</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Data Collection Pipeline</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Where contact and company data actually comes from today, what is deliberately not yet connected, and exactly how a raw file becomes a clean database row.</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Manual upload, CSV/Excel, and the fast DRIP importer</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Live news &amp; regulatory signal collection (RSS)</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Third-party enrichment — built, not yet connected</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Validation, deduplication, scoring, and normalisation</a:t>
            </a:r>
            <a:endParaRPr lang="en-US" sz="12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6 — DATA COLLECTION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Every possible data source — honest status</a:t>
            </a:r>
            <a:endParaRPr lang="en-US" sz="2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345421"/>
                <a:gridCol w="1713962"/>
                <a:gridCol w="7126472"/>
              </a:tblGrid>
              <a:tr h="43226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Status today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How it works / what's missing</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432262">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Manual CSV / Excel upload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The fast original DRIP importer — auto-detects flat tables or messy 'LinkedIn Priority Contacts' exports, safe to re-run</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32262">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Per-bank upload (from a bank's own page)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Same importer, wired directly onto each bank's Contacts tab — added this week</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432262">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Live news &amp; press feeds (RSS)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Argaam, Saudi Gazette, Arab News, SAMA — checked on a timer, auto-matched to a bank by name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32262">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Regulatory sources (SAMA, Tadawul)</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C2760C"/>
                          </a:solidFill>
                          <a:latin typeface="Calibri" pitchFamily="34" charset="0"/>
                          <a:ea typeface="Calibri" pitchFamily="34" charset="-122"/>
                          <a:cs typeface="Calibri" pitchFamily="34" charset="-120"/>
                        </a:rPr>
                        <a:t>IN PROGRESS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EDC"/>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SAMA feed is live; Tadawul and other regulator-specific feeds are not yet added, but adding one is a data row, not a code change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432262">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Website / annual report scraping</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90A2"/>
                          </a:solidFill>
                          <a:latin typeface="Calibri" pitchFamily="34" charset="0"/>
                          <a:ea typeface="Calibri" pitchFamily="34" charset="-122"/>
                          <a:cs typeface="Calibri" pitchFamily="34" charset="-120"/>
                        </a:rPr>
                        <a:t>PLANNED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DEEF2"/>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Not yet built — would need a scheduled scraper plus a PDF/HTML text extractor</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32262">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LinkedIn (people/company data)</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C2760C"/>
                          </a:solidFill>
                          <a:latin typeface="Calibri" pitchFamily="34" charset="0"/>
                          <a:ea typeface="Calibri" pitchFamily="34" charset="-122"/>
                          <a:cs typeface="Calibri" pitchFamily="34" charset="-120"/>
                        </a:rPr>
                        <a:t>IN PROGRESS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EDC"/>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Person LinkedIn URLs and outreach state are tracked; there is no automated LinkedIn scraping — LinkedIn's terms of service make browser automation risky</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432262">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Apollo / Lusha / Clay (contact enrichment)</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C23B3B"/>
                          </a:solidFill>
                          <a:latin typeface="Calibri" pitchFamily="34" charset="0"/>
                          <a:ea typeface="Calibri" pitchFamily="34" charset="-122"/>
                          <a:cs typeface="Calibri" pitchFamily="34" charset="-120"/>
                        </a:rPr>
                        <a:t>BLOCKED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AEA"/>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 pluggable 'waterfall' enrichment engine is built and tested; zero real providers are registered — needs a paid API key and a data contract with the vendor</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32262">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Crunchbase (company/funding data)</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8A90A2"/>
                          </a:solidFill>
                          <a:latin typeface="Calibri" pitchFamily="34" charset="0"/>
                          <a:ea typeface="Calibri" pitchFamily="34" charset="-122"/>
                          <a:cs typeface="Calibri" pitchFamily="34" charset="-120"/>
                        </a:rPr>
                        <a:t>PLANNED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DEEF2"/>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Not yet built — same shape of work as any other enrichment provider once prioritised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432262">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Vendor &amp; procurement portal websites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90A2"/>
                          </a:solidFill>
                          <a:latin typeface="Calibri" pitchFamily="34" charset="0"/>
                          <a:ea typeface="Calibri" pitchFamily="34" charset="-122"/>
                          <a:cs typeface="Calibri" pitchFamily="34" charset="-120"/>
                        </a:rPr>
                        <a:t>PLANNED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DEEF2"/>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Not yet built — see Section 5's Procurement History gap</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32262">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Manual BD research notes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Background notes, pitch notes, and connection paths are first-class fields on every contact</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51</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6 — DATA COLLECTION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How a spreadsheet becomes clean database rows</a:t>
            </a:r>
            <a:endParaRPr lang="en-US" sz="2600" dirty="0"/>
          </a:p>
        </p:txBody>
      </p:sp>
      <p:sp>
        <p:nvSpPr>
          <p:cNvPr id="4" name="Shape 2"/>
          <p:cNvSpPr/>
          <p:nvPr/>
        </p:nvSpPr>
        <p:spPr>
          <a:xfrm>
            <a:off x="1263061" y="1691640"/>
            <a:ext cx="512064" cy="512064"/>
          </a:xfrm>
          <a:prstGeom prst="ellipse">
            <a:avLst/>
          </a:prstGeom>
          <a:solidFill>
            <a:srgbClr val="0B1220"/>
          </a:solidFill>
          <a:ln/>
        </p:spPr>
      </p:sp>
      <p:sp>
        <p:nvSpPr>
          <p:cNvPr id="5" name="Text 3"/>
          <p:cNvSpPr/>
          <p:nvPr/>
        </p:nvSpPr>
        <p:spPr>
          <a:xfrm>
            <a:off x="1263061"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1</a:t>
            </a:r>
            <a:endParaRPr lang="en-US" sz="2000" dirty="0"/>
          </a:p>
        </p:txBody>
      </p:sp>
      <p:sp>
        <p:nvSpPr>
          <p:cNvPr id="6" name="Shape 4"/>
          <p:cNvSpPr/>
          <p:nvPr/>
        </p:nvSpPr>
        <p:spPr>
          <a:xfrm>
            <a:off x="1793413" y="1947672"/>
            <a:ext cx="1739737" cy="0"/>
          </a:xfrm>
          <a:prstGeom prst="line">
            <a:avLst/>
          </a:prstGeom>
          <a:noFill/>
          <a:ln w="19050">
            <a:solidFill>
              <a:srgbClr val="E1E5EE"/>
            </a:solidFill>
            <a:prstDash val="dash"/>
          </a:ln>
        </p:spPr>
      </p:sp>
      <p:sp>
        <p:nvSpPr>
          <p:cNvPr id="7" name="Text 5"/>
          <p:cNvSpPr/>
          <p:nvPr/>
        </p:nvSpPr>
        <p:spPr>
          <a:xfrm>
            <a:off x="502920"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Detect shape</a:t>
            </a:r>
            <a:endParaRPr lang="en-US" sz="1250" dirty="0"/>
          </a:p>
        </p:txBody>
      </p:sp>
      <p:sp>
        <p:nvSpPr>
          <p:cNvPr id="8" name="Text 6"/>
          <p:cNvSpPr/>
          <p:nvPr/>
        </p:nvSpPr>
        <p:spPr>
          <a:xfrm>
            <a:off x="502920"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Is this a flat table, or a real messy 'LinkedIn Priority Contacts' export with tier dividers?</a:t>
            </a:r>
            <a:endParaRPr lang="en-US" sz="1080" dirty="0"/>
          </a:p>
        </p:txBody>
      </p:sp>
      <p:sp>
        <p:nvSpPr>
          <p:cNvPr id="9" name="Shape 7"/>
          <p:cNvSpPr/>
          <p:nvPr/>
        </p:nvSpPr>
        <p:spPr>
          <a:xfrm>
            <a:off x="3551438" y="1691640"/>
            <a:ext cx="512064" cy="512064"/>
          </a:xfrm>
          <a:prstGeom prst="ellipse">
            <a:avLst/>
          </a:prstGeom>
          <a:solidFill>
            <a:srgbClr val="0B1220"/>
          </a:solidFill>
          <a:ln/>
        </p:spPr>
      </p:sp>
      <p:sp>
        <p:nvSpPr>
          <p:cNvPr id="10" name="Text 8"/>
          <p:cNvSpPr/>
          <p:nvPr/>
        </p:nvSpPr>
        <p:spPr>
          <a:xfrm>
            <a:off x="3551438"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2</a:t>
            </a:r>
            <a:endParaRPr lang="en-US" sz="2000" dirty="0"/>
          </a:p>
        </p:txBody>
      </p:sp>
      <p:sp>
        <p:nvSpPr>
          <p:cNvPr id="11" name="Shape 9"/>
          <p:cNvSpPr/>
          <p:nvPr/>
        </p:nvSpPr>
        <p:spPr>
          <a:xfrm>
            <a:off x="4081790" y="1947672"/>
            <a:ext cx="1739737" cy="0"/>
          </a:xfrm>
          <a:prstGeom prst="line">
            <a:avLst/>
          </a:prstGeom>
          <a:noFill/>
          <a:ln w="19050">
            <a:solidFill>
              <a:srgbClr val="E1E5EE"/>
            </a:solidFill>
            <a:prstDash val="dash"/>
          </a:ln>
        </p:spPr>
      </p:sp>
      <p:sp>
        <p:nvSpPr>
          <p:cNvPr id="12" name="Text 10"/>
          <p:cNvSpPr/>
          <p:nvPr/>
        </p:nvSpPr>
        <p:spPr>
          <a:xfrm>
            <a:off x="2791297"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Extract</a:t>
            </a:r>
            <a:endParaRPr lang="en-US" sz="1250" dirty="0"/>
          </a:p>
        </p:txBody>
      </p:sp>
      <p:sp>
        <p:nvSpPr>
          <p:cNvPr id="13" name="Text 11"/>
          <p:cNvSpPr/>
          <p:nvPr/>
        </p:nvSpPr>
        <p:spPr>
          <a:xfrm>
            <a:off x="2791297"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Pull out names, titles, and LinkedIn URLs (even from hyperlinks hidden in a name cell)</a:t>
            </a:r>
            <a:endParaRPr lang="en-US" sz="1080" dirty="0"/>
          </a:p>
        </p:txBody>
      </p:sp>
      <p:sp>
        <p:nvSpPr>
          <p:cNvPr id="14" name="Shape 12"/>
          <p:cNvSpPr/>
          <p:nvPr/>
        </p:nvSpPr>
        <p:spPr>
          <a:xfrm>
            <a:off x="5839816" y="1691640"/>
            <a:ext cx="512064" cy="512064"/>
          </a:xfrm>
          <a:prstGeom prst="ellipse">
            <a:avLst/>
          </a:prstGeom>
          <a:solidFill>
            <a:srgbClr val="0B1220"/>
          </a:solidFill>
          <a:ln/>
        </p:spPr>
      </p:sp>
      <p:sp>
        <p:nvSpPr>
          <p:cNvPr id="15" name="Text 13"/>
          <p:cNvSpPr/>
          <p:nvPr/>
        </p:nvSpPr>
        <p:spPr>
          <a:xfrm>
            <a:off x="5839816"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6370168" y="1947672"/>
            <a:ext cx="1739737" cy="0"/>
          </a:xfrm>
          <a:prstGeom prst="line">
            <a:avLst/>
          </a:prstGeom>
          <a:noFill/>
          <a:ln w="19050">
            <a:solidFill>
              <a:srgbClr val="E1E5EE"/>
            </a:solidFill>
            <a:prstDash val="dash"/>
          </a:ln>
        </p:spPr>
      </p:sp>
      <p:sp>
        <p:nvSpPr>
          <p:cNvPr id="17" name="Text 15"/>
          <p:cNvSpPr/>
          <p:nvPr/>
        </p:nvSpPr>
        <p:spPr>
          <a:xfrm>
            <a:off x="5079675"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Match institution</a:t>
            </a:r>
            <a:endParaRPr lang="en-US" sz="1250" dirty="0"/>
          </a:p>
        </p:txBody>
      </p:sp>
      <p:sp>
        <p:nvSpPr>
          <p:cNvPr id="18" name="Text 16"/>
          <p:cNvSpPr/>
          <p:nvPr/>
        </p:nvSpPr>
        <p:spPr>
          <a:xfrm>
            <a:off x="5079675"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From a 'Company' column, or a per-filename mapping if the sheet doesn't have one</a:t>
            </a:r>
            <a:endParaRPr lang="en-US" sz="1080" dirty="0"/>
          </a:p>
        </p:txBody>
      </p:sp>
      <p:sp>
        <p:nvSpPr>
          <p:cNvPr id="19" name="Shape 17"/>
          <p:cNvSpPr/>
          <p:nvPr/>
        </p:nvSpPr>
        <p:spPr>
          <a:xfrm>
            <a:off x="8128193" y="1691640"/>
            <a:ext cx="512064" cy="512064"/>
          </a:xfrm>
          <a:prstGeom prst="ellipse">
            <a:avLst/>
          </a:prstGeom>
          <a:solidFill>
            <a:srgbClr val="0B1220"/>
          </a:solidFill>
          <a:ln/>
        </p:spPr>
      </p:sp>
      <p:sp>
        <p:nvSpPr>
          <p:cNvPr id="20" name="Text 18"/>
          <p:cNvSpPr/>
          <p:nvPr/>
        </p:nvSpPr>
        <p:spPr>
          <a:xfrm>
            <a:off x="8128193"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4</a:t>
            </a:r>
            <a:endParaRPr lang="en-US" sz="2000" dirty="0"/>
          </a:p>
        </p:txBody>
      </p:sp>
      <p:sp>
        <p:nvSpPr>
          <p:cNvPr id="21" name="Shape 19"/>
          <p:cNvSpPr/>
          <p:nvPr/>
        </p:nvSpPr>
        <p:spPr>
          <a:xfrm>
            <a:off x="8658545" y="1947672"/>
            <a:ext cx="1739737" cy="0"/>
          </a:xfrm>
          <a:prstGeom prst="line">
            <a:avLst/>
          </a:prstGeom>
          <a:noFill/>
          <a:ln w="19050">
            <a:solidFill>
              <a:srgbClr val="E1E5EE"/>
            </a:solidFill>
            <a:prstDash val="dash"/>
          </a:ln>
        </p:spPr>
      </p:sp>
      <p:sp>
        <p:nvSpPr>
          <p:cNvPr id="22" name="Text 20"/>
          <p:cNvSpPr/>
          <p:nvPr/>
        </p:nvSpPr>
        <p:spPr>
          <a:xfrm>
            <a:off x="7368052"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De-duplicate</a:t>
            </a:r>
            <a:endParaRPr lang="en-US" sz="1250" dirty="0"/>
          </a:p>
        </p:txBody>
      </p:sp>
      <p:sp>
        <p:nvSpPr>
          <p:cNvPr id="23" name="Text 21"/>
          <p:cNvSpPr/>
          <p:nvPr/>
        </p:nvSpPr>
        <p:spPr>
          <a:xfrm>
            <a:off x="7368052"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Match on name + institution; re-running the same file updates, never duplicates</a:t>
            </a:r>
            <a:endParaRPr lang="en-US" sz="1080" dirty="0"/>
          </a:p>
        </p:txBody>
      </p:sp>
      <p:sp>
        <p:nvSpPr>
          <p:cNvPr id="24" name="Shape 22"/>
          <p:cNvSpPr/>
          <p:nvPr/>
        </p:nvSpPr>
        <p:spPr>
          <a:xfrm>
            <a:off x="10416570" y="1691640"/>
            <a:ext cx="512064" cy="512064"/>
          </a:xfrm>
          <a:prstGeom prst="ellipse">
            <a:avLst/>
          </a:prstGeom>
          <a:solidFill>
            <a:srgbClr val="0B1220"/>
          </a:solidFill>
          <a:ln/>
        </p:spPr>
      </p:sp>
      <p:sp>
        <p:nvSpPr>
          <p:cNvPr id="25" name="Text 23"/>
          <p:cNvSpPr/>
          <p:nvPr/>
        </p:nvSpPr>
        <p:spPr>
          <a:xfrm>
            <a:off x="10416570"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5</a:t>
            </a:r>
            <a:endParaRPr lang="en-US" sz="2000" dirty="0"/>
          </a:p>
        </p:txBody>
      </p:sp>
      <p:sp>
        <p:nvSpPr>
          <p:cNvPr id="26" name="Text 24"/>
          <p:cNvSpPr/>
          <p:nvPr/>
        </p:nvSpPr>
        <p:spPr>
          <a:xfrm>
            <a:off x="9656430"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Save &amp; score</a:t>
            </a:r>
            <a:endParaRPr lang="en-US" sz="1250" dirty="0"/>
          </a:p>
        </p:txBody>
      </p:sp>
      <p:sp>
        <p:nvSpPr>
          <p:cNvPr id="27" name="Text 25"/>
          <p:cNvSpPr/>
          <p:nvPr/>
        </p:nvSpPr>
        <p:spPr>
          <a:xfrm>
            <a:off x="9656430"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Row is saved, tier and priority score calculated, ready to use immediately</a:t>
            </a:r>
            <a:endParaRPr lang="en-US" sz="1080" dirty="0"/>
          </a:p>
        </p:txBody>
      </p:sp>
      <p:sp>
        <p:nvSpPr>
          <p:cNvPr id="28" name="Text 26"/>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9" name="Text 27"/>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52</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6 — DATA COLLECTION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How a news article becomes an account signal</a:t>
            </a:r>
            <a:endParaRPr lang="en-US" sz="2600" dirty="0"/>
          </a:p>
        </p:txBody>
      </p:sp>
      <p:sp>
        <p:nvSpPr>
          <p:cNvPr id="4" name="Shape 2"/>
          <p:cNvSpPr/>
          <p:nvPr/>
        </p:nvSpPr>
        <p:spPr>
          <a:xfrm>
            <a:off x="1263061" y="1691640"/>
            <a:ext cx="512064" cy="512064"/>
          </a:xfrm>
          <a:prstGeom prst="ellipse">
            <a:avLst/>
          </a:prstGeom>
          <a:solidFill>
            <a:srgbClr val="0B1220"/>
          </a:solidFill>
          <a:ln/>
        </p:spPr>
      </p:sp>
      <p:sp>
        <p:nvSpPr>
          <p:cNvPr id="5" name="Text 3"/>
          <p:cNvSpPr/>
          <p:nvPr/>
        </p:nvSpPr>
        <p:spPr>
          <a:xfrm>
            <a:off x="1263061"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1</a:t>
            </a:r>
            <a:endParaRPr lang="en-US" sz="2000" dirty="0"/>
          </a:p>
        </p:txBody>
      </p:sp>
      <p:sp>
        <p:nvSpPr>
          <p:cNvPr id="6" name="Shape 4"/>
          <p:cNvSpPr/>
          <p:nvPr/>
        </p:nvSpPr>
        <p:spPr>
          <a:xfrm>
            <a:off x="1793413" y="1947672"/>
            <a:ext cx="1739737" cy="0"/>
          </a:xfrm>
          <a:prstGeom prst="line">
            <a:avLst/>
          </a:prstGeom>
          <a:noFill/>
          <a:ln w="19050">
            <a:solidFill>
              <a:srgbClr val="E1E5EE"/>
            </a:solidFill>
            <a:prstDash val="dash"/>
          </a:ln>
        </p:spPr>
      </p:sp>
      <p:sp>
        <p:nvSpPr>
          <p:cNvPr id="7" name="Text 5"/>
          <p:cNvSpPr/>
          <p:nvPr/>
        </p:nvSpPr>
        <p:spPr>
          <a:xfrm>
            <a:off x="502920"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Fetch</a:t>
            </a:r>
            <a:endParaRPr lang="en-US" sz="1250" dirty="0"/>
          </a:p>
        </p:txBody>
      </p:sp>
      <p:sp>
        <p:nvSpPr>
          <p:cNvPr id="8" name="Text 6"/>
          <p:cNvSpPr/>
          <p:nvPr/>
        </p:nvSpPr>
        <p:spPr>
          <a:xfrm>
            <a:off x="502920"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Each configured source is checked on its own timer (every 60-240 minutes)</a:t>
            </a:r>
            <a:endParaRPr lang="en-US" sz="1080" dirty="0"/>
          </a:p>
        </p:txBody>
      </p:sp>
      <p:sp>
        <p:nvSpPr>
          <p:cNvPr id="9" name="Shape 7"/>
          <p:cNvSpPr/>
          <p:nvPr/>
        </p:nvSpPr>
        <p:spPr>
          <a:xfrm>
            <a:off x="3551438" y="1691640"/>
            <a:ext cx="512064" cy="512064"/>
          </a:xfrm>
          <a:prstGeom prst="ellipse">
            <a:avLst/>
          </a:prstGeom>
          <a:solidFill>
            <a:srgbClr val="0B1220"/>
          </a:solidFill>
          <a:ln/>
        </p:spPr>
      </p:sp>
      <p:sp>
        <p:nvSpPr>
          <p:cNvPr id="10" name="Text 8"/>
          <p:cNvSpPr/>
          <p:nvPr/>
        </p:nvSpPr>
        <p:spPr>
          <a:xfrm>
            <a:off x="3551438"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2</a:t>
            </a:r>
            <a:endParaRPr lang="en-US" sz="2000" dirty="0"/>
          </a:p>
        </p:txBody>
      </p:sp>
      <p:sp>
        <p:nvSpPr>
          <p:cNvPr id="11" name="Shape 9"/>
          <p:cNvSpPr/>
          <p:nvPr/>
        </p:nvSpPr>
        <p:spPr>
          <a:xfrm>
            <a:off x="4081790" y="1947672"/>
            <a:ext cx="1739737" cy="0"/>
          </a:xfrm>
          <a:prstGeom prst="line">
            <a:avLst/>
          </a:prstGeom>
          <a:noFill/>
          <a:ln w="19050">
            <a:solidFill>
              <a:srgbClr val="E1E5EE"/>
            </a:solidFill>
            <a:prstDash val="dash"/>
          </a:ln>
        </p:spPr>
      </p:sp>
      <p:sp>
        <p:nvSpPr>
          <p:cNvPr id="12" name="Text 10"/>
          <p:cNvSpPr/>
          <p:nvPr/>
        </p:nvSpPr>
        <p:spPr>
          <a:xfrm>
            <a:off x="2791297"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Parse</a:t>
            </a:r>
            <a:endParaRPr lang="en-US" sz="1250" dirty="0"/>
          </a:p>
        </p:txBody>
      </p:sp>
      <p:sp>
        <p:nvSpPr>
          <p:cNvPr id="13" name="Text 11"/>
          <p:cNvSpPr/>
          <p:nvPr/>
        </p:nvSpPr>
        <p:spPr>
          <a:xfrm>
            <a:off x="2791297"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The article's title, link, and summary are extracted from the feed</a:t>
            </a:r>
            <a:endParaRPr lang="en-US" sz="1080" dirty="0"/>
          </a:p>
        </p:txBody>
      </p:sp>
      <p:sp>
        <p:nvSpPr>
          <p:cNvPr id="14" name="Shape 12"/>
          <p:cNvSpPr/>
          <p:nvPr/>
        </p:nvSpPr>
        <p:spPr>
          <a:xfrm>
            <a:off x="5839816" y="1691640"/>
            <a:ext cx="512064" cy="512064"/>
          </a:xfrm>
          <a:prstGeom prst="ellipse">
            <a:avLst/>
          </a:prstGeom>
          <a:solidFill>
            <a:srgbClr val="0B1220"/>
          </a:solidFill>
          <a:ln/>
        </p:spPr>
      </p:sp>
      <p:sp>
        <p:nvSpPr>
          <p:cNvPr id="15" name="Text 13"/>
          <p:cNvSpPr/>
          <p:nvPr/>
        </p:nvSpPr>
        <p:spPr>
          <a:xfrm>
            <a:off x="5839816"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6370168" y="1947672"/>
            <a:ext cx="1739737" cy="0"/>
          </a:xfrm>
          <a:prstGeom prst="line">
            <a:avLst/>
          </a:prstGeom>
          <a:noFill/>
          <a:ln w="19050">
            <a:solidFill>
              <a:srgbClr val="E1E5EE"/>
            </a:solidFill>
            <a:prstDash val="dash"/>
          </a:ln>
        </p:spPr>
      </p:sp>
      <p:sp>
        <p:nvSpPr>
          <p:cNvPr id="17" name="Text 15"/>
          <p:cNvSpPr/>
          <p:nvPr/>
        </p:nvSpPr>
        <p:spPr>
          <a:xfrm>
            <a:off x="5079675"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Match to a bank</a:t>
            </a:r>
            <a:endParaRPr lang="en-US" sz="1250" dirty="0"/>
          </a:p>
        </p:txBody>
      </p:sp>
      <p:sp>
        <p:nvSpPr>
          <p:cNvPr id="18" name="Text 16"/>
          <p:cNvSpPr/>
          <p:nvPr/>
        </p:nvSpPr>
        <p:spPr>
          <a:xfrm>
            <a:off x="5079675"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Article text is matched against every bank's name — longest name wins to avoid false matches</a:t>
            </a:r>
            <a:endParaRPr lang="en-US" sz="1080" dirty="0"/>
          </a:p>
        </p:txBody>
      </p:sp>
      <p:sp>
        <p:nvSpPr>
          <p:cNvPr id="19" name="Shape 17"/>
          <p:cNvSpPr/>
          <p:nvPr/>
        </p:nvSpPr>
        <p:spPr>
          <a:xfrm>
            <a:off x="8128193" y="1691640"/>
            <a:ext cx="512064" cy="512064"/>
          </a:xfrm>
          <a:prstGeom prst="ellipse">
            <a:avLst/>
          </a:prstGeom>
          <a:solidFill>
            <a:srgbClr val="0B1220"/>
          </a:solidFill>
          <a:ln/>
        </p:spPr>
      </p:sp>
      <p:sp>
        <p:nvSpPr>
          <p:cNvPr id="20" name="Text 18"/>
          <p:cNvSpPr/>
          <p:nvPr/>
        </p:nvSpPr>
        <p:spPr>
          <a:xfrm>
            <a:off x="8128193"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4</a:t>
            </a:r>
            <a:endParaRPr lang="en-US" sz="2000" dirty="0"/>
          </a:p>
        </p:txBody>
      </p:sp>
      <p:sp>
        <p:nvSpPr>
          <p:cNvPr id="21" name="Shape 19"/>
          <p:cNvSpPr/>
          <p:nvPr/>
        </p:nvSpPr>
        <p:spPr>
          <a:xfrm>
            <a:off x="8658545" y="1947672"/>
            <a:ext cx="1739737" cy="0"/>
          </a:xfrm>
          <a:prstGeom prst="line">
            <a:avLst/>
          </a:prstGeom>
          <a:noFill/>
          <a:ln w="19050">
            <a:solidFill>
              <a:srgbClr val="E1E5EE"/>
            </a:solidFill>
            <a:prstDash val="dash"/>
          </a:ln>
        </p:spPr>
      </p:sp>
      <p:sp>
        <p:nvSpPr>
          <p:cNvPr id="22" name="Text 20"/>
          <p:cNvSpPr/>
          <p:nvPr/>
        </p:nvSpPr>
        <p:spPr>
          <a:xfrm>
            <a:off x="7368052"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De-duplicate</a:t>
            </a:r>
            <a:endParaRPr lang="en-US" sz="1250" dirty="0"/>
          </a:p>
        </p:txBody>
      </p:sp>
      <p:sp>
        <p:nvSpPr>
          <p:cNvPr id="23" name="Text 21"/>
          <p:cNvSpPr/>
          <p:nvPr/>
        </p:nvSpPr>
        <p:spPr>
          <a:xfrm>
            <a:off x="7368052"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A content fingerprint and the article's URL both prevent the same story being stored twice</a:t>
            </a:r>
            <a:endParaRPr lang="en-US" sz="1080" dirty="0"/>
          </a:p>
        </p:txBody>
      </p:sp>
      <p:sp>
        <p:nvSpPr>
          <p:cNvPr id="24" name="Shape 22"/>
          <p:cNvSpPr/>
          <p:nvPr/>
        </p:nvSpPr>
        <p:spPr>
          <a:xfrm>
            <a:off x="10416570" y="1691640"/>
            <a:ext cx="512064" cy="512064"/>
          </a:xfrm>
          <a:prstGeom prst="ellipse">
            <a:avLst/>
          </a:prstGeom>
          <a:solidFill>
            <a:srgbClr val="0B1220"/>
          </a:solidFill>
          <a:ln/>
        </p:spPr>
      </p:sp>
      <p:sp>
        <p:nvSpPr>
          <p:cNvPr id="25" name="Text 23"/>
          <p:cNvSpPr/>
          <p:nvPr/>
        </p:nvSpPr>
        <p:spPr>
          <a:xfrm>
            <a:off x="10416570"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5</a:t>
            </a:r>
            <a:endParaRPr lang="en-US" sz="2000" dirty="0"/>
          </a:p>
        </p:txBody>
      </p:sp>
      <p:sp>
        <p:nvSpPr>
          <p:cNvPr id="26" name="Text 24"/>
          <p:cNvSpPr/>
          <p:nvPr/>
        </p:nvSpPr>
        <p:spPr>
          <a:xfrm>
            <a:off x="9656430"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Score &amp; alert</a:t>
            </a:r>
            <a:endParaRPr lang="en-US" sz="1250" dirty="0"/>
          </a:p>
        </p:txBody>
      </p:sp>
      <p:sp>
        <p:nvSpPr>
          <p:cNvPr id="27" name="Text 25"/>
          <p:cNvSpPr/>
          <p:nvPr/>
        </p:nvSpPr>
        <p:spPr>
          <a:xfrm>
            <a:off x="9656430"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The signal gets an urgency level and a fading confidence score, then appears on that bank's page</a:t>
            </a:r>
            <a:endParaRPr lang="en-US" sz="1080" dirty="0"/>
          </a:p>
        </p:txBody>
      </p:sp>
      <p:sp>
        <p:nvSpPr>
          <p:cNvPr id="28" name="Text 26"/>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9" name="Text 27"/>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53</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6 — DATA COLLECTION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Validation, deduplication, enrichment, scoring, and normalisation</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Validation.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Email addresses are checked for correct syntax on the way in; required fields (name, institution) are enforced before a row is saved.</a:t>
            </a:r>
            <a:endParaRPr lang="en-US" sz="1350" dirty="0"/>
          </a:p>
        </p:txBody>
      </p:sp>
      <p:sp>
        <p:nvSpPr>
          <p:cNvPr id="6" name="Shape 4"/>
          <p:cNvSpPr/>
          <p:nvPr/>
        </p:nvSpPr>
        <p:spPr>
          <a:xfrm>
            <a:off x="502920" y="2468880"/>
            <a:ext cx="100584" cy="100584"/>
          </a:xfrm>
          <a:prstGeom prst="ellipse">
            <a:avLst/>
          </a:prstGeom>
          <a:solidFill>
            <a:srgbClr val="C9A227"/>
          </a:solidFill>
          <a:ln/>
        </p:spPr>
      </p:sp>
      <p:sp>
        <p:nvSpPr>
          <p:cNvPr id="7" name="Text 5"/>
          <p:cNvSpPr/>
          <p:nvPr/>
        </p:nvSpPr>
        <p:spPr>
          <a:xfrm>
            <a:off x="777240" y="2331720"/>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Deduplication — three separate layers.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Within one import batch (in-memory tracking as the file is processed), against existing database rows (name + institution match for people; unique canonical name for banks), and for signals, both a content-hash and a unique URL constraint.</a:t>
            </a:r>
            <a:endParaRPr lang="en-US" sz="1350" dirty="0"/>
          </a:p>
        </p:txBody>
      </p:sp>
      <p:sp>
        <p:nvSpPr>
          <p:cNvPr id="8" name="Shape 6"/>
          <p:cNvSpPr/>
          <p:nvPr/>
        </p:nvSpPr>
        <p:spPr>
          <a:xfrm>
            <a:off x="502920" y="3438144"/>
            <a:ext cx="100584" cy="100584"/>
          </a:xfrm>
          <a:prstGeom prst="ellipse">
            <a:avLst/>
          </a:prstGeom>
          <a:solidFill>
            <a:srgbClr val="C9A227"/>
          </a:solidFill>
          <a:ln/>
        </p:spPr>
      </p:sp>
      <p:sp>
        <p:nvSpPr>
          <p:cNvPr id="9" name="Text 7"/>
          <p:cNvSpPr/>
          <p:nvPr/>
        </p:nvSpPr>
        <p:spPr>
          <a:xfrm>
            <a:off x="777240" y="3300984"/>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Enrichment — the waterfall model.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pluggable 'try provider A, then B, then C until the required fields are filled' engine already exists and is tested; a confirmed field is never silently overwritten by a lower-confidence guess. It has no real providers plugged in yet (see the honesty table).</a:t>
            </a:r>
            <a:endParaRPr lang="en-US" sz="1350" dirty="0"/>
          </a:p>
        </p:txBody>
      </p:sp>
      <p:sp>
        <p:nvSpPr>
          <p:cNvPr id="10" name="Shape 8"/>
          <p:cNvSpPr/>
          <p:nvPr/>
        </p:nvSpPr>
        <p:spPr>
          <a:xfrm>
            <a:off x="502920" y="4407408"/>
            <a:ext cx="100584" cy="100584"/>
          </a:xfrm>
          <a:prstGeom prst="ellipse">
            <a:avLst/>
          </a:prstGeom>
          <a:solidFill>
            <a:srgbClr val="C9A227"/>
          </a:solidFill>
          <a:ln/>
        </p:spPr>
      </p:sp>
      <p:sp>
        <p:nvSpPr>
          <p:cNvPr id="11" name="Text 9"/>
          <p:cNvSpPr/>
          <p:nvPr/>
        </p:nvSpPr>
        <p:spPr>
          <a:xfrm>
            <a:off x="777240" y="4270248"/>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Scoring.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Every contact gets a priority score and warmth level; every account gets a score blending signal activity and buying-committee coverage — the exact formula is documented and testable, not a black box.</a:t>
            </a:r>
            <a:endParaRPr lang="en-US" sz="1350" dirty="0"/>
          </a:p>
        </p:txBody>
      </p:sp>
      <p:sp>
        <p:nvSpPr>
          <p:cNvPr id="12" name="Shape 10"/>
          <p:cNvSpPr/>
          <p:nvPr/>
        </p:nvSpPr>
        <p:spPr>
          <a:xfrm>
            <a:off x="502920" y="5376672"/>
            <a:ext cx="100584" cy="100584"/>
          </a:xfrm>
          <a:prstGeom prst="ellipse">
            <a:avLst/>
          </a:prstGeom>
          <a:solidFill>
            <a:srgbClr val="C9A227"/>
          </a:solidFill>
          <a:ln/>
        </p:spPr>
      </p:sp>
      <p:sp>
        <p:nvSpPr>
          <p:cNvPr id="13" name="Text 11"/>
          <p:cNvSpPr/>
          <p:nvPr/>
        </p:nvSpPr>
        <p:spPr>
          <a:xfrm>
            <a:off x="777240" y="5239512"/>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Normalisation.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Names, titles, and institution references are standardised (for example, matching 'Al Rajhi Bank' and 'Al-Rajhi' to the same canonical organisation) so the same entity is never split across two records.</a:t>
            </a:r>
            <a:endParaRPr lang="en-US" sz="1350" dirty="0"/>
          </a:p>
        </p:txBody>
      </p:sp>
      <p:sp>
        <p:nvSpPr>
          <p:cNvPr id="14"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5"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54</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6 — DATA COLLECTION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What unlocks the sources that are missing</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Apollo / Lusha / Clay.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Needs: a commercial account with the provider, an API key, and roughly a day of engineering to write one adapter behind the existing waterfall interface — the hard part (the engine itself) is already done.</a:t>
            </a:r>
            <a:endParaRPr lang="en-US" sz="1350" dirty="0"/>
          </a:p>
        </p:txBody>
      </p:sp>
      <p:sp>
        <p:nvSpPr>
          <p:cNvPr id="6" name="Shape 4"/>
          <p:cNvSpPr/>
          <p:nvPr/>
        </p:nvSpPr>
        <p:spPr>
          <a:xfrm>
            <a:off x="502920" y="2468880"/>
            <a:ext cx="100584" cy="100584"/>
          </a:xfrm>
          <a:prstGeom prst="ellipse">
            <a:avLst/>
          </a:prstGeom>
          <a:solidFill>
            <a:srgbClr val="C9A227"/>
          </a:solidFill>
          <a:ln/>
        </p:spPr>
      </p:sp>
      <p:sp>
        <p:nvSpPr>
          <p:cNvPr id="7" name="Text 5"/>
          <p:cNvSpPr/>
          <p:nvPr/>
        </p:nvSpPr>
        <p:spPr>
          <a:xfrm>
            <a:off x="777240" y="2331720"/>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Crunchbase.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Same shape of work — one adapter, once there is a business reason to prioritise company/funding data over contact enrichment.</a:t>
            </a:r>
            <a:endParaRPr lang="en-US" sz="1350" dirty="0"/>
          </a:p>
        </p:txBody>
      </p:sp>
      <p:sp>
        <p:nvSpPr>
          <p:cNvPr id="8" name="Shape 6"/>
          <p:cNvSpPr/>
          <p:nvPr/>
        </p:nvSpPr>
        <p:spPr>
          <a:xfrm>
            <a:off x="502920" y="3438144"/>
            <a:ext cx="100584" cy="100584"/>
          </a:xfrm>
          <a:prstGeom prst="ellipse">
            <a:avLst/>
          </a:prstGeom>
          <a:solidFill>
            <a:srgbClr val="C9A227"/>
          </a:solidFill>
          <a:ln/>
        </p:spPr>
      </p:sp>
      <p:sp>
        <p:nvSpPr>
          <p:cNvPr id="9" name="Text 7"/>
          <p:cNvSpPr/>
          <p:nvPr/>
        </p:nvSpPr>
        <p:spPr>
          <a:xfrm>
            <a:off x="777240" y="3300984"/>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Website &amp; annual report scraping.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Needs a scheduled scraper plus a text-extraction step for PDFs; more engineering effort than an API adapter because there's no clean structured feed to read from.</a:t>
            </a:r>
            <a:endParaRPr lang="en-US" sz="1350" dirty="0"/>
          </a:p>
        </p:txBody>
      </p:sp>
      <p:sp>
        <p:nvSpPr>
          <p:cNvPr id="10" name="Shape 8"/>
          <p:cNvSpPr/>
          <p:nvPr/>
        </p:nvSpPr>
        <p:spPr>
          <a:xfrm>
            <a:off x="502920" y="4407408"/>
            <a:ext cx="100584" cy="100584"/>
          </a:xfrm>
          <a:prstGeom prst="ellipse">
            <a:avLst/>
          </a:prstGeom>
          <a:solidFill>
            <a:srgbClr val="C9A227"/>
          </a:solidFill>
          <a:ln/>
        </p:spPr>
      </p:sp>
      <p:sp>
        <p:nvSpPr>
          <p:cNvPr id="11" name="Text 9"/>
          <p:cNvSpPr/>
          <p:nvPr/>
        </p:nvSpPr>
        <p:spPr>
          <a:xfrm>
            <a:off x="777240" y="4270248"/>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Procurement / tender portals.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Needs identifying the right government or bank-specific portals, then either an API (if one exists) or a scraper — likely the highest-effort, lowest-certainty item on this list.</a:t>
            </a:r>
            <a:endParaRPr lang="en-US" sz="1350" dirty="0"/>
          </a:p>
        </p:txBody>
      </p:sp>
      <p:sp>
        <p:nvSpPr>
          <p:cNvPr id="12" name="Shape 10"/>
          <p:cNvSpPr/>
          <p:nvPr/>
        </p:nvSpPr>
        <p:spPr>
          <a:xfrm>
            <a:off x="502920" y="5376672"/>
            <a:ext cx="100584" cy="100584"/>
          </a:xfrm>
          <a:prstGeom prst="ellipse">
            <a:avLst/>
          </a:prstGeom>
          <a:solidFill>
            <a:srgbClr val="C9A227"/>
          </a:solidFill>
          <a:ln/>
        </p:spPr>
      </p:sp>
      <p:sp>
        <p:nvSpPr>
          <p:cNvPr id="13" name="Text 11"/>
          <p:cNvSpPr/>
          <p:nvPr/>
        </p:nvSpPr>
        <p:spPr>
          <a:xfrm>
            <a:off x="777240" y="5239512"/>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The common thread.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None of these are unsolved engineering problems — every one of them is either a credentials/budget decision or a moderate, well-scoped build. Section 15 prioritises them by leverage.</a:t>
            </a:r>
            <a:endParaRPr lang="en-US" sz="1350" dirty="0"/>
          </a:p>
        </p:txBody>
      </p:sp>
      <p:sp>
        <p:nvSpPr>
          <p:cNvPr id="14"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5"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55</a:t>
            </a:r>
            <a:endParaRPr lang="en-US" sz="8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07</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07</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Contact Intelligence</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How one person connects to everything else in the system — and why thinking of contacts as a graph, not a list, matters.</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What a full contact record contains</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How one contact links to banks, vendors, campaigns, and more</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The unified activity timeline</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Why graph thinking beats a flat contact list</a:t>
            </a:r>
            <a:endParaRPr lang="en-US" sz="12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7 — CONTACT INTELLIGENCE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What one contact is connected to</a:t>
            </a:r>
            <a:endParaRPr lang="en-US" sz="2600" dirty="0"/>
          </a:p>
        </p:txBody>
      </p:sp>
      <p:sp>
        <p:nvSpPr>
          <p:cNvPr id="4" name="Shape 2"/>
          <p:cNvSpPr/>
          <p:nvPr/>
        </p:nvSpPr>
        <p:spPr>
          <a:xfrm>
            <a:off x="502920" y="1371600"/>
            <a:ext cx="2286000" cy="872338"/>
          </a:xfrm>
          <a:prstGeom prst="rect">
            <a:avLst/>
          </a:prstGeom>
          <a:solidFill>
            <a:srgbClr val="0B1220"/>
          </a:solidFill>
          <a:ln/>
        </p:spPr>
      </p:sp>
      <p:sp>
        <p:nvSpPr>
          <p:cNvPr id="5" name="Text 3"/>
          <p:cNvSpPr/>
          <p:nvPr/>
        </p:nvSpPr>
        <p:spPr>
          <a:xfrm>
            <a:off x="640080" y="1371600"/>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The Person</a:t>
            </a:r>
            <a:endParaRPr lang="en-US" sz="1300" dirty="0"/>
          </a:p>
        </p:txBody>
      </p:sp>
      <p:sp>
        <p:nvSpPr>
          <p:cNvPr id="6" name="Shape 4"/>
          <p:cNvSpPr/>
          <p:nvPr/>
        </p:nvSpPr>
        <p:spPr>
          <a:xfrm>
            <a:off x="2971800" y="1426464"/>
            <a:ext cx="8716975" cy="762610"/>
          </a:xfrm>
          <a:prstGeom prst="rect">
            <a:avLst/>
          </a:prstGeom>
          <a:solidFill>
            <a:srgbClr val="F3F5F9"/>
          </a:solidFill>
          <a:ln w="15875">
            <a:solidFill>
              <a:srgbClr val="1E2C4F"/>
            </a:solidFill>
            <a:prstDash val="solid"/>
          </a:ln>
        </p:spPr>
      </p:sp>
      <p:sp>
        <p:nvSpPr>
          <p:cNvPr id="7" name="Text 5"/>
          <p:cNvSpPr/>
          <p:nvPr/>
        </p:nvSpPr>
        <p:spPr>
          <a:xfrm>
            <a:off x="3044952" y="1426464"/>
            <a:ext cx="8570671"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40+ fields: role, seniority, contact channels, consent, BD placement</a:t>
            </a:r>
            <a:endParaRPr lang="en-US" sz="1050" dirty="0"/>
          </a:p>
        </p:txBody>
      </p:sp>
      <p:sp>
        <p:nvSpPr>
          <p:cNvPr id="8" name="Shape 6"/>
          <p:cNvSpPr/>
          <p:nvPr/>
        </p:nvSpPr>
        <p:spPr>
          <a:xfrm>
            <a:off x="502920" y="2353666"/>
            <a:ext cx="2286000" cy="872338"/>
          </a:xfrm>
          <a:prstGeom prst="rect">
            <a:avLst/>
          </a:prstGeom>
          <a:solidFill>
            <a:srgbClr val="0B1220"/>
          </a:solidFill>
          <a:ln/>
        </p:spPr>
      </p:sp>
      <p:sp>
        <p:nvSpPr>
          <p:cNvPr id="9" name="Text 7"/>
          <p:cNvSpPr/>
          <p:nvPr/>
        </p:nvSpPr>
        <p:spPr>
          <a:xfrm>
            <a:off x="640080" y="2353666"/>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Direct links</a:t>
            </a:r>
            <a:endParaRPr lang="en-US" sz="1300" dirty="0"/>
          </a:p>
        </p:txBody>
      </p:sp>
      <p:sp>
        <p:nvSpPr>
          <p:cNvPr id="10" name="Shape 8"/>
          <p:cNvSpPr/>
          <p:nvPr/>
        </p:nvSpPr>
        <p:spPr>
          <a:xfrm>
            <a:off x="2971800" y="2408530"/>
            <a:ext cx="2832506" cy="762610"/>
          </a:xfrm>
          <a:prstGeom prst="rect">
            <a:avLst/>
          </a:prstGeom>
          <a:solidFill>
            <a:srgbClr val="F3F5F9"/>
          </a:solidFill>
          <a:ln w="15875">
            <a:solidFill>
              <a:srgbClr val="1E2C4F"/>
            </a:solidFill>
            <a:prstDash val="solid"/>
          </a:ln>
        </p:spPr>
      </p:sp>
      <p:sp>
        <p:nvSpPr>
          <p:cNvPr id="11" name="Text 9"/>
          <p:cNvSpPr/>
          <p:nvPr/>
        </p:nvSpPr>
        <p:spPr>
          <a:xfrm>
            <a:off x="3044952" y="2408530"/>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Bank / employer</a:t>
            </a:r>
            <a:endParaRPr lang="en-US" sz="1050" dirty="0"/>
          </a:p>
        </p:txBody>
      </p:sp>
      <p:sp>
        <p:nvSpPr>
          <p:cNvPr id="12" name="Shape 10"/>
          <p:cNvSpPr/>
          <p:nvPr/>
        </p:nvSpPr>
        <p:spPr>
          <a:xfrm>
            <a:off x="5914034" y="2408530"/>
            <a:ext cx="2832506" cy="762610"/>
          </a:xfrm>
          <a:prstGeom prst="rect">
            <a:avLst/>
          </a:prstGeom>
          <a:solidFill>
            <a:srgbClr val="F3F5F9"/>
          </a:solidFill>
          <a:ln w="15875">
            <a:solidFill>
              <a:srgbClr val="1E2C4F"/>
            </a:solidFill>
            <a:prstDash val="solid"/>
          </a:ln>
        </p:spPr>
      </p:sp>
      <p:sp>
        <p:nvSpPr>
          <p:cNvPr id="13" name="Text 11"/>
          <p:cNvSpPr/>
          <p:nvPr/>
        </p:nvSpPr>
        <p:spPr>
          <a:xfrm>
            <a:off x="5987186" y="2408530"/>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Buying committee role(s)</a:t>
            </a:r>
            <a:endParaRPr lang="en-US" sz="1050" dirty="0"/>
          </a:p>
        </p:txBody>
      </p:sp>
      <p:sp>
        <p:nvSpPr>
          <p:cNvPr id="14" name="Shape 12"/>
          <p:cNvSpPr/>
          <p:nvPr/>
        </p:nvSpPr>
        <p:spPr>
          <a:xfrm>
            <a:off x="8856269" y="2408530"/>
            <a:ext cx="2832506" cy="762610"/>
          </a:xfrm>
          <a:prstGeom prst="rect">
            <a:avLst/>
          </a:prstGeom>
          <a:solidFill>
            <a:srgbClr val="F3F5F9"/>
          </a:solidFill>
          <a:ln w="15875">
            <a:solidFill>
              <a:srgbClr val="1E2C4F"/>
            </a:solidFill>
            <a:prstDash val="solid"/>
          </a:ln>
        </p:spPr>
      </p:sp>
      <p:sp>
        <p:nvSpPr>
          <p:cNvPr id="15" name="Text 13"/>
          <p:cNvSpPr/>
          <p:nvPr/>
        </p:nvSpPr>
        <p:spPr>
          <a:xfrm>
            <a:off x="8929421" y="2408530"/>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Reporting manager</a:t>
            </a:r>
            <a:endParaRPr lang="en-US" sz="1050" dirty="0"/>
          </a:p>
        </p:txBody>
      </p:sp>
      <p:sp>
        <p:nvSpPr>
          <p:cNvPr id="16" name="Shape 14"/>
          <p:cNvSpPr/>
          <p:nvPr/>
        </p:nvSpPr>
        <p:spPr>
          <a:xfrm>
            <a:off x="502920" y="3335731"/>
            <a:ext cx="2286000" cy="872338"/>
          </a:xfrm>
          <a:prstGeom prst="rect">
            <a:avLst/>
          </a:prstGeom>
          <a:solidFill>
            <a:srgbClr val="0B1220"/>
          </a:solidFill>
          <a:ln/>
        </p:spPr>
      </p:sp>
      <p:sp>
        <p:nvSpPr>
          <p:cNvPr id="17" name="Text 15"/>
          <p:cNvSpPr/>
          <p:nvPr/>
        </p:nvSpPr>
        <p:spPr>
          <a:xfrm>
            <a:off x="640080" y="3335731"/>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Activity links</a:t>
            </a:r>
            <a:endParaRPr lang="en-US" sz="1300" dirty="0"/>
          </a:p>
        </p:txBody>
      </p:sp>
      <p:sp>
        <p:nvSpPr>
          <p:cNvPr id="18" name="Shape 16"/>
          <p:cNvSpPr/>
          <p:nvPr/>
        </p:nvSpPr>
        <p:spPr>
          <a:xfrm>
            <a:off x="2971800" y="3390595"/>
            <a:ext cx="2832506" cy="762610"/>
          </a:xfrm>
          <a:prstGeom prst="rect">
            <a:avLst/>
          </a:prstGeom>
          <a:solidFill>
            <a:srgbClr val="F3F5F9"/>
          </a:solidFill>
          <a:ln w="15875">
            <a:solidFill>
              <a:srgbClr val="1E2C4F"/>
            </a:solidFill>
            <a:prstDash val="solid"/>
          </a:ln>
        </p:spPr>
      </p:sp>
      <p:sp>
        <p:nvSpPr>
          <p:cNvPr id="19" name="Text 17"/>
          <p:cNvSpPr/>
          <p:nvPr/>
        </p:nvSpPr>
        <p:spPr>
          <a:xfrm>
            <a:off x="3044952" y="3390595"/>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Outreach channels (4)</a:t>
            </a:r>
            <a:endParaRPr lang="en-US" sz="1050" dirty="0"/>
          </a:p>
        </p:txBody>
      </p:sp>
      <p:sp>
        <p:nvSpPr>
          <p:cNvPr id="20" name="Shape 18"/>
          <p:cNvSpPr/>
          <p:nvPr/>
        </p:nvSpPr>
        <p:spPr>
          <a:xfrm>
            <a:off x="5914034" y="3390595"/>
            <a:ext cx="2832506" cy="762610"/>
          </a:xfrm>
          <a:prstGeom prst="rect">
            <a:avLst/>
          </a:prstGeom>
          <a:solidFill>
            <a:srgbClr val="F3F5F9"/>
          </a:solidFill>
          <a:ln w="15875">
            <a:solidFill>
              <a:srgbClr val="1E2C4F"/>
            </a:solidFill>
            <a:prstDash val="solid"/>
          </a:ln>
        </p:spPr>
      </p:sp>
      <p:sp>
        <p:nvSpPr>
          <p:cNvPr id="21" name="Text 19"/>
          <p:cNvSpPr/>
          <p:nvPr/>
        </p:nvSpPr>
        <p:spPr>
          <a:xfrm>
            <a:off x="5987186" y="3390595"/>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Activity log entries</a:t>
            </a:r>
            <a:endParaRPr lang="en-US" sz="1050" dirty="0"/>
          </a:p>
        </p:txBody>
      </p:sp>
      <p:sp>
        <p:nvSpPr>
          <p:cNvPr id="22" name="Shape 20"/>
          <p:cNvSpPr/>
          <p:nvPr/>
        </p:nvSpPr>
        <p:spPr>
          <a:xfrm>
            <a:off x="8856269" y="3390595"/>
            <a:ext cx="2832506" cy="762610"/>
          </a:xfrm>
          <a:prstGeom prst="rect">
            <a:avLst/>
          </a:prstGeom>
          <a:solidFill>
            <a:srgbClr val="F3F5F9"/>
          </a:solidFill>
          <a:ln w="15875">
            <a:solidFill>
              <a:srgbClr val="1E2C4F"/>
            </a:solidFill>
            <a:prstDash val="solid"/>
          </a:ln>
        </p:spPr>
      </p:sp>
      <p:sp>
        <p:nvSpPr>
          <p:cNvPr id="23" name="Text 21"/>
          <p:cNvSpPr/>
          <p:nvPr/>
        </p:nvSpPr>
        <p:spPr>
          <a:xfrm>
            <a:off x="8929421" y="3390595"/>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Meetings attended</a:t>
            </a:r>
            <a:endParaRPr lang="en-US" sz="1050" dirty="0"/>
          </a:p>
        </p:txBody>
      </p:sp>
      <p:sp>
        <p:nvSpPr>
          <p:cNvPr id="24" name="Shape 22"/>
          <p:cNvSpPr/>
          <p:nvPr/>
        </p:nvSpPr>
        <p:spPr>
          <a:xfrm>
            <a:off x="502920" y="4317797"/>
            <a:ext cx="2286000" cy="872338"/>
          </a:xfrm>
          <a:prstGeom prst="rect">
            <a:avLst/>
          </a:prstGeom>
          <a:solidFill>
            <a:srgbClr val="0B1220"/>
          </a:solidFill>
          <a:ln/>
        </p:spPr>
      </p:sp>
      <p:sp>
        <p:nvSpPr>
          <p:cNvPr id="25" name="Text 23"/>
          <p:cNvSpPr/>
          <p:nvPr/>
        </p:nvSpPr>
        <p:spPr>
          <a:xfrm>
            <a:off x="640080" y="4317797"/>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Intelligence links</a:t>
            </a:r>
            <a:endParaRPr lang="en-US" sz="1300" dirty="0"/>
          </a:p>
        </p:txBody>
      </p:sp>
      <p:sp>
        <p:nvSpPr>
          <p:cNvPr id="26" name="Shape 24"/>
          <p:cNvSpPr/>
          <p:nvPr/>
        </p:nvSpPr>
        <p:spPr>
          <a:xfrm>
            <a:off x="2971800" y="4372661"/>
            <a:ext cx="2832506" cy="762610"/>
          </a:xfrm>
          <a:prstGeom prst="rect">
            <a:avLst/>
          </a:prstGeom>
          <a:solidFill>
            <a:srgbClr val="F3F5F9"/>
          </a:solidFill>
          <a:ln w="15875">
            <a:solidFill>
              <a:srgbClr val="1E2C4F"/>
            </a:solidFill>
            <a:prstDash val="solid"/>
          </a:ln>
        </p:spPr>
      </p:sp>
      <p:sp>
        <p:nvSpPr>
          <p:cNvPr id="27" name="Text 25"/>
          <p:cNvSpPr/>
          <p:nvPr/>
        </p:nvSpPr>
        <p:spPr>
          <a:xfrm>
            <a:off x="3044952" y="4372661"/>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Signals about their bank</a:t>
            </a:r>
            <a:endParaRPr lang="en-US" sz="1050" dirty="0"/>
          </a:p>
        </p:txBody>
      </p:sp>
      <p:sp>
        <p:nvSpPr>
          <p:cNvPr id="28" name="Shape 26"/>
          <p:cNvSpPr/>
          <p:nvPr/>
        </p:nvSpPr>
        <p:spPr>
          <a:xfrm>
            <a:off x="5914034" y="4372661"/>
            <a:ext cx="2832506" cy="762610"/>
          </a:xfrm>
          <a:prstGeom prst="rect">
            <a:avLst/>
          </a:prstGeom>
          <a:solidFill>
            <a:srgbClr val="F3F5F9"/>
          </a:solidFill>
          <a:ln w="15875">
            <a:solidFill>
              <a:srgbClr val="1E2C4F"/>
            </a:solidFill>
            <a:prstDash val="solid"/>
          </a:ln>
        </p:spPr>
      </p:sp>
      <p:sp>
        <p:nvSpPr>
          <p:cNvPr id="29" name="Text 27"/>
          <p:cNvSpPr/>
          <p:nvPr/>
        </p:nvSpPr>
        <p:spPr>
          <a:xfrm>
            <a:off x="5987186" y="4372661"/>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Products they're linked to</a:t>
            </a:r>
            <a:endParaRPr lang="en-US" sz="1050" dirty="0"/>
          </a:p>
        </p:txBody>
      </p:sp>
      <p:sp>
        <p:nvSpPr>
          <p:cNvPr id="30" name="Shape 28"/>
          <p:cNvSpPr/>
          <p:nvPr/>
        </p:nvSpPr>
        <p:spPr>
          <a:xfrm>
            <a:off x="8856269" y="4372661"/>
            <a:ext cx="2832506" cy="762610"/>
          </a:xfrm>
          <a:prstGeom prst="rect">
            <a:avLst/>
          </a:prstGeom>
          <a:solidFill>
            <a:srgbClr val="F3F5F9"/>
          </a:solidFill>
          <a:ln w="15875">
            <a:solidFill>
              <a:srgbClr val="1E2C4F"/>
            </a:solidFill>
            <a:prstDash val="solid"/>
          </a:ln>
        </p:spPr>
      </p:sp>
      <p:sp>
        <p:nvSpPr>
          <p:cNvPr id="31" name="Text 29"/>
          <p:cNvSpPr/>
          <p:nvPr/>
        </p:nvSpPr>
        <p:spPr>
          <a:xfrm>
            <a:off x="8929421" y="4372661"/>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Relationships to other people</a:t>
            </a:r>
            <a:endParaRPr lang="en-US" sz="1050" dirty="0"/>
          </a:p>
        </p:txBody>
      </p:sp>
      <p:sp>
        <p:nvSpPr>
          <p:cNvPr id="32" name="Shape 30"/>
          <p:cNvSpPr/>
          <p:nvPr/>
        </p:nvSpPr>
        <p:spPr>
          <a:xfrm>
            <a:off x="502920" y="5299862"/>
            <a:ext cx="2286000" cy="872338"/>
          </a:xfrm>
          <a:prstGeom prst="rect">
            <a:avLst/>
          </a:prstGeom>
          <a:solidFill>
            <a:srgbClr val="0B1220"/>
          </a:solidFill>
          <a:ln/>
        </p:spPr>
      </p:sp>
      <p:sp>
        <p:nvSpPr>
          <p:cNvPr id="33" name="Text 31"/>
          <p:cNvSpPr/>
          <p:nvPr/>
        </p:nvSpPr>
        <p:spPr>
          <a:xfrm>
            <a:off x="640080" y="5299862"/>
            <a:ext cx="2011680" cy="872338"/>
          </a:xfrm>
          <a:prstGeom prst="rect">
            <a:avLst/>
          </a:prstGeom>
          <a:noFill/>
          <a:ln/>
        </p:spPr>
        <p:txBody>
          <a:bodyPr wrap="square" rtlCol="0" anchor="ctr"/>
          <a:lstStyle/>
          <a:p>
            <a:pPr algn="l" indent="0" marL="0">
              <a:lnSpc>
                <a:spcPct val="105000"/>
              </a:lnSpc>
              <a:buNone/>
            </a:pPr>
            <a:r>
              <a:rPr lang="en-US" sz="1300" b="1" dirty="0">
                <a:solidFill>
                  <a:srgbClr val="C9A227"/>
                </a:solidFill>
                <a:latin typeface="Cambria" pitchFamily="34" charset="0"/>
                <a:ea typeface="Cambria" pitchFamily="34" charset="-122"/>
                <a:cs typeface="Cambria" pitchFamily="34" charset="-120"/>
              </a:rPr>
              <a:t>Engagement links</a:t>
            </a:r>
            <a:endParaRPr lang="en-US" sz="1300" dirty="0"/>
          </a:p>
        </p:txBody>
      </p:sp>
      <p:sp>
        <p:nvSpPr>
          <p:cNvPr id="34" name="Shape 32"/>
          <p:cNvSpPr/>
          <p:nvPr/>
        </p:nvSpPr>
        <p:spPr>
          <a:xfrm>
            <a:off x="2971800" y="5354726"/>
            <a:ext cx="2832506" cy="762610"/>
          </a:xfrm>
          <a:prstGeom prst="rect">
            <a:avLst/>
          </a:prstGeom>
          <a:solidFill>
            <a:srgbClr val="F3F5F9"/>
          </a:solidFill>
          <a:ln w="15875">
            <a:solidFill>
              <a:srgbClr val="1E2C4F"/>
            </a:solidFill>
            <a:prstDash val="solid"/>
          </a:ln>
        </p:spPr>
      </p:sp>
      <p:sp>
        <p:nvSpPr>
          <p:cNvPr id="35" name="Text 33"/>
          <p:cNvSpPr/>
          <p:nvPr/>
        </p:nvSpPr>
        <p:spPr>
          <a:xfrm>
            <a:off x="3044952" y="5354726"/>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Campaign membership</a:t>
            </a:r>
            <a:endParaRPr lang="en-US" sz="1050" dirty="0"/>
          </a:p>
        </p:txBody>
      </p:sp>
      <p:sp>
        <p:nvSpPr>
          <p:cNvPr id="36" name="Shape 34"/>
          <p:cNvSpPr/>
          <p:nvPr/>
        </p:nvSpPr>
        <p:spPr>
          <a:xfrm>
            <a:off x="5914034" y="5354726"/>
            <a:ext cx="2832506" cy="762610"/>
          </a:xfrm>
          <a:prstGeom prst="rect">
            <a:avLst/>
          </a:prstGeom>
          <a:solidFill>
            <a:srgbClr val="F3F5F9"/>
          </a:solidFill>
          <a:ln w="15875">
            <a:solidFill>
              <a:srgbClr val="1E2C4F"/>
            </a:solidFill>
            <a:prstDash val="solid"/>
          </a:ln>
        </p:spPr>
      </p:sp>
      <p:sp>
        <p:nvSpPr>
          <p:cNvPr id="37" name="Text 35"/>
          <p:cNvSpPr/>
          <p:nvPr/>
        </p:nvSpPr>
        <p:spPr>
          <a:xfrm>
            <a:off x="5987186" y="5354726"/>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Email opens/clicks</a:t>
            </a:r>
            <a:endParaRPr lang="en-US" sz="1050" dirty="0"/>
          </a:p>
        </p:txBody>
      </p:sp>
      <p:sp>
        <p:nvSpPr>
          <p:cNvPr id="38" name="Shape 36"/>
          <p:cNvSpPr/>
          <p:nvPr/>
        </p:nvSpPr>
        <p:spPr>
          <a:xfrm>
            <a:off x="8856269" y="5354726"/>
            <a:ext cx="2832506" cy="762610"/>
          </a:xfrm>
          <a:prstGeom prst="rect">
            <a:avLst/>
          </a:prstGeom>
          <a:solidFill>
            <a:srgbClr val="F3F5F9"/>
          </a:solidFill>
          <a:ln w="15875">
            <a:solidFill>
              <a:srgbClr val="1E2C4F"/>
            </a:solidFill>
            <a:prstDash val="solid"/>
          </a:ln>
        </p:spPr>
      </p:sp>
      <p:sp>
        <p:nvSpPr>
          <p:cNvPr id="39" name="Text 37"/>
          <p:cNvSpPr/>
          <p:nvPr/>
        </p:nvSpPr>
        <p:spPr>
          <a:xfrm>
            <a:off x="8929421" y="5354726"/>
            <a:ext cx="2686202" cy="762610"/>
          </a:xfrm>
          <a:prstGeom prst="rect">
            <a:avLst/>
          </a:prstGeom>
          <a:noFill/>
          <a:ln/>
        </p:spPr>
        <p:txBody>
          <a:bodyPr wrap="square" rtlCol="0" anchor="ctr"/>
          <a:lstStyle/>
          <a:p>
            <a:pPr algn="ctr" indent="0" marL="0">
              <a:lnSpc>
                <a:spcPct val="105000"/>
              </a:lnSpc>
              <a:buNone/>
            </a:pPr>
            <a:r>
              <a:rPr lang="en-US" sz="1050" dirty="0">
                <a:solidFill>
                  <a:srgbClr val="1A2035"/>
                </a:solidFill>
                <a:latin typeface="Calibri" pitchFamily="34" charset="0"/>
                <a:ea typeface="Calibri" pitchFamily="34" charset="-122"/>
                <a:cs typeface="Calibri" pitchFamily="34" charset="-120"/>
              </a:rPr>
              <a:t>Sequence enrollment</a:t>
            </a:r>
            <a:endParaRPr lang="en-US" sz="1050" dirty="0"/>
          </a:p>
        </p:txBody>
      </p:sp>
      <p:sp>
        <p:nvSpPr>
          <p:cNvPr id="40" name="Text 38"/>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41" name="Text 39"/>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56</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7 — CONTACT INTELLIGENCE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How a contact links to everything, concretely</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692331"/>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Bank / Vendor.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current_org_id ties every contact to exactly one current employer, with full history preserved if they move (past_companies).</a:t>
            </a:r>
            <a:endParaRPr lang="en-US" sz="1350" dirty="0"/>
          </a:p>
        </p:txBody>
      </p:sp>
      <p:sp>
        <p:nvSpPr>
          <p:cNvPr id="6" name="Shape 4"/>
          <p:cNvSpPr/>
          <p:nvPr/>
        </p:nvSpPr>
        <p:spPr>
          <a:xfrm>
            <a:off x="502920" y="2191947"/>
            <a:ext cx="100584" cy="100584"/>
          </a:xfrm>
          <a:prstGeom prst="ellipse">
            <a:avLst/>
          </a:prstGeom>
          <a:solidFill>
            <a:srgbClr val="C9A227"/>
          </a:solidFill>
          <a:ln/>
        </p:spPr>
      </p:sp>
      <p:sp>
        <p:nvSpPr>
          <p:cNvPr id="7" name="Text 5"/>
          <p:cNvSpPr/>
          <p:nvPr/>
        </p:nvSpPr>
        <p:spPr>
          <a:xfrm>
            <a:off x="777240" y="2054787"/>
            <a:ext cx="10911535" cy="692331"/>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Technology &amp; Products.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Not stored directly on the person, but reachable through their organisation's tech stack and product_fit rows — so a contact's context always includes what their employer runs and needs.</a:t>
            </a:r>
            <a:endParaRPr lang="en-US" sz="1350" dirty="0"/>
          </a:p>
        </p:txBody>
      </p:sp>
      <p:sp>
        <p:nvSpPr>
          <p:cNvPr id="8" name="Shape 6"/>
          <p:cNvSpPr/>
          <p:nvPr/>
        </p:nvSpPr>
        <p:spPr>
          <a:xfrm>
            <a:off x="502920" y="2884279"/>
            <a:ext cx="100584" cy="100584"/>
          </a:xfrm>
          <a:prstGeom prst="ellipse">
            <a:avLst/>
          </a:prstGeom>
          <a:solidFill>
            <a:srgbClr val="C9A227"/>
          </a:solidFill>
          <a:ln/>
        </p:spPr>
      </p:sp>
      <p:sp>
        <p:nvSpPr>
          <p:cNvPr id="9" name="Text 7"/>
          <p:cNvSpPr/>
          <p:nvPr/>
        </p:nvSpPr>
        <p:spPr>
          <a:xfrm>
            <a:off x="777240" y="2747119"/>
            <a:ext cx="10911535" cy="692331"/>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News.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Any signal about their organisation is visible from the contact's page, because signals link to the organisation, and the organisation links to the contact.</a:t>
            </a:r>
            <a:endParaRPr lang="en-US" sz="1350" dirty="0"/>
          </a:p>
        </p:txBody>
      </p:sp>
      <p:sp>
        <p:nvSpPr>
          <p:cNvPr id="10" name="Shape 8"/>
          <p:cNvSpPr/>
          <p:nvPr/>
        </p:nvSpPr>
        <p:spPr>
          <a:xfrm>
            <a:off x="502920" y="3576610"/>
            <a:ext cx="100584" cy="100584"/>
          </a:xfrm>
          <a:prstGeom prst="ellipse">
            <a:avLst/>
          </a:prstGeom>
          <a:solidFill>
            <a:srgbClr val="C9A227"/>
          </a:solidFill>
          <a:ln/>
        </p:spPr>
      </p:sp>
      <p:sp>
        <p:nvSpPr>
          <p:cNvPr id="11" name="Text 9"/>
          <p:cNvSpPr/>
          <p:nvPr/>
        </p:nvSpPr>
        <p:spPr>
          <a:xfrm>
            <a:off x="777240" y="3439450"/>
            <a:ext cx="10911535" cy="692331"/>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Campaign.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audience_members and email_messages tie a contact to every campaign they've ever been part of, and every open or click they made.</a:t>
            </a:r>
            <a:endParaRPr lang="en-US" sz="1350" dirty="0"/>
          </a:p>
        </p:txBody>
      </p:sp>
      <p:sp>
        <p:nvSpPr>
          <p:cNvPr id="12" name="Shape 10"/>
          <p:cNvSpPr/>
          <p:nvPr/>
        </p:nvSpPr>
        <p:spPr>
          <a:xfrm>
            <a:off x="502920" y="4268942"/>
            <a:ext cx="100584" cy="100584"/>
          </a:xfrm>
          <a:prstGeom prst="ellipse">
            <a:avLst/>
          </a:prstGeom>
          <a:solidFill>
            <a:srgbClr val="C9A227"/>
          </a:solidFill>
          <a:ln/>
        </p:spPr>
      </p:sp>
      <p:sp>
        <p:nvSpPr>
          <p:cNvPr id="13" name="Text 11"/>
          <p:cNvSpPr/>
          <p:nvPr/>
        </p:nvSpPr>
        <p:spPr>
          <a:xfrm>
            <a:off x="777240" y="4131782"/>
            <a:ext cx="10911535" cy="692331"/>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Meeting.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meetings.person_ids ties a contact to every scheduled or past meeting.</a:t>
            </a:r>
            <a:endParaRPr lang="en-US" sz="1350" dirty="0"/>
          </a:p>
        </p:txBody>
      </p:sp>
      <p:sp>
        <p:nvSpPr>
          <p:cNvPr id="14" name="Shape 12"/>
          <p:cNvSpPr/>
          <p:nvPr/>
        </p:nvSpPr>
        <p:spPr>
          <a:xfrm>
            <a:off x="502920" y="4961273"/>
            <a:ext cx="100584" cy="100584"/>
          </a:xfrm>
          <a:prstGeom prst="ellipse">
            <a:avLst/>
          </a:prstGeom>
          <a:solidFill>
            <a:srgbClr val="C9A227"/>
          </a:solidFill>
          <a:ln/>
        </p:spPr>
      </p:sp>
      <p:sp>
        <p:nvSpPr>
          <p:cNvPr id="15" name="Text 13"/>
          <p:cNvSpPr/>
          <p:nvPr/>
        </p:nvSpPr>
        <p:spPr>
          <a:xfrm>
            <a:off x="777240" y="4824113"/>
            <a:ext cx="10911535" cy="692331"/>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Relationship.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person_relationships ties a contact to colleagues, introducers, and connectors, each with a typed, scored edge.</a:t>
            </a:r>
            <a:endParaRPr lang="en-US" sz="1350" dirty="0"/>
          </a:p>
        </p:txBody>
      </p:sp>
      <p:sp>
        <p:nvSpPr>
          <p:cNvPr id="16" name="Shape 14"/>
          <p:cNvSpPr/>
          <p:nvPr/>
        </p:nvSpPr>
        <p:spPr>
          <a:xfrm>
            <a:off x="502920" y="5653605"/>
            <a:ext cx="100584" cy="100584"/>
          </a:xfrm>
          <a:prstGeom prst="ellipse">
            <a:avLst/>
          </a:prstGeom>
          <a:solidFill>
            <a:srgbClr val="C9A227"/>
          </a:solidFill>
          <a:ln/>
        </p:spPr>
      </p:sp>
      <p:sp>
        <p:nvSpPr>
          <p:cNvPr id="17" name="Text 15"/>
          <p:cNvSpPr/>
          <p:nvPr/>
        </p:nvSpPr>
        <p:spPr>
          <a:xfrm>
            <a:off x="777240" y="5516445"/>
            <a:ext cx="10911535" cy="692331"/>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Buying Signals &amp; LinkedIn / Email History.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Buying signals reach the contact through their organisation; LinkedIn and email history live directly on the contact via outreach_channels and email_messages.</a:t>
            </a:r>
            <a:endParaRPr lang="en-US" sz="1350" dirty="0"/>
          </a:p>
        </p:txBody>
      </p:sp>
      <p:sp>
        <p:nvSpPr>
          <p:cNvPr id="18" name="Text 16"/>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9" name="Text 17"/>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57</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7 — CONTACT INTELLIGENCE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The unified activity timeline — one view, seven sources</a:t>
            </a:r>
            <a:endParaRPr lang="en-US" sz="2600" dirty="0"/>
          </a:p>
        </p:txBody>
      </p:sp>
      <p:sp>
        <p:nvSpPr>
          <p:cNvPr id="4" name="Shape 2"/>
          <p:cNvSpPr/>
          <p:nvPr/>
        </p:nvSpPr>
        <p:spPr>
          <a:xfrm>
            <a:off x="502920" y="1788958"/>
            <a:ext cx="438912" cy="438912"/>
          </a:xfrm>
          <a:prstGeom prst="ellipse">
            <a:avLst/>
          </a:prstGeom>
          <a:solidFill>
            <a:srgbClr val="0B1220"/>
          </a:solidFill>
          <a:ln/>
        </p:spPr>
      </p:sp>
      <p:sp>
        <p:nvSpPr>
          <p:cNvPr id="5" name="Text 3"/>
          <p:cNvSpPr/>
          <p:nvPr/>
        </p:nvSpPr>
        <p:spPr>
          <a:xfrm>
            <a:off x="502920" y="1788958"/>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1</a:t>
            </a:r>
            <a:endParaRPr lang="en-US" sz="1600" dirty="0"/>
          </a:p>
        </p:txBody>
      </p:sp>
      <p:sp>
        <p:nvSpPr>
          <p:cNvPr id="6" name="Shape 4"/>
          <p:cNvSpPr/>
          <p:nvPr/>
        </p:nvSpPr>
        <p:spPr>
          <a:xfrm>
            <a:off x="722376" y="2227870"/>
            <a:ext cx="0" cy="194637"/>
          </a:xfrm>
          <a:prstGeom prst="line">
            <a:avLst/>
          </a:prstGeom>
          <a:noFill/>
          <a:ln w="19050">
            <a:solidFill>
              <a:srgbClr val="E1E5EE"/>
            </a:solidFill>
            <a:prstDash val="dash"/>
          </a:ln>
        </p:spPr>
      </p:sp>
      <p:sp>
        <p:nvSpPr>
          <p:cNvPr id="7" name="Text 5"/>
          <p:cNvSpPr/>
          <p:nvPr/>
        </p:nvSpPr>
        <p:spPr>
          <a:xfrm>
            <a:off x="1188720" y="1691640"/>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Activity log</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Manually logged calls, emails, demos, meetings, notes</a:t>
            </a:r>
            <a:endParaRPr lang="en-US" sz="1300" dirty="0"/>
          </a:p>
        </p:txBody>
      </p:sp>
      <p:sp>
        <p:nvSpPr>
          <p:cNvPr id="8" name="Shape 6"/>
          <p:cNvSpPr/>
          <p:nvPr/>
        </p:nvSpPr>
        <p:spPr>
          <a:xfrm>
            <a:off x="502920" y="2422507"/>
            <a:ext cx="438912" cy="438912"/>
          </a:xfrm>
          <a:prstGeom prst="ellipse">
            <a:avLst/>
          </a:prstGeom>
          <a:solidFill>
            <a:srgbClr val="0B1220"/>
          </a:solidFill>
          <a:ln/>
        </p:spPr>
      </p:sp>
      <p:sp>
        <p:nvSpPr>
          <p:cNvPr id="9" name="Text 7"/>
          <p:cNvSpPr/>
          <p:nvPr/>
        </p:nvSpPr>
        <p:spPr>
          <a:xfrm>
            <a:off x="502920" y="2422507"/>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2</a:t>
            </a:r>
            <a:endParaRPr lang="en-US" sz="1600" dirty="0"/>
          </a:p>
        </p:txBody>
      </p:sp>
      <p:sp>
        <p:nvSpPr>
          <p:cNvPr id="10" name="Shape 8"/>
          <p:cNvSpPr/>
          <p:nvPr/>
        </p:nvSpPr>
        <p:spPr>
          <a:xfrm>
            <a:off x="722376" y="2861419"/>
            <a:ext cx="0" cy="194637"/>
          </a:xfrm>
          <a:prstGeom prst="line">
            <a:avLst/>
          </a:prstGeom>
          <a:noFill/>
          <a:ln w="19050">
            <a:solidFill>
              <a:srgbClr val="E1E5EE"/>
            </a:solidFill>
            <a:prstDash val="dash"/>
          </a:ln>
        </p:spPr>
      </p:sp>
      <p:sp>
        <p:nvSpPr>
          <p:cNvPr id="11" name="Text 9"/>
          <p:cNvSpPr/>
          <p:nvPr/>
        </p:nvSpPr>
        <p:spPr>
          <a:xfrm>
            <a:off x="1188720" y="2325189"/>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Outreach channels</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LinkedIn / email / phone / WhatsApp stage changes</a:t>
            </a:r>
            <a:endParaRPr lang="en-US" sz="1300" dirty="0"/>
          </a:p>
        </p:txBody>
      </p:sp>
      <p:sp>
        <p:nvSpPr>
          <p:cNvPr id="12" name="Shape 10"/>
          <p:cNvSpPr/>
          <p:nvPr/>
        </p:nvSpPr>
        <p:spPr>
          <a:xfrm>
            <a:off x="502920" y="3056055"/>
            <a:ext cx="438912" cy="438912"/>
          </a:xfrm>
          <a:prstGeom prst="ellipse">
            <a:avLst/>
          </a:prstGeom>
          <a:solidFill>
            <a:srgbClr val="0B1220"/>
          </a:solidFill>
          <a:ln/>
        </p:spPr>
      </p:sp>
      <p:sp>
        <p:nvSpPr>
          <p:cNvPr id="13" name="Text 11"/>
          <p:cNvSpPr/>
          <p:nvPr/>
        </p:nvSpPr>
        <p:spPr>
          <a:xfrm>
            <a:off x="502920" y="3056055"/>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3</a:t>
            </a:r>
            <a:endParaRPr lang="en-US" sz="1600" dirty="0"/>
          </a:p>
        </p:txBody>
      </p:sp>
      <p:sp>
        <p:nvSpPr>
          <p:cNvPr id="14" name="Shape 12"/>
          <p:cNvSpPr/>
          <p:nvPr/>
        </p:nvSpPr>
        <p:spPr>
          <a:xfrm>
            <a:off x="722376" y="3494967"/>
            <a:ext cx="0" cy="194637"/>
          </a:xfrm>
          <a:prstGeom prst="line">
            <a:avLst/>
          </a:prstGeom>
          <a:noFill/>
          <a:ln w="19050">
            <a:solidFill>
              <a:srgbClr val="E1E5EE"/>
            </a:solidFill>
            <a:prstDash val="dash"/>
          </a:ln>
        </p:spPr>
      </p:sp>
      <p:sp>
        <p:nvSpPr>
          <p:cNvPr id="15" name="Text 13"/>
          <p:cNvSpPr/>
          <p:nvPr/>
        </p:nvSpPr>
        <p:spPr>
          <a:xfrm>
            <a:off x="1188720" y="2958737"/>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Sequence events</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Automated cadence steps sent and their outcomes</a:t>
            </a:r>
            <a:endParaRPr lang="en-US" sz="1300" dirty="0"/>
          </a:p>
        </p:txBody>
      </p:sp>
      <p:sp>
        <p:nvSpPr>
          <p:cNvPr id="16" name="Shape 14"/>
          <p:cNvSpPr/>
          <p:nvPr/>
        </p:nvSpPr>
        <p:spPr>
          <a:xfrm>
            <a:off x="502920" y="3689604"/>
            <a:ext cx="438912" cy="438912"/>
          </a:xfrm>
          <a:prstGeom prst="ellipse">
            <a:avLst/>
          </a:prstGeom>
          <a:solidFill>
            <a:srgbClr val="0B1220"/>
          </a:solidFill>
          <a:ln/>
        </p:spPr>
      </p:sp>
      <p:sp>
        <p:nvSpPr>
          <p:cNvPr id="17" name="Text 15"/>
          <p:cNvSpPr/>
          <p:nvPr/>
        </p:nvSpPr>
        <p:spPr>
          <a:xfrm>
            <a:off x="502920" y="368960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4</a:t>
            </a:r>
            <a:endParaRPr lang="en-US" sz="1600" dirty="0"/>
          </a:p>
        </p:txBody>
      </p:sp>
      <p:sp>
        <p:nvSpPr>
          <p:cNvPr id="18" name="Shape 16"/>
          <p:cNvSpPr/>
          <p:nvPr/>
        </p:nvSpPr>
        <p:spPr>
          <a:xfrm>
            <a:off x="722376" y="4128516"/>
            <a:ext cx="0" cy="194637"/>
          </a:xfrm>
          <a:prstGeom prst="line">
            <a:avLst/>
          </a:prstGeom>
          <a:noFill/>
          <a:ln w="19050">
            <a:solidFill>
              <a:srgbClr val="E1E5EE"/>
            </a:solidFill>
            <a:prstDash val="dash"/>
          </a:ln>
        </p:spPr>
      </p:sp>
      <p:sp>
        <p:nvSpPr>
          <p:cNvPr id="19" name="Text 17"/>
          <p:cNvSpPr/>
          <p:nvPr/>
        </p:nvSpPr>
        <p:spPr>
          <a:xfrm>
            <a:off x="1188720" y="3592286"/>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Email delivery events</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Opens, clicks, bounces from actual sends</a:t>
            </a:r>
            <a:endParaRPr lang="en-US" sz="1300" dirty="0"/>
          </a:p>
        </p:txBody>
      </p:sp>
      <p:sp>
        <p:nvSpPr>
          <p:cNvPr id="20" name="Shape 18"/>
          <p:cNvSpPr/>
          <p:nvPr/>
        </p:nvSpPr>
        <p:spPr>
          <a:xfrm>
            <a:off x="502920" y="4323153"/>
            <a:ext cx="438912" cy="438912"/>
          </a:xfrm>
          <a:prstGeom prst="ellipse">
            <a:avLst/>
          </a:prstGeom>
          <a:solidFill>
            <a:srgbClr val="0B1220"/>
          </a:solidFill>
          <a:ln/>
        </p:spPr>
      </p:sp>
      <p:sp>
        <p:nvSpPr>
          <p:cNvPr id="21" name="Text 19"/>
          <p:cNvSpPr/>
          <p:nvPr/>
        </p:nvSpPr>
        <p:spPr>
          <a:xfrm>
            <a:off x="502920" y="4323153"/>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5</a:t>
            </a:r>
            <a:endParaRPr lang="en-US" sz="1600" dirty="0"/>
          </a:p>
        </p:txBody>
      </p:sp>
      <p:sp>
        <p:nvSpPr>
          <p:cNvPr id="22" name="Shape 20"/>
          <p:cNvSpPr/>
          <p:nvPr/>
        </p:nvSpPr>
        <p:spPr>
          <a:xfrm>
            <a:off x="722376" y="4762065"/>
            <a:ext cx="0" cy="194637"/>
          </a:xfrm>
          <a:prstGeom prst="line">
            <a:avLst/>
          </a:prstGeom>
          <a:noFill/>
          <a:ln w="19050">
            <a:solidFill>
              <a:srgbClr val="E1E5EE"/>
            </a:solidFill>
            <a:prstDash val="dash"/>
          </a:ln>
        </p:spPr>
      </p:sp>
      <p:sp>
        <p:nvSpPr>
          <p:cNvPr id="23" name="Text 21"/>
          <p:cNvSpPr/>
          <p:nvPr/>
        </p:nvSpPr>
        <p:spPr>
          <a:xfrm>
            <a:off x="1188720" y="4225834"/>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Meetings</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Scheduled and completed meetings</a:t>
            </a:r>
            <a:endParaRPr lang="en-US" sz="1300" dirty="0"/>
          </a:p>
        </p:txBody>
      </p:sp>
      <p:sp>
        <p:nvSpPr>
          <p:cNvPr id="24" name="Shape 22"/>
          <p:cNvSpPr/>
          <p:nvPr/>
        </p:nvSpPr>
        <p:spPr>
          <a:xfrm>
            <a:off x="502920" y="4956701"/>
            <a:ext cx="438912" cy="438912"/>
          </a:xfrm>
          <a:prstGeom prst="ellipse">
            <a:avLst/>
          </a:prstGeom>
          <a:solidFill>
            <a:srgbClr val="0B1220"/>
          </a:solidFill>
          <a:ln/>
        </p:spPr>
      </p:sp>
      <p:sp>
        <p:nvSpPr>
          <p:cNvPr id="25" name="Text 23"/>
          <p:cNvSpPr/>
          <p:nvPr/>
        </p:nvSpPr>
        <p:spPr>
          <a:xfrm>
            <a:off x="502920" y="4956701"/>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6</a:t>
            </a:r>
            <a:endParaRPr lang="en-US" sz="1600" dirty="0"/>
          </a:p>
        </p:txBody>
      </p:sp>
      <p:sp>
        <p:nvSpPr>
          <p:cNvPr id="26" name="Shape 24"/>
          <p:cNvSpPr/>
          <p:nvPr/>
        </p:nvSpPr>
        <p:spPr>
          <a:xfrm>
            <a:off x="722376" y="5395613"/>
            <a:ext cx="0" cy="194637"/>
          </a:xfrm>
          <a:prstGeom prst="line">
            <a:avLst/>
          </a:prstGeom>
          <a:noFill/>
          <a:ln w="19050">
            <a:solidFill>
              <a:srgbClr val="E1E5EE"/>
            </a:solidFill>
            <a:prstDash val="dash"/>
          </a:ln>
        </p:spPr>
      </p:sp>
      <p:sp>
        <p:nvSpPr>
          <p:cNvPr id="27" name="Text 25"/>
          <p:cNvSpPr/>
          <p:nvPr/>
        </p:nvSpPr>
        <p:spPr>
          <a:xfrm>
            <a:off x="1188720" y="4859383"/>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Signals</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News and regulatory events about their organisation</a:t>
            </a:r>
            <a:endParaRPr lang="en-US" sz="1300" dirty="0"/>
          </a:p>
        </p:txBody>
      </p:sp>
      <p:sp>
        <p:nvSpPr>
          <p:cNvPr id="28" name="Shape 26"/>
          <p:cNvSpPr/>
          <p:nvPr/>
        </p:nvSpPr>
        <p:spPr>
          <a:xfrm>
            <a:off x="502920" y="5590250"/>
            <a:ext cx="438912" cy="438912"/>
          </a:xfrm>
          <a:prstGeom prst="ellipse">
            <a:avLst/>
          </a:prstGeom>
          <a:solidFill>
            <a:srgbClr val="0B1220"/>
          </a:solidFill>
          <a:ln/>
        </p:spPr>
      </p:sp>
      <p:sp>
        <p:nvSpPr>
          <p:cNvPr id="29" name="Text 27"/>
          <p:cNvSpPr/>
          <p:nvPr/>
        </p:nvSpPr>
        <p:spPr>
          <a:xfrm>
            <a:off x="502920" y="5590250"/>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7</a:t>
            </a:r>
            <a:endParaRPr lang="en-US" sz="1600" dirty="0"/>
          </a:p>
        </p:txBody>
      </p:sp>
      <p:sp>
        <p:nvSpPr>
          <p:cNvPr id="30" name="Text 28"/>
          <p:cNvSpPr/>
          <p:nvPr/>
        </p:nvSpPr>
        <p:spPr>
          <a:xfrm>
            <a:off x="1188720" y="5492931"/>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Audit log</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Any direct record changes, for a complete picture</a:t>
            </a:r>
            <a:endParaRPr lang="en-US" sz="1300" dirty="0"/>
          </a:p>
        </p:txBody>
      </p:sp>
      <p:sp>
        <p:nvSpPr>
          <p:cNvPr id="31" name="Text 29"/>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32" name="Text 30"/>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58</a:t>
            </a:r>
            <a:endParaRPr lang="en-US" sz="8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7 — CONTACT INTELLIGENCE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Why 'graph thinking' beats a flat contact list</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The flat-list problem</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A spreadsheet only answers one question.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'Who works at Bank X' — it cannot answer 'who introduced us to this person' or 'who else on this committee reports to them'.</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Relationships get lost.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If a relationship isn't a real, typed connection, it lives in someone's memory and disappears when they leave.</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Every new question needs a new spreadsheet.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There is no way to ask 'show me every warm introduction path into Bank Y' from a flat list.</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 a graph enables</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Multi-hop questions become possible.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'Who at our existing accounts knows someone at this new target bank' is a graph traversal, not a manual detective exercise.</a:t>
            </a:r>
            <a:endParaRPr lang="en-US" sz="1250" dirty="0"/>
          </a:p>
        </p:txBody>
      </p:sp>
      <p:sp>
        <p:nvSpPr>
          <p:cNvPr id="18" name="Shape 16"/>
          <p:cNvSpPr/>
          <p:nvPr/>
        </p:nvSpPr>
        <p:spPr>
          <a:xfrm>
            <a:off x="6324448" y="3514344"/>
            <a:ext cx="82296" cy="82296"/>
          </a:xfrm>
          <a:prstGeom prst="ellipse">
            <a:avLst/>
          </a:prstGeom>
          <a:solidFill>
            <a:srgbClr val="2657A8"/>
          </a:solidFill>
          <a:ln/>
        </p:spPr>
      </p:sp>
      <p:sp>
        <p:nvSpPr>
          <p:cNvPr id="19" name="Text 17"/>
          <p:cNvSpPr/>
          <p:nvPr/>
        </p:nvSpPr>
        <p:spPr>
          <a:xfrm>
            <a:off x="6553048"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Strength and confidence are explicit.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relationship isn't just 'exists' — it's typed, scored, and sourced, so the system can tell a strong warm introduction from a weak, unconfirmed one.</a:t>
            </a:r>
            <a:endParaRPr lang="en-US" sz="1250" dirty="0"/>
          </a:p>
        </p:txBody>
      </p:sp>
      <p:sp>
        <p:nvSpPr>
          <p:cNvPr id="20" name="Shape 18"/>
          <p:cNvSpPr/>
          <p:nvPr/>
        </p:nvSpPr>
        <p:spPr>
          <a:xfrm>
            <a:off x="6324448" y="4879848"/>
            <a:ext cx="82296" cy="82296"/>
          </a:xfrm>
          <a:prstGeom prst="ellipse">
            <a:avLst/>
          </a:prstGeom>
          <a:solidFill>
            <a:srgbClr val="2657A8"/>
          </a:solidFill>
          <a:ln/>
        </p:spPr>
      </p:sp>
      <p:sp>
        <p:nvSpPr>
          <p:cNvPr id="21" name="Text 19"/>
          <p:cNvSpPr/>
          <p:nvPr/>
        </p:nvSpPr>
        <p:spPr>
          <a:xfrm>
            <a:off x="6553048"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It compounds.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Every new relationship recorded makes every future 'who can introduce us' question answerable a little faster — the value of the graph grows over time, unlike a static list.</a:t>
            </a:r>
            <a:endParaRPr lang="en-US" sz="1250" dirty="0"/>
          </a:p>
        </p:txBody>
      </p:sp>
      <p:sp>
        <p:nvSpPr>
          <p:cNvPr id="22" name="Text 2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3" name="Text 2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59</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08</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08</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Search Engine</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How global search works today, what it can find, and what AI-powered search would add next.</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One search box, every entity type</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Filters, sorting, and ranking</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Natural language / semantic search — the roadmap</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Why each kind of search exists</a:t>
            </a:r>
            <a:endParaRPr lang="en-US" sz="12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8 — SEARCH ENGINE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How global search works today</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One search box, everywhere.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Ctrl+K command palette and the main search bar both call the same global search — type once, search everything.</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Every entity type, in one query.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Companies (banks/vendors), contacts, deals, campaigns, signals, tasks, quotes, products, journeys, workflows, and API keys are all searched simultaneously.</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Grouped, lightweight results.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Results come back grouped by type (contacts separate from deals separate from companies), each with just enough context — a title, a subtitle — to recognise the right hit instantly.</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Direct navigation.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Clicking a result takes you straight to that record's page — a company result opens Account 360, a deal result opens the Pipeline.</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60</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8 — SEARCH ENGINE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What you can search for today</a:t>
            </a:r>
            <a:endParaRPr lang="en-US" sz="2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345421"/>
                <a:gridCol w="6224387"/>
                <a:gridCol w="2616047"/>
              </a:tblGrid>
              <a:tr h="5283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Search target</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Matched on</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52832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Banks / Companies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Institution name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2832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People / Contacts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Full name, email, job title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2832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Deals / Opportunities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Stage, next step, notes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2832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Campaigns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Campaign name, subject line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2832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Signals / News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Title and summary text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2832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Products, Quotes, Journeys, Workflows, API keys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Name / key identifying fields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2832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Vendors / Technology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Reachable via Company search today (no separate technology index yet)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2760C"/>
                          </a:solidFill>
                          <a:latin typeface="Calibri" pitchFamily="34" charset="0"/>
                          <a:ea typeface="Calibri" pitchFamily="34" charset="-122"/>
                          <a:cs typeface="Calibri" pitchFamily="34" charset="-120"/>
                        </a:rPr>
                        <a:t>IN PROGRESS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EDC"/>
                    </a:solidFill>
                  </a:tcPr>
                </a:tc>
              </a:tr>
              <a:tr h="52832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Natural language questions ('who hasn't replied in 30 days')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Not supported — keyword match only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8A90A2"/>
                          </a:solidFill>
                          <a:latin typeface="Calibri" pitchFamily="34" charset="0"/>
                          <a:ea typeface="Calibri" pitchFamily="34" charset="-122"/>
                          <a:cs typeface="Calibri" pitchFamily="34" charset="-120"/>
                        </a:rPr>
                        <a:t>PLANNED</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DEEF2"/>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61</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8 — SEARCH ENGINE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Filters, sorting, ranking — and AI search, the roadmap</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Filters today.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Screen-level filters exist per module — for example, the bank Contacts tab filters by tier, seniority, and Indian-origin flag; the Pipeline screen filters by bank and amount range.</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Sorting today.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Lists can be sorted by priority score, deal amount, or recency, depending on the screen.</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Ranking today.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Global search returns the top few matches per entity type rather than a single blended relevance-ranked list across types — a deliberate simplicity choice for a small team, not a limitation of the underlying database.</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AI / semantic / natural-language search — planned, not built.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Asking 'show me every C-suite contact at a bank with a recent regulatory signal who hasn't been contacted in 30 days' in plain English is not possible yet. It would need the AI layer (Section 11) to translate a question into the same structured filters the screens already use — a moderate build, not a research project, because the underlying data is already structured enough to answer it.</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62</a:t>
            </a:r>
            <a:endParaRPr lang="en-US" sz="8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8 — SEARCH ENGINE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Why each kind of search exists — the business case</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Search People.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Answers 'do we already know someone at this bank' before starting outreach from zero.</a:t>
            </a:r>
            <a:endParaRPr lang="en-US" sz="1350" dirty="0"/>
          </a:p>
        </p:txBody>
      </p:sp>
      <p:sp>
        <p:nvSpPr>
          <p:cNvPr id="6" name="Shape 4"/>
          <p:cNvSpPr/>
          <p:nvPr/>
        </p:nvSpPr>
        <p:spPr>
          <a:xfrm>
            <a:off x="502920" y="2468880"/>
            <a:ext cx="100584" cy="100584"/>
          </a:xfrm>
          <a:prstGeom prst="ellipse">
            <a:avLst/>
          </a:prstGeom>
          <a:solidFill>
            <a:srgbClr val="C9A227"/>
          </a:solidFill>
          <a:ln/>
        </p:spPr>
      </p:sp>
      <p:sp>
        <p:nvSpPr>
          <p:cNvPr id="7" name="Text 5"/>
          <p:cNvSpPr/>
          <p:nvPr/>
        </p:nvSpPr>
        <p:spPr>
          <a:xfrm>
            <a:off x="777240" y="2331720"/>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Search Banks / Companies.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starting point for almost every BD workflow — opening an account's full picture.</a:t>
            </a:r>
            <a:endParaRPr lang="en-US" sz="1350" dirty="0"/>
          </a:p>
        </p:txBody>
      </p:sp>
      <p:sp>
        <p:nvSpPr>
          <p:cNvPr id="8" name="Shape 6"/>
          <p:cNvSpPr/>
          <p:nvPr/>
        </p:nvSpPr>
        <p:spPr>
          <a:xfrm>
            <a:off x="502920" y="3438144"/>
            <a:ext cx="100584" cy="100584"/>
          </a:xfrm>
          <a:prstGeom prst="ellipse">
            <a:avLst/>
          </a:prstGeom>
          <a:solidFill>
            <a:srgbClr val="C9A227"/>
          </a:solidFill>
          <a:ln/>
        </p:spPr>
      </p:sp>
      <p:sp>
        <p:nvSpPr>
          <p:cNvPr id="9" name="Text 7"/>
          <p:cNvSpPr/>
          <p:nvPr/>
        </p:nvSpPr>
        <p:spPr>
          <a:xfrm>
            <a:off x="777240" y="3300984"/>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Search Deals / Products / Technology.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Answers 'have we sold this before, and to whom' — critical for reusing a pitch or case study.</a:t>
            </a:r>
            <a:endParaRPr lang="en-US" sz="1350" dirty="0"/>
          </a:p>
        </p:txBody>
      </p:sp>
      <p:sp>
        <p:nvSpPr>
          <p:cNvPr id="10" name="Shape 8"/>
          <p:cNvSpPr/>
          <p:nvPr/>
        </p:nvSpPr>
        <p:spPr>
          <a:xfrm>
            <a:off x="502920" y="4407408"/>
            <a:ext cx="100584" cy="100584"/>
          </a:xfrm>
          <a:prstGeom prst="ellipse">
            <a:avLst/>
          </a:prstGeom>
          <a:solidFill>
            <a:srgbClr val="C9A227"/>
          </a:solidFill>
          <a:ln/>
        </p:spPr>
      </p:sp>
      <p:sp>
        <p:nvSpPr>
          <p:cNvPr id="11" name="Text 9"/>
          <p:cNvSpPr/>
          <p:nvPr/>
        </p:nvSpPr>
        <p:spPr>
          <a:xfrm>
            <a:off x="777240" y="4270248"/>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Search News / Signals.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Answers 'what's actually happening right now' without opening every account one at a time.</a:t>
            </a:r>
            <a:endParaRPr lang="en-US" sz="1350" dirty="0"/>
          </a:p>
        </p:txBody>
      </p:sp>
      <p:sp>
        <p:nvSpPr>
          <p:cNvPr id="12" name="Shape 10"/>
          <p:cNvSpPr/>
          <p:nvPr/>
        </p:nvSpPr>
        <p:spPr>
          <a:xfrm>
            <a:off x="502920" y="5376672"/>
            <a:ext cx="100584" cy="100584"/>
          </a:xfrm>
          <a:prstGeom prst="ellipse">
            <a:avLst/>
          </a:prstGeom>
          <a:solidFill>
            <a:srgbClr val="C9A227"/>
          </a:solidFill>
          <a:ln/>
        </p:spPr>
      </p:sp>
      <p:sp>
        <p:nvSpPr>
          <p:cNvPr id="13" name="Text 11"/>
          <p:cNvSpPr/>
          <p:nvPr/>
        </p:nvSpPr>
        <p:spPr>
          <a:xfrm>
            <a:off x="777240" y="5239512"/>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Search Contact / Company (combined, via the command palette).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Removes the need to know in advance which screen a piece of information lives on — the whole point of a single application.</a:t>
            </a:r>
            <a:endParaRPr lang="en-US" sz="1350" dirty="0"/>
          </a:p>
        </p:txBody>
      </p:sp>
      <p:sp>
        <p:nvSpPr>
          <p:cNvPr id="14"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5"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63</a:t>
            </a:r>
            <a:endParaRPr lang="en-US" sz="8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09</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09</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Platform Modules</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Every module a user can actually click on today, grouped exactly as they appear in the DRIP OS sidebar — 31 screens across 9 groups.</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Home &amp; Intelligence</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Marketing &amp; Sales</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CRM &amp; Automation</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AI Center, Analytics &amp; Admin</a:t>
            </a:r>
            <a:endParaRPr lang="en-US" sz="12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9 — PLATFORM MODULES · HOME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Home</a:t>
            </a:r>
            <a:endParaRPr lang="en-US" sz="26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345421"/>
                <a:gridCol w="7036264"/>
                <a:gridCol w="1804170"/>
              </a:tblGrid>
              <a:tr h="237744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Screen</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237744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Dashboard</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The single home screen: pipeline summary, account health, engagement, signals, email performance, and system status all in one aggregated view</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64</a:t>
            </a:r>
            <a:endParaRPr lang="en-US" sz="8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9 — PLATFORM MODULES · INTELLIGENCE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Intelligence (8 screens)</a:t>
            </a:r>
            <a:endParaRPr lang="en-US" sz="26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074796"/>
                <a:gridCol w="7306889"/>
                <a:gridCol w="1804170"/>
              </a:tblGrid>
              <a:tr h="52832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Screen</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52832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Accounts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Bank / NBFI / Ecosystem list, each opening into a full Account 360 view</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2832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Contacts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The master people list, filterable by tier, seniority, Indian-origin, with per-contact edit</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2832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Vendors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The ecosystem vendor list, with product/client/technology intelligence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2832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Connectors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People flagged as strong-relationship 'connectors' across accounts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2832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Initiatives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Live feed of tenders, regulatory changes, and transformation programmes (from Signals)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2832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BD Outreach</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Tier-filtered outreach tracking view across the whole contact base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2832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Signals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Every ingested news/regulatory item, with read/actioned toggles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2832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Buying Committee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Per-account, per-product view of every committee member and their role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65</a:t>
            </a:r>
            <a:endParaRPr lang="en-US" sz="8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9 — PLATFORM MODULES · MARKETING</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Marketing (4 screens)</a:t>
            </a:r>
            <a:endParaRPr lang="en-US" sz="26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074796"/>
                <a:gridCol w="7306889"/>
                <a:gridCol w="1804170"/>
              </a:tblGrid>
              <a:tr h="950976">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Screen</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950976">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Campaigns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Create audiences with a live count preview, attach a template, send (dry-run), and view a recipient-level report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950976">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Journeys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Multi-step, branching automation flows (send/wait/branch) beyond a single campaign</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950976">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Segments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Dynamic, live-evaluated audience definitions and static saved lists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950976">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Email Analytics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Open/click/CTR/CTOR rates and per-campaign comparison, computed from real delivery events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66</a:t>
            </a:r>
            <a:endParaRPr lang="en-US" sz="8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9 — PLATFORM MODULES · SALES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Sales (4 screens)</a:t>
            </a:r>
            <a:endParaRPr lang="en-US" sz="26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074796"/>
                <a:gridCol w="7306889"/>
                <a:gridCol w="1804170"/>
              </a:tblGrid>
              <a:tr h="950976">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Screen</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950976">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Pipeline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HubSpot-style deal board with stage totals in SAR, search, bank/amount filters, sort, and CSV export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950976">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Meetings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Schedule meetings with conflict detection and calendar (ICS) export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950976">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Tasks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Personal task queue — overdue, due today, and reminders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950976">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Sequences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Multi-touch, multi-channel outreach cadences with pause-on-reply logic</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67</a:t>
            </a:r>
            <a:endParaRPr lang="en-US" sz="8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9 — PLATFORM MODULES · CRM, AUTOMATION, AI CENTER</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CRM (2) · Automation (1) · AI Center (2)</a:t>
            </a:r>
            <a:endParaRPr lang="en-US" sz="26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074796"/>
                <a:gridCol w="7306889"/>
                <a:gridCol w="1804170"/>
              </a:tblGrid>
              <a:tr h="79248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Screen</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79248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Quotes &amp; Products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Build a quote from the product catalogue with price books, discounts, and tax</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79248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Custom Objects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Define new record types beyond contacts/companies/deals with typed fields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79248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Workflow</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Graph-based automation with approvals and durable, retry-safe execution</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79248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Prompts &amp; Calls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The AI prompt registry, live model calls, and per-call cost/token tracking</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79248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Agents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Autonomous research/outreach agent pipelines built on the AI core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8A90A2"/>
                          </a:solidFill>
                          <a:latin typeface="Calibri" pitchFamily="34" charset="0"/>
                          <a:ea typeface="Calibri" pitchFamily="34" charset="-122"/>
                          <a:cs typeface="Calibri" pitchFamily="34" charset="-120"/>
                        </a:rPr>
                        <a:t>PLANNED</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DEEF2"/>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68</a:t>
            </a:r>
            <a:endParaRPr lang="en-US" sz="8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9 — PLATFORM MODULES · ANALYTICS, ADMIN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Analytics (3) · Admin (4)</a:t>
            </a:r>
            <a:endParaRPr lang="en-US" sz="26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074796"/>
                <a:gridCol w="7306889"/>
                <a:gridCol w="1804170"/>
              </a:tblGrid>
              <a:tr h="5943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Screen</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Reports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Custom report builder — filter, group, and sum any table on demand</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Cohorts &amp; Trends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Retention cohorts and time-series analysis across the event firehose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Feature Parity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The live capability registry rendered as a dashboard — the same data behind Section 14/16 of this deck</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Developer</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API keys and outbound webhook management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Compliance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PDPL data-subject requests (export/erase), consent tracking, retention rules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Health</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System observability — logs, metrics, and service health at a glance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Settings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User, tenant, and platform-level configuration</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69</a:t>
            </a:r>
            <a:endParaRPr lang="en-US" sz="8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9 — PLATFORM MODULES · DEEP DIVE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Deep dive: Dashboard (Home)</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SCREENS.dashboard -&gt; GET /platform/dashboard</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The single aggregation screen: pulls a summary from every other module into one page so a user's first click of the day answers 'what needs my attention'.</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Reads from: opportunities, organizations, signals, email_messages, journeys</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No direct writes — a pure read/aggregation screen</a:t>
            </a:r>
            <a:endParaRPr lang="en-US" sz="1050" dirty="0"/>
          </a:p>
        </p:txBody>
      </p:sp>
      <p:sp>
        <p:nvSpPr>
          <p:cNvPr id="12" name="Text 10"/>
          <p:cNvSpPr/>
          <p:nvPr/>
        </p:nvSpPr>
        <p:spPr>
          <a:xfrm>
            <a:off x="502920" y="4114800"/>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3" name="Text 11"/>
          <p:cNvSpPr/>
          <p:nvPr/>
        </p:nvSpPr>
        <p:spPr>
          <a:xfrm>
            <a:off x="502920" y="4407408"/>
            <a:ext cx="4206240" cy="1764792"/>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Inputs: nothing from the user except opening the page. Outputs: pipeline totals, account health counts, top signals, email performance, and system status, refreshed on every visit.</a:t>
            </a:r>
            <a:endParaRPr lang="en-US" sz="105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96012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pipeline_summary</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Deal counts and SAR totals by stage</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account_health</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Count of accounts by tier/health flag</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top_signals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Most urgent recent signals across all accounts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email_performance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Aggregate open/click rates across recent campaigns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15"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6"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70</a:t>
            </a:r>
            <a:endParaRPr lang="en-US" sz="8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9 — PLATFORM MODULES · DEEP DIVE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Deep dive: Account 360 (inside Accounts)</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SCREENS.accounts(id) -&gt; /bd/banks/{org_id}/*</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The single most-used screen in the product: everything DRIP knows about one bank, organised into tabs — Overview, Activity, Contacts, Committee, Signals, Vendors, Deals, Documents, AI, Tasks.</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organizations, persons, buying_committee_members, signals</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vendor_intelligence, opportunities, document_upload</a:t>
            </a:r>
            <a:endParaRPr lang="en-US" sz="1050" dirty="0"/>
          </a:p>
        </p:txBody>
      </p:sp>
      <p:sp>
        <p:nvSpPr>
          <p:cNvPr id="12" name="Text 10"/>
          <p:cNvSpPr/>
          <p:nvPr/>
        </p:nvSpPr>
        <p:spPr>
          <a:xfrm>
            <a:off x="502920" y="4114800"/>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3" name="Text 11"/>
          <p:cNvSpPr/>
          <p:nvPr/>
        </p:nvSpPr>
        <p:spPr>
          <a:xfrm>
            <a:off x="502920" y="4407408"/>
            <a:ext cx="4206240" cy="1764792"/>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Inputs: edit bank details, upload a contact file, add a vendor, log an activity, upload a document. Outputs: a live, tabbed view of the account, exportable contact lists, and a computed account score.</a:t>
            </a:r>
            <a:endParaRPr lang="en-US" sz="105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96012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Contacts tab</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Filtered contact list + upload/export buttons</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Committee tab</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Buying-committee roles per product</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Signals tab</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News/regulatory items about this bank</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96012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Documents tab</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Uploaded files, stored and downloadable</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15"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6"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71</a:t>
            </a:r>
            <a:endParaRPr lang="en-US" sz="8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9 — PLATFORM MODULES · DEEP DIVE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Deep dive: AI Center</a:t>
            </a:r>
            <a:endParaRPr lang="en-US" sz="2600" dirty="0"/>
          </a:p>
        </p:txBody>
      </p:sp>
      <p:sp>
        <p:nvSpPr>
          <p:cNvPr id="4" name="Shape 2"/>
          <p:cNvSpPr/>
          <p:nvPr/>
        </p:nvSpPr>
        <p:spPr>
          <a:xfrm>
            <a:off x="502920" y="1371600"/>
            <a:ext cx="4206240" cy="384048"/>
          </a:xfrm>
          <a:prstGeom prst="rect">
            <a:avLst/>
          </a:prstGeom>
          <a:solidFill>
            <a:srgbClr val="0B1220"/>
          </a:solidFill>
          <a:ln/>
        </p:spPr>
      </p:sp>
      <p:sp>
        <p:nvSpPr>
          <p:cNvPr id="5" name="Text 3"/>
          <p:cNvSpPr/>
          <p:nvPr/>
        </p:nvSpPr>
        <p:spPr>
          <a:xfrm>
            <a:off x="612648" y="1371600"/>
            <a:ext cx="4023360" cy="384048"/>
          </a:xfrm>
          <a:prstGeom prst="rect">
            <a:avLst/>
          </a:prstGeom>
          <a:noFill/>
          <a:ln/>
        </p:spPr>
        <p:txBody>
          <a:bodyPr wrap="square" rtlCol="0" anchor="ctr"/>
          <a:lstStyle/>
          <a:p>
            <a:pPr indent="0" marL="0">
              <a:buNone/>
            </a:pPr>
            <a:r>
              <a:rPr lang="en-US" sz="1300" b="1" dirty="0">
                <a:solidFill>
                  <a:srgbClr val="C9A227"/>
                </a:solidFill>
                <a:latin typeface="Courier New" pitchFamily="34" charset="0"/>
                <a:ea typeface="Courier New" pitchFamily="34" charset="-122"/>
                <a:cs typeface="Courier New" pitchFamily="34" charset="-120"/>
              </a:rPr>
              <a:t>SCREENS.ai -&gt; /ai/prompts, /ai/call, /ai/analytics</a:t>
            </a:r>
            <a:endParaRPr lang="en-US" sz="1300" dirty="0"/>
          </a:p>
        </p:txBody>
      </p:sp>
      <p:sp>
        <p:nvSpPr>
          <p:cNvPr id="6" name="Text 4"/>
          <p:cNvSpPr/>
          <p:nvPr/>
        </p:nvSpPr>
        <p:spPr>
          <a:xfrm>
            <a:off x="502920" y="1874520"/>
            <a:ext cx="4206240" cy="1097280"/>
          </a:xfrm>
          <a:prstGeom prst="rect">
            <a:avLst/>
          </a:prstGeom>
          <a:noFill/>
          <a:ln/>
        </p:spPr>
        <p:txBody>
          <a:bodyPr wrap="square" rtlCol="0" anchor="t"/>
          <a:lstStyle/>
          <a:p>
            <a:pPr indent="0" marL="0">
              <a:lnSpc>
                <a:spcPct val="120000"/>
              </a:lnSpc>
              <a:buNone/>
            </a:pPr>
            <a:r>
              <a:rPr lang="en-US" sz="1200" dirty="0">
                <a:solidFill>
                  <a:srgbClr val="586080"/>
                </a:solidFill>
                <a:latin typeface="Calibri" pitchFamily="34" charset="0"/>
                <a:ea typeface="Calibri" pitchFamily="34" charset="-122"/>
                <a:cs typeface="Calibri" pitchFamily="34" charset="-120"/>
              </a:rPr>
              <a:t>Where prompts are versioned and tested, live AI calls are made, and every call's cost and token usage is tracked — the operational control room for AI usage, not just a chat box.</a:t>
            </a:r>
            <a:endParaRPr lang="en-US" sz="1200" dirty="0"/>
          </a:p>
        </p:txBody>
      </p:sp>
      <p:sp>
        <p:nvSpPr>
          <p:cNvPr id="7" name="Text 5"/>
          <p:cNvSpPr/>
          <p:nvPr/>
        </p:nvSpPr>
        <p:spPr>
          <a:xfrm>
            <a:off x="502920" y="3063240"/>
            <a:ext cx="4206240" cy="274320"/>
          </a:xfrm>
          <a:prstGeom prst="rect">
            <a:avLst/>
          </a:prstGeom>
          <a:noFill/>
          <a:ln/>
        </p:spPr>
        <p:txBody>
          <a:bodyPr wrap="square"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RELATIONSHIPS</a:t>
            </a:r>
            <a:endParaRPr lang="en-US" sz="1050" dirty="0"/>
          </a:p>
        </p:txBody>
      </p:sp>
      <p:sp>
        <p:nvSpPr>
          <p:cNvPr id="8" name="Shape 6"/>
          <p:cNvSpPr/>
          <p:nvPr/>
        </p:nvSpPr>
        <p:spPr>
          <a:xfrm>
            <a:off x="502920" y="3438144"/>
            <a:ext cx="64008" cy="64008"/>
          </a:xfrm>
          <a:prstGeom prst="ellipse">
            <a:avLst/>
          </a:prstGeom>
          <a:solidFill>
            <a:srgbClr val="2657A8"/>
          </a:solidFill>
          <a:ln/>
        </p:spPr>
      </p:sp>
      <p:sp>
        <p:nvSpPr>
          <p:cNvPr id="9" name="Text 7"/>
          <p:cNvSpPr/>
          <p:nvPr/>
        </p:nvSpPr>
        <p:spPr>
          <a:xfrm>
            <a:off x="704088" y="3328416"/>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llm_calls (cost/token ledger)</a:t>
            </a:r>
            <a:endParaRPr lang="en-US" sz="1050" dirty="0"/>
          </a:p>
        </p:txBody>
      </p:sp>
      <p:sp>
        <p:nvSpPr>
          <p:cNvPr id="10" name="Shape 8"/>
          <p:cNvSpPr/>
          <p:nvPr/>
        </p:nvSpPr>
        <p:spPr>
          <a:xfrm>
            <a:off x="502920" y="3749040"/>
            <a:ext cx="64008" cy="64008"/>
          </a:xfrm>
          <a:prstGeom prst="ellipse">
            <a:avLst/>
          </a:prstGeom>
          <a:solidFill>
            <a:srgbClr val="2657A8"/>
          </a:solidFill>
          <a:ln/>
        </p:spPr>
      </p:sp>
      <p:sp>
        <p:nvSpPr>
          <p:cNvPr id="11" name="Text 9"/>
          <p:cNvSpPr/>
          <p:nvPr/>
        </p:nvSpPr>
        <p:spPr>
          <a:xfrm>
            <a:off x="704088" y="3639312"/>
            <a:ext cx="4005072" cy="292608"/>
          </a:xfrm>
          <a:prstGeom prst="rect">
            <a:avLst/>
          </a:prstGeom>
          <a:noFill/>
          <a:ln/>
        </p:spPr>
        <p:txBody>
          <a:bodyPr wrap="square" rtlCol="0" anchor="t"/>
          <a:lstStyle/>
          <a:p>
            <a:pPr indent="0" marL="0">
              <a:buNone/>
            </a:pPr>
            <a:r>
              <a:rPr lang="en-US" sz="1050" dirty="0">
                <a:solidFill>
                  <a:srgbClr val="1A2035"/>
                </a:solidFill>
                <a:latin typeface="Calibri" pitchFamily="34" charset="0"/>
                <a:ea typeface="Calibri" pitchFamily="34" charset="-122"/>
                <a:cs typeface="Calibri" pitchFamily="34" charset="-120"/>
              </a:rPr>
              <a:t>ai_generations (guardrail-checked outputs)</a:t>
            </a:r>
            <a:endParaRPr lang="en-US" sz="1050" dirty="0"/>
          </a:p>
        </p:txBody>
      </p:sp>
      <p:sp>
        <p:nvSpPr>
          <p:cNvPr id="12" name="Text 10"/>
          <p:cNvSpPr/>
          <p:nvPr/>
        </p:nvSpPr>
        <p:spPr>
          <a:xfrm>
            <a:off x="502920" y="4114800"/>
            <a:ext cx="4206240" cy="274320"/>
          </a:xfrm>
          <a:prstGeom prst="rect">
            <a:avLst/>
          </a:prstGeom>
          <a:noFill/>
          <a:ln/>
        </p:spPr>
        <p:txBody>
          <a:bodyPr wrap="square" rtlCol="0" anchor="ctr"/>
          <a:lstStyle/>
          <a:p>
            <a:pPr indent="0" marL="0">
              <a:buNone/>
            </a:pPr>
            <a:r>
              <a:rPr lang="en-US" sz="1050" b="1" spc="100" kern="0" dirty="0">
                <a:solidFill>
                  <a:srgbClr val="C9A227"/>
                </a:solidFill>
                <a:latin typeface="Calibri" pitchFamily="34" charset="0"/>
                <a:ea typeface="Calibri" pitchFamily="34" charset="-122"/>
                <a:cs typeface="Calibri" pitchFamily="34" charset="-120"/>
              </a:rPr>
              <a:t>HOW DATA ENTERS / UPDATES</a:t>
            </a:r>
            <a:endParaRPr lang="en-US" sz="1050" dirty="0"/>
          </a:p>
        </p:txBody>
      </p:sp>
      <p:sp>
        <p:nvSpPr>
          <p:cNvPr id="13" name="Text 11"/>
          <p:cNvSpPr/>
          <p:nvPr/>
        </p:nvSpPr>
        <p:spPr>
          <a:xfrm>
            <a:off x="502920" y="4407408"/>
            <a:ext cx="4206240" cy="1764792"/>
          </a:xfrm>
          <a:prstGeom prst="rect">
            <a:avLst/>
          </a:prstGeom>
          <a:noFill/>
          <a:ln/>
        </p:spPr>
        <p:txBody>
          <a:bodyPr wrap="square" rtlCol="0" anchor="t"/>
          <a:lstStyle/>
          <a:p>
            <a:pPr indent="0" marL="0">
              <a:lnSpc>
                <a:spcPct val="118000"/>
              </a:lnSpc>
              <a:buNone/>
            </a:pPr>
            <a:r>
              <a:rPr lang="en-US" sz="1050" dirty="0">
                <a:solidFill>
                  <a:srgbClr val="586080"/>
                </a:solidFill>
                <a:latin typeface="Calibri" pitchFamily="34" charset="0"/>
                <a:ea typeface="Calibri" pitchFamily="34" charset="-122"/>
                <a:cs typeface="Calibri" pitchFamily="34" charset="-120"/>
              </a:rPr>
              <a:t>Inputs: register or edit a prompt, trigger a call with variables. Outputs: the model's response, plus its exact cost and token count, logged permanently for later analysis.</a:t>
            </a:r>
            <a:endParaRPr lang="en-US" sz="105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5074920" y="1371600"/>
          <a:ext cx="6613855" cy="914400"/>
        </p:xfrm>
        <a:graphic>
          <a:graphicData uri="http://schemas.openxmlformats.org/drawingml/2006/table">
            <a:tbl>
              <a:tblPr/>
              <a:tblGrid>
                <a:gridCol w="2380988"/>
                <a:gridCol w="4232867"/>
              </a:tblGrid>
              <a:tr h="1200150">
                <a:tc>
                  <a:txBody>
                    <a:bodyPr/>
                    <a:lstStyle/>
                    <a:p>
                      <a:pPr indent="0" marL="0">
                        <a:buNone/>
                      </a:pPr>
                      <a:r>
                        <a:rPr lang="en-US" sz="1050" b="1" dirty="0">
                          <a:solidFill>
                            <a:srgbClr val="FFFFFF"/>
                          </a:solidFill>
                        </a:rPr>
                        <a:t>FIELD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050" b="1" dirty="0">
                          <a:solidFill>
                            <a:srgbClr val="FFFFFF"/>
                          </a:solidFill>
                        </a:rPr>
                        <a:t>WHAT IT MEANS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prompt.version / active</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Every prompt edit is versioned; rollback to any prior version is one click</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llm_calls.cost / tokens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00" dirty="0">
                          <a:solidFill>
                            <a:srgbClr val="586080"/>
                          </a:solidFill>
                        </a:rPr>
                        <a:t>Exact spend tracked per call, per prompt</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1200150">
                <a:tc>
                  <a:txBody>
                    <a:bodyPr/>
                    <a:lstStyle/>
                    <a:p>
                      <a:pPr indent="0" marL="0">
                        <a:buNone/>
                      </a:pPr>
                      <a:r>
                        <a:rPr lang="en-US" sz="1000" b="1" dirty="0">
                          <a:solidFill>
                            <a:srgbClr val="1A2035"/>
                          </a:solidFill>
                          <a:latin typeface="Courier New" pitchFamily="34" charset="0"/>
                          <a:ea typeface="Courier New" pitchFamily="34" charset="-122"/>
                          <a:cs typeface="Courier New" pitchFamily="34" charset="-120"/>
                        </a:rPr>
                        <a:t>eval harness</a:t>
                      </a:r>
                      <a:endParaRPr lang="en-US" sz="1000" dirty="0">
                        <a:latin typeface="Courier New" charset="0"/>
                        <a:ea typeface="Courier New" charset="0"/>
                        <a:cs typeface="Courier New" charset="0"/>
                      </a:endParaRPr>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00" dirty="0">
                          <a:solidFill>
                            <a:srgbClr val="586080"/>
                          </a:solidFill>
                        </a:rPr>
                        <a:t>Test a prompt against expected answers before making it active</a:t>
                      </a:r>
                      <a:endParaRPr lang="en-US" sz="10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5"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6"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72</a:t>
            </a:r>
            <a:endParaRPr lang="en-US" sz="8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10</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10</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CRUD Operations</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How a record actually gets created, read, updated, and deleted safely — the operations behind every button in every module.</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Create, Read, Update, Delete, explained plainly</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Bulk upload — CSV and Excel</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Version history and the audit trail</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Soft delete and recovery</a:t>
            </a:r>
            <a:endParaRPr lang="en-US" sz="12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10 — CRUD OPERATIONS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Create, Read, Update, Delete — in plain English</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Create.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new row is added — a new bank, a new contact, a new deal. Every create runs through the same duplicate-check logic described in Section 6 before it's saved.</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Read.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Existing data is fetched and displayed — every screen in Section 9 is fundamentally a read operation, often filtered, sorted, or aggregated.</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Update.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An existing row's fields change — a deal moves stage, a contact's outreach status updates, a bank's tags change. Every update is captured automatically in the audit trail.</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Delete.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row is removed from active use. DRIP almost always does a 'soft delete' (marking a record inactive rather than physically erasing it) so nothing is ever truly lost by accident — see the soft-delete slide.</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73</a:t>
            </a:r>
            <a:endParaRPr lang="en-US" sz="8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10 — CRUD OPERATIONS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Bulk upload — CSV &amp; Excel import</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How it works</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Auto-detects file shape.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Plain flat tables or the real messy 'LinkedIn Priority Contacts' export format, including tier-divider rows.</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Extracts hidden data.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LinkedIn URLs stored as hyperlinks on a name cell are pulled out correctly, not lost.</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Safe to re-run.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Matches on name + institution, so importing the same file again updates rather than duplicates.</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Where it lives today</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Central import.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dedicated import command for the whole contact base at once.</a:t>
            </a:r>
            <a:endParaRPr lang="en-US" sz="1250" dirty="0"/>
          </a:p>
        </p:txBody>
      </p:sp>
      <p:sp>
        <p:nvSpPr>
          <p:cNvPr id="18" name="Shape 16"/>
          <p:cNvSpPr/>
          <p:nvPr/>
        </p:nvSpPr>
        <p:spPr>
          <a:xfrm>
            <a:off x="6324448" y="3514344"/>
            <a:ext cx="82296" cy="82296"/>
          </a:xfrm>
          <a:prstGeom prst="ellipse">
            <a:avLst/>
          </a:prstGeom>
          <a:solidFill>
            <a:srgbClr val="2657A8"/>
          </a:solidFill>
          <a:ln/>
        </p:spPr>
      </p:sp>
      <p:sp>
        <p:nvSpPr>
          <p:cNvPr id="19" name="Text 17"/>
          <p:cNvSpPr/>
          <p:nvPr/>
        </p:nvSpPr>
        <p:spPr>
          <a:xfrm>
            <a:off x="6553048"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Per-bank import.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same importer, now available directly from a single bank's own Contacts tab — added in response to direct feedback.</a:t>
            </a:r>
            <a:endParaRPr lang="en-US" sz="1250" dirty="0"/>
          </a:p>
        </p:txBody>
      </p:sp>
      <p:sp>
        <p:nvSpPr>
          <p:cNvPr id="20" name="Shape 18"/>
          <p:cNvSpPr/>
          <p:nvPr/>
        </p:nvSpPr>
        <p:spPr>
          <a:xfrm>
            <a:off x="6324448" y="4879848"/>
            <a:ext cx="82296" cy="82296"/>
          </a:xfrm>
          <a:prstGeom prst="ellipse">
            <a:avLst/>
          </a:prstGeom>
          <a:solidFill>
            <a:srgbClr val="2657A8"/>
          </a:solidFill>
          <a:ln/>
        </p:spPr>
      </p:sp>
      <p:sp>
        <p:nvSpPr>
          <p:cNvPr id="21" name="Text 19"/>
          <p:cNvSpPr/>
          <p:nvPr/>
        </p:nvSpPr>
        <p:spPr>
          <a:xfrm>
            <a:off x="6553048"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What's not built yet.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guided, step-by-step 'map your columns' import wizard for entirely unfamiliar file layouts — today's importer is fast because it recognises known shapes; a brand-new, never-seen format still needs a small code update.</a:t>
            </a:r>
            <a:endParaRPr lang="en-US" sz="1250" dirty="0"/>
          </a:p>
        </p:txBody>
      </p:sp>
      <p:sp>
        <p:nvSpPr>
          <p:cNvPr id="22" name="Text 2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3" name="Text 2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74</a:t>
            </a:r>
            <a:endParaRPr lang="en-US" sz="8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10 — CRUD OPERATIONS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Version history and the audit trail</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Automatic, not opt-in.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database-level hook captures every insert, update, and delete across 28 business tables — no developer has to remember to add logging when they build a new feature.</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Before-and-after snapshots.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Every audit entry records the exact field values before the change and after, plus who made the change and exactly when.</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What's not yet built: per-field property history.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Today the audit trail proves a bank's tier changed and by whom — a dedicated 'property history' view showing every change to one specific field over time, presented as a clean timeline, is a named future improvement rather than something already live (Section 15).</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Why this matters for compliance.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For a system touching Saudi PDPL-covered personal data, being able to prove exactly what changed, when, and by whom is not optional — it is the foundation the compliance layer in Section 4 and Section 19 depends on.</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75</a:t>
            </a:r>
            <a:endParaRPr lang="en-US" sz="8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10 — CRUD OPERATIONS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Soft delete &amp; recovery</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How deletion actually works</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is_active = false, not gone.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Deleting a contact or a bank sets an 'is_active' flag to false rather than physically removing the row — the data stays in the database.</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Hidden from normal screens.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Inactive records simply stop appearing in lists and search results, so the experience feels like a real delete.</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Recoverable.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Because the row still exists, restoring an accidentally deleted record is a simple flag flip, not a backup restore.</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What's not built yet</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No 'trash / recently deleted' screen.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Recovering a soft-deleted record today requires a direct database action rather than a self-service 'restore' button in the UI.</a:t>
            </a:r>
            <a:endParaRPr lang="en-US" sz="1250" dirty="0"/>
          </a:p>
        </p:txBody>
      </p:sp>
      <p:sp>
        <p:nvSpPr>
          <p:cNvPr id="18" name="Shape 16"/>
          <p:cNvSpPr/>
          <p:nvPr/>
        </p:nvSpPr>
        <p:spPr>
          <a:xfrm>
            <a:off x="6324448" y="3514344"/>
            <a:ext cx="82296" cy="82296"/>
          </a:xfrm>
          <a:prstGeom prst="ellipse">
            <a:avLst/>
          </a:prstGeom>
          <a:solidFill>
            <a:srgbClr val="2657A8"/>
          </a:solidFill>
          <a:ln/>
        </p:spPr>
      </p:sp>
      <p:sp>
        <p:nvSpPr>
          <p:cNvPr id="19" name="Text 17"/>
          <p:cNvSpPr/>
          <p:nvPr/>
        </p:nvSpPr>
        <p:spPr>
          <a:xfrm>
            <a:off x="6553048"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No approval workflow for deletes.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Any user with delete permission can soft-delete a record immediately; a review/approval step before permanent removal is a reasonable future addition for higher-stakes records like a whole bank account.</a:t>
            </a:r>
            <a:endParaRPr lang="en-US" sz="1250" dirty="0"/>
          </a:p>
        </p:txBody>
      </p:sp>
      <p:sp>
        <p:nvSpPr>
          <p:cNvPr id="20" name="Shape 18"/>
          <p:cNvSpPr/>
          <p:nvPr/>
        </p:nvSpPr>
        <p:spPr>
          <a:xfrm>
            <a:off x="6324448" y="4879848"/>
            <a:ext cx="82296" cy="82296"/>
          </a:xfrm>
          <a:prstGeom prst="ellipse">
            <a:avLst/>
          </a:prstGeom>
          <a:solidFill>
            <a:srgbClr val="2657A8"/>
          </a:solidFill>
          <a:ln/>
        </p:spPr>
      </p:sp>
      <p:sp>
        <p:nvSpPr>
          <p:cNvPr id="21" name="Text 19"/>
          <p:cNvSpPr/>
          <p:nvPr/>
        </p:nvSpPr>
        <p:spPr>
          <a:xfrm>
            <a:off x="6553048"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Why it's prioritised the way it is.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underlying safety net (nothing is ever actually erased) already exists, which is the part that prevents real damage — the missing piece is convenience, not risk.</a:t>
            </a:r>
            <a:endParaRPr lang="en-US" sz="1250" dirty="0"/>
          </a:p>
        </p:txBody>
      </p:sp>
      <p:sp>
        <p:nvSpPr>
          <p:cNvPr id="22" name="Text 2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3" name="Text 2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76</a:t>
            </a:r>
            <a:endParaRPr lang="en-US" sz="8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11</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11</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AI Features</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Where artificial intelligence is genuinely used today, how it works without pretending to be magic, and what's next.</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Lead scoring &amp; stakeholder prioritisation</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Next-best-action decision engine</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News intelligence &amp; competitor detection</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Email personalisation &amp; the AI copilot</a:t>
            </a:r>
            <a:endParaRPr lang="en-US" sz="12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11 — AI FEATURES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AI features, at a glance</a:t>
            </a:r>
            <a:endParaRPr lang="en-US" sz="26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308192"/>
                <a:gridCol w="7102130"/>
                <a:gridCol w="1775533"/>
              </a:tblGrid>
              <a:tr h="39624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How it works today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Lead / account scoring</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Deterministic formula blending signal activity, committee coverage, and engagement — documented, testable, not a black box</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Stakeholder prioritisation</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decision_weight, persona, and committee role combine into a ranked call list</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Relationship mapping</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Graph traversal over org_relationships / person_relationships, typed and scored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Opportunity / buying-signal detection</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Signals tagged rfp/partnership/regulatory with confidence &amp; decay scoring</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Next-best-action (decision engine)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 deterministic, fully-logged policy chooses the next touch per contact; a live-model policy can be plugged in behind the same interface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Competitor detection</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partner_classification field auto-tags a signal as competitive, complementary, or neutral</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News intelligence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Confidence/decay-scored signal pipeline (Section 6)</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Email / content personalisation</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Merge-tag templates plus an AI generator with a PII-anonymisation and quality-check gate before any human sees a draft</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Meeting preparation assistant</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Rule-based Q&amp;A copilot answers 'who should I call today' / 'how do I approach this bank', grounded in real records with citations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F9D55"/>
                          </a:solidFill>
                          <a:latin typeface="Calibri" pitchFamily="34" charset="0"/>
                          <a:ea typeface="Calibri" pitchFamily="34" charset="-122"/>
                          <a:cs typeface="Calibri" pitchFamily="34" charset="-120"/>
                        </a:rPr>
                        <a:t>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Free-form natural-language AI (a live model)</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Works the moment an API key is set (Anthropic/OpenAI/Gemini adapters exist); dry-run without one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C23B3B"/>
                          </a:solidFill>
                          <a:latin typeface="Calibri" pitchFamily="34" charset="0"/>
                          <a:ea typeface="Calibri" pitchFamily="34" charset="-122"/>
                          <a:cs typeface="Calibri" pitchFamily="34" charset="-120"/>
                        </a:rPr>
                        <a:t>BLOCKED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AEA"/>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Autonomous agents (research -&gt; committee -&gt; outreach)</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The next planned phase, built on top of the AI core described in this section</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90A2"/>
                          </a:solidFill>
                          <a:latin typeface="Calibri" pitchFamily="34" charset="0"/>
                          <a:ea typeface="Calibri" pitchFamily="34" charset="-122"/>
                          <a:cs typeface="Calibri" pitchFamily="34" charset="-120"/>
                        </a:rPr>
                        <a:t>PLANNED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DEEF2"/>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77</a:t>
            </a:r>
            <a:endParaRPr lang="en-US" sz="8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11 — AI FEATURES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How the AI core actually works</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 versioned prompt registry.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Every AI prompt used anywhere in the system is stored with a version number; editing a prompt creates a new version rather than silently changing behaviour, and any version can be rolled back instantly.</a:t>
            </a:r>
            <a:endParaRPr lang="en-US" sz="1350" dirty="0"/>
          </a:p>
        </p:txBody>
      </p:sp>
      <p:sp>
        <p:nvSpPr>
          <p:cNvPr id="6" name="Shape 4"/>
          <p:cNvSpPr/>
          <p:nvPr/>
        </p:nvSpPr>
        <p:spPr>
          <a:xfrm>
            <a:off x="502920" y="2468880"/>
            <a:ext cx="100584" cy="100584"/>
          </a:xfrm>
          <a:prstGeom prst="ellipse">
            <a:avLst/>
          </a:prstGeom>
          <a:solidFill>
            <a:srgbClr val="C9A227"/>
          </a:solidFill>
          <a:ln/>
        </p:spPr>
      </p:sp>
      <p:sp>
        <p:nvSpPr>
          <p:cNvPr id="7" name="Text 5"/>
          <p:cNvSpPr/>
          <p:nvPr/>
        </p:nvSpPr>
        <p:spPr>
          <a:xfrm>
            <a:off x="777240" y="2331720"/>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Three real model providers wired in.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Anthropic, OpenAI, and Gemini adapters are built using nothing but standard, dependency-free networking code — when an API key is present, calls go live immediately; with no key, the system runs an honest 'dry run' that shows exactly what would have been sent.</a:t>
            </a:r>
            <a:endParaRPr lang="en-US" sz="1350" dirty="0"/>
          </a:p>
        </p:txBody>
      </p:sp>
      <p:sp>
        <p:nvSpPr>
          <p:cNvPr id="8" name="Shape 6"/>
          <p:cNvSpPr/>
          <p:nvPr/>
        </p:nvSpPr>
        <p:spPr>
          <a:xfrm>
            <a:off x="502920" y="3438144"/>
            <a:ext cx="100584" cy="100584"/>
          </a:xfrm>
          <a:prstGeom prst="ellipse">
            <a:avLst/>
          </a:prstGeom>
          <a:solidFill>
            <a:srgbClr val="C9A227"/>
          </a:solidFill>
          <a:ln/>
        </p:spPr>
      </p:sp>
      <p:sp>
        <p:nvSpPr>
          <p:cNvPr id="9" name="Text 7"/>
          <p:cNvSpPr/>
          <p:nvPr/>
        </p:nvSpPr>
        <p:spPr>
          <a:xfrm>
            <a:off x="777240" y="3300984"/>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Every call costs and tokens are tracked.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permanent ledger records the exact cost and token usage of every single AI call, broken down per prompt — so AI spend is never a surprise.</a:t>
            </a:r>
            <a:endParaRPr lang="en-US" sz="1350" dirty="0"/>
          </a:p>
        </p:txBody>
      </p:sp>
      <p:sp>
        <p:nvSpPr>
          <p:cNvPr id="10" name="Shape 8"/>
          <p:cNvSpPr/>
          <p:nvPr/>
        </p:nvSpPr>
        <p:spPr>
          <a:xfrm>
            <a:off x="502920" y="4407408"/>
            <a:ext cx="100584" cy="100584"/>
          </a:xfrm>
          <a:prstGeom prst="ellipse">
            <a:avLst/>
          </a:prstGeom>
          <a:solidFill>
            <a:srgbClr val="C9A227"/>
          </a:solidFill>
          <a:ln/>
        </p:spPr>
      </p:sp>
      <p:sp>
        <p:nvSpPr>
          <p:cNvPr id="11" name="Text 9"/>
          <p:cNvSpPr/>
          <p:nvPr/>
        </p:nvSpPr>
        <p:spPr>
          <a:xfrm>
            <a:off x="777240" y="4270248"/>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An evaluation harness.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Before a prompt goes live, it can be tested against a set of expected answers, catching regressions before they reach a real bank contact.</a:t>
            </a:r>
            <a:endParaRPr lang="en-US" sz="1350" dirty="0"/>
          </a:p>
        </p:txBody>
      </p:sp>
      <p:sp>
        <p:nvSpPr>
          <p:cNvPr id="12" name="Shape 10"/>
          <p:cNvSpPr/>
          <p:nvPr/>
        </p:nvSpPr>
        <p:spPr>
          <a:xfrm>
            <a:off x="502920" y="5376672"/>
            <a:ext cx="100584" cy="100584"/>
          </a:xfrm>
          <a:prstGeom prst="ellipse">
            <a:avLst/>
          </a:prstGeom>
          <a:solidFill>
            <a:srgbClr val="C9A227"/>
          </a:solidFill>
          <a:ln/>
        </p:spPr>
      </p:sp>
      <p:sp>
        <p:nvSpPr>
          <p:cNvPr id="13" name="Text 11"/>
          <p:cNvSpPr/>
          <p:nvPr/>
        </p:nvSpPr>
        <p:spPr>
          <a:xfrm>
            <a:off x="777240" y="5239512"/>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Guardrails around every generation.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Personal data is anonymised before it reaches any AI model; outputs are quality-checked for leaked placeholders or unresolved merge tags; anything destined for a C-suite contact requires a human review gate — the AI cannot autonomously message a bank's most senior people.</a:t>
            </a:r>
            <a:endParaRPr lang="en-US" sz="1350" dirty="0"/>
          </a:p>
        </p:txBody>
      </p:sp>
      <p:sp>
        <p:nvSpPr>
          <p:cNvPr id="14"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5"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78</a:t>
            </a:r>
            <a:endParaRPr lang="en-US" sz="8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11 — AI FEATURES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The AI Decision Engine — how 'next best action' is chosen</a:t>
            </a:r>
            <a:endParaRPr lang="en-US" sz="2600" dirty="0"/>
          </a:p>
        </p:txBody>
      </p:sp>
      <p:sp>
        <p:nvSpPr>
          <p:cNvPr id="4" name="Shape 2"/>
          <p:cNvSpPr/>
          <p:nvPr/>
        </p:nvSpPr>
        <p:spPr>
          <a:xfrm>
            <a:off x="1263061" y="1691640"/>
            <a:ext cx="512064" cy="512064"/>
          </a:xfrm>
          <a:prstGeom prst="ellipse">
            <a:avLst/>
          </a:prstGeom>
          <a:solidFill>
            <a:srgbClr val="0B1220"/>
          </a:solidFill>
          <a:ln/>
        </p:spPr>
      </p:sp>
      <p:sp>
        <p:nvSpPr>
          <p:cNvPr id="5" name="Text 3"/>
          <p:cNvSpPr/>
          <p:nvPr/>
        </p:nvSpPr>
        <p:spPr>
          <a:xfrm>
            <a:off x="1263061"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1</a:t>
            </a:r>
            <a:endParaRPr lang="en-US" sz="2000" dirty="0"/>
          </a:p>
        </p:txBody>
      </p:sp>
      <p:sp>
        <p:nvSpPr>
          <p:cNvPr id="6" name="Shape 4"/>
          <p:cNvSpPr/>
          <p:nvPr/>
        </p:nvSpPr>
        <p:spPr>
          <a:xfrm>
            <a:off x="1793413" y="1947672"/>
            <a:ext cx="1739737" cy="0"/>
          </a:xfrm>
          <a:prstGeom prst="line">
            <a:avLst/>
          </a:prstGeom>
          <a:noFill/>
          <a:ln w="19050">
            <a:solidFill>
              <a:srgbClr val="E1E5EE"/>
            </a:solidFill>
            <a:prstDash val="dash"/>
          </a:ln>
        </p:spPr>
      </p:sp>
      <p:sp>
        <p:nvSpPr>
          <p:cNvPr id="7" name="Text 5"/>
          <p:cNvSpPr/>
          <p:nvPr/>
        </p:nvSpPr>
        <p:spPr>
          <a:xfrm>
            <a:off x="502920"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Gather features</a:t>
            </a:r>
            <a:endParaRPr lang="en-US" sz="1250" dirty="0"/>
          </a:p>
        </p:txBody>
      </p:sp>
      <p:sp>
        <p:nvSpPr>
          <p:cNvPr id="8" name="Text 6"/>
          <p:cNvSpPr/>
          <p:nvPr/>
        </p:nvSpPr>
        <p:spPr>
          <a:xfrm>
            <a:off x="502920"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Engagement history, web behaviour, signal strength, buying stage, tier</a:t>
            </a:r>
            <a:endParaRPr lang="en-US" sz="1080" dirty="0"/>
          </a:p>
        </p:txBody>
      </p:sp>
      <p:sp>
        <p:nvSpPr>
          <p:cNvPr id="9" name="Shape 7"/>
          <p:cNvSpPr/>
          <p:nvPr/>
        </p:nvSpPr>
        <p:spPr>
          <a:xfrm>
            <a:off x="3551438" y="1691640"/>
            <a:ext cx="512064" cy="512064"/>
          </a:xfrm>
          <a:prstGeom prst="ellipse">
            <a:avLst/>
          </a:prstGeom>
          <a:solidFill>
            <a:srgbClr val="0B1220"/>
          </a:solidFill>
          <a:ln/>
        </p:spPr>
      </p:sp>
      <p:sp>
        <p:nvSpPr>
          <p:cNvPr id="10" name="Text 8"/>
          <p:cNvSpPr/>
          <p:nvPr/>
        </p:nvSpPr>
        <p:spPr>
          <a:xfrm>
            <a:off x="3551438"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2</a:t>
            </a:r>
            <a:endParaRPr lang="en-US" sz="2000" dirty="0"/>
          </a:p>
        </p:txBody>
      </p:sp>
      <p:sp>
        <p:nvSpPr>
          <p:cNvPr id="11" name="Shape 9"/>
          <p:cNvSpPr/>
          <p:nvPr/>
        </p:nvSpPr>
        <p:spPr>
          <a:xfrm>
            <a:off x="4081790" y="1947672"/>
            <a:ext cx="1739737" cy="0"/>
          </a:xfrm>
          <a:prstGeom prst="line">
            <a:avLst/>
          </a:prstGeom>
          <a:noFill/>
          <a:ln w="19050">
            <a:solidFill>
              <a:srgbClr val="E1E5EE"/>
            </a:solidFill>
            <a:prstDash val="dash"/>
          </a:ln>
        </p:spPr>
      </p:sp>
      <p:sp>
        <p:nvSpPr>
          <p:cNvPr id="12" name="Text 10"/>
          <p:cNvSpPr/>
          <p:nvPr/>
        </p:nvSpPr>
        <p:spPr>
          <a:xfrm>
            <a:off x="2791297"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Apply the policy</a:t>
            </a:r>
            <a:endParaRPr lang="en-US" sz="1250" dirty="0"/>
          </a:p>
        </p:txBody>
      </p:sp>
      <p:sp>
        <p:nvSpPr>
          <p:cNvPr id="13" name="Text 11"/>
          <p:cNvSpPr/>
          <p:nvPr/>
        </p:nvSpPr>
        <p:spPr>
          <a:xfrm>
            <a:off x="2791297"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A deterministic v1 rule-set picks an action, channel, timing, and content hint</a:t>
            </a:r>
            <a:endParaRPr lang="en-US" sz="1080" dirty="0"/>
          </a:p>
        </p:txBody>
      </p:sp>
      <p:sp>
        <p:nvSpPr>
          <p:cNvPr id="14" name="Shape 12"/>
          <p:cNvSpPr/>
          <p:nvPr/>
        </p:nvSpPr>
        <p:spPr>
          <a:xfrm>
            <a:off x="5839816" y="1691640"/>
            <a:ext cx="512064" cy="512064"/>
          </a:xfrm>
          <a:prstGeom prst="ellipse">
            <a:avLst/>
          </a:prstGeom>
          <a:solidFill>
            <a:srgbClr val="0B1220"/>
          </a:solidFill>
          <a:ln/>
        </p:spPr>
      </p:sp>
      <p:sp>
        <p:nvSpPr>
          <p:cNvPr id="15" name="Text 13"/>
          <p:cNvSpPr/>
          <p:nvPr/>
        </p:nvSpPr>
        <p:spPr>
          <a:xfrm>
            <a:off x="5839816"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6370168" y="1947672"/>
            <a:ext cx="1739737" cy="0"/>
          </a:xfrm>
          <a:prstGeom prst="line">
            <a:avLst/>
          </a:prstGeom>
          <a:noFill/>
          <a:ln w="19050">
            <a:solidFill>
              <a:srgbClr val="E1E5EE"/>
            </a:solidFill>
            <a:prstDash val="dash"/>
          </a:ln>
        </p:spPr>
      </p:sp>
      <p:sp>
        <p:nvSpPr>
          <p:cNvPr id="17" name="Text 15"/>
          <p:cNvSpPr/>
          <p:nvPr/>
        </p:nvSpPr>
        <p:spPr>
          <a:xfrm>
            <a:off x="5079675"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Re-check hard stops</a:t>
            </a:r>
            <a:endParaRPr lang="en-US" sz="1250" dirty="0"/>
          </a:p>
        </p:txBody>
      </p:sp>
      <p:sp>
        <p:nvSpPr>
          <p:cNvPr id="18" name="Text 16"/>
          <p:cNvSpPr/>
          <p:nvPr/>
        </p:nvSpPr>
        <p:spPr>
          <a:xfrm>
            <a:off x="5079675"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Consent, suppression, do-not-contact, and the C-suite human-review hold</a:t>
            </a:r>
            <a:endParaRPr lang="en-US" sz="1080" dirty="0"/>
          </a:p>
        </p:txBody>
      </p:sp>
      <p:sp>
        <p:nvSpPr>
          <p:cNvPr id="19" name="Shape 17"/>
          <p:cNvSpPr/>
          <p:nvPr/>
        </p:nvSpPr>
        <p:spPr>
          <a:xfrm>
            <a:off x="8128193" y="1691640"/>
            <a:ext cx="512064" cy="512064"/>
          </a:xfrm>
          <a:prstGeom prst="ellipse">
            <a:avLst/>
          </a:prstGeom>
          <a:solidFill>
            <a:srgbClr val="0B1220"/>
          </a:solidFill>
          <a:ln/>
        </p:spPr>
      </p:sp>
      <p:sp>
        <p:nvSpPr>
          <p:cNvPr id="20" name="Text 18"/>
          <p:cNvSpPr/>
          <p:nvPr/>
        </p:nvSpPr>
        <p:spPr>
          <a:xfrm>
            <a:off x="8128193"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4</a:t>
            </a:r>
            <a:endParaRPr lang="en-US" sz="2000" dirty="0"/>
          </a:p>
        </p:txBody>
      </p:sp>
      <p:sp>
        <p:nvSpPr>
          <p:cNvPr id="21" name="Shape 19"/>
          <p:cNvSpPr/>
          <p:nvPr/>
        </p:nvSpPr>
        <p:spPr>
          <a:xfrm>
            <a:off x="8658545" y="1947672"/>
            <a:ext cx="1739737" cy="0"/>
          </a:xfrm>
          <a:prstGeom prst="line">
            <a:avLst/>
          </a:prstGeom>
          <a:noFill/>
          <a:ln w="19050">
            <a:solidFill>
              <a:srgbClr val="E1E5EE"/>
            </a:solidFill>
            <a:prstDash val="dash"/>
          </a:ln>
        </p:spPr>
      </p:sp>
      <p:sp>
        <p:nvSpPr>
          <p:cNvPr id="22" name="Text 20"/>
          <p:cNvSpPr/>
          <p:nvPr/>
        </p:nvSpPr>
        <p:spPr>
          <a:xfrm>
            <a:off x="7368052"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Log the reasoning</a:t>
            </a:r>
            <a:endParaRPr lang="en-US" sz="1250" dirty="0"/>
          </a:p>
        </p:txBody>
      </p:sp>
      <p:sp>
        <p:nvSpPr>
          <p:cNvPr id="23" name="Text 21"/>
          <p:cNvSpPr/>
          <p:nvPr/>
        </p:nvSpPr>
        <p:spPr>
          <a:xfrm>
            <a:off x="7368052"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Every decision is written down with why, so it can always be audited later</a:t>
            </a:r>
            <a:endParaRPr lang="en-US" sz="1080" dirty="0"/>
          </a:p>
        </p:txBody>
      </p:sp>
      <p:sp>
        <p:nvSpPr>
          <p:cNvPr id="24" name="Shape 22"/>
          <p:cNvSpPr/>
          <p:nvPr/>
        </p:nvSpPr>
        <p:spPr>
          <a:xfrm>
            <a:off x="10416570" y="1691640"/>
            <a:ext cx="512064" cy="512064"/>
          </a:xfrm>
          <a:prstGeom prst="ellipse">
            <a:avLst/>
          </a:prstGeom>
          <a:solidFill>
            <a:srgbClr val="0B1220"/>
          </a:solidFill>
          <a:ln/>
        </p:spPr>
      </p:sp>
      <p:sp>
        <p:nvSpPr>
          <p:cNvPr id="25" name="Text 23"/>
          <p:cNvSpPr/>
          <p:nvPr/>
        </p:nvSpPr>
        <p:spPr>
          <a:xfrm>
            <a:off x="10416570" y="1691640"/>
            <a:ext cx="512064" cy="512064"/>
          </a:xfrm>
          <a:prstGeom prst="rect">
            <a:avLst/>
          </a:prstGeom>
          <a:noFill/>
          <a:ln/>
        </p:spPr>
        <p:txBody>
          <a:bodyPr wrap="square" rtlCol="0" anchor="ctr"/>
          <a:lstStyle/>
          <a:p>
            <a:pPr algn="ctr" indent="0" marL="0">
              <a:buNone/>
            </a:pPr>
            <a:r>
              <a:rPr lang="en-US" sz="2000" b="1" dirty="0">
                <a:solidFill>
                  <a:srgbClr val="C9A227"/>
                </a:solidFill>
                <a:latin typeface="Cambria" pitchFamily="34" charset="0"/>
                <a:ea typeface="Cambria" pitchFamily="34" charset="-122"/>
                <a:cs typeface="Cambria" pitchFamily="34" charset="-120"/>
              </a:rPr>
              <a:t>5</a:t>
            </a:r>
            <a:endParaRPr lang="en-US" sz="2000" dirty="0"/>
          </a:p>
        </p:txBody>
      </p:sp>
      <p:sp>
        <p:nvSpPr>
          <p:cNvPr id="26" name="Text 24"/>
          <p:cNvSpPr/>
          <p:nvPr/>
        </p:nvSpPr>
        <p:spPr>
          <a:xfrm>
            <a:off x="9656430" y="2377440"/>
            <a:ext cx="2032345" cy="502920"/>
          </a:xfrm>
          <a:prstGeom prst="rect">
            <a:avLst/>
          </a:prstGeom>
          <a:noFill/>
          <a:ln/>
        </p:spPr>
        <p:txBody>
          <a:bodyPr wrap="square" rtlCol="0" anchor="t"/>
          <a:lstStyle/>
          <a:p>
            <a:pPr algn="ctr" indent="0" marL="0">
              <a:buNone/>
            </a:pPr>
            <a:r>
              <a:rPr lang="en-US" sz="1250" b="1" dirty="0">
                <a:solidFill>
                  <a:srgbClr val="1A2035"/>
                </a:solidFill>
                <a:latin typeface="Calibri" pitchFamily="34" charset="0"/>
                <a:ea typeface="Calibri" pitchFamily="34" charset="-122"/>
                <a:cs typeface="Calibri" pitchFamily="34" charset="-120"/>
              </a:rPr>
              <a:t>Learn from the outcome</a:t>
            </a:r>
            <a:endParaRPr lang="en-US" sz="1250" dirty="0"/>
          </a:p>
        </p:txBody>
      </p:sp>
      <p:sp>
        <p:nvSpPr>
          <p:cNvPr id="27" name="Text 25"/>
          <p:cNvSpPr/>
          <p:nvPr/>
        </p:nvSpPr>
        <p:spPr>
          <a:xfrm>
            <a:off x="9656430" y="2880360"/>
            <a:ext cx="2032345" cy="3246120"/>
          </a:xfrm>
          <a:prstGeom prst="rect">
            <a:avLst/>
          </a:prstGeom>
          <a:noFill/>
          <a:ln/>
        </p:spPr>
        <p:txBody>
          <a:bodyPr wrap="square" rtlCol="0" anchor="t"/>
          <a:lstStyle/>
          <a:p>
            <a:pPr algn="ctr" indent="0" marL="0">
              <a:lnSpc>
                <a:spcPct val="115000"/>
              </a:lnSpc>
              <a:buNone/>
            </a:pPr>
            <a:r>
              <a:rPr lang="en-US" sz="1080" dirty="0">
                <a:solidFill>
                  <a:srgbClr val="586080"/>
                </a:solidFill>
                <a:latin typeface="Calibri" pitchFamily="34" charset="0"/>
                <a:ea typeface="Calibri" pitchFamily="34" charset="-122"/>
                <a:cs typeface="Calibri" pitchFamily="34" charset="-120"/>
              </a:rPr>
              <a:t>Opens, clicks, replies, and meetings feed back to improve future choices</a:t>
            </a:r>
            <a:endParaRPr lang="en-US" sz="1080" dirty="0"/>
          </a:p>
        </p:txBody>
      </p:sp>
      <p:sp>
        <p:nvSpPr>
          <p:cNvPr id="28" name="Text 26"/>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9" name="Text 27"/>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79</a:t>
            </a:r>
            <a:endParaRPr lang="en-US" sz="8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11 — AI FEATURES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The AI copilot — a grounded, cite-your-source assistant</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 it can answer today</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'Who should I call today?'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Returns a ranked call list with the record each recommendation is grounded in.</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'How do I approach [bank]?'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Summarises the account's committee, recent signals, and known pitch angle.</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'Status' / 'where are we?'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quick summary of pipeline and account health.</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 it deliberately does not do</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No free-form questions yet.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Anything outside the three recognised question types gets an honest 'I can't answer that yet' — not a guess.</a:t>
            </a:r>
            <a:endParaRPr lang="en-US" sz="1250" dirty="0"/>
          </a:p>
        </p:txBody>
      </p:sp>
      <p:sp>
        <p:nvSpPr>
          <p:cNvPr id="18" name="Shape 16"/>
          <p:cNvSpPr/>
          <p:nvPr/>
        </p:nvSpPr>
        <p:spPr>
          <a:xfrm>
            <a:off x="6324448" y="3514344"/>
            <a:ext cx="82296" cy="82296"/>
          </a:xfrm>
          <a:prstGeom prst="ellipse">
            <a:avLst/>
          </a:prstGeom>
          <a:solidFill>
            <a:srgbClr val="2657A8"/>
          </a:solidFill>
          <a:ln/>
        </p:spPr>
      </p:sp>
      <p:sp>
        <p:nvSpPr>
          <p:cNvPr id="19" name="Text 17"/>
          <p:cNvSpPr/>
          <p:nvPr/>
        </p:nvSpPr>
        <p:spPr>
          <a:xfrm>
            <a:off x="6553048"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No autonomous outreach.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copilot can only suggest an action; sending anything still goes through the same compliance gates as every other channel.</a:t>
            </a:r>
            <a:endParaRPr lang="en-US" sz="1250" dirty="0"/>
          </a:p>
        </p:txBody>
      </p:sp>
      <p:sp>
        <p:nvSpPr>
          <p:cNvPr id="20" name="Shape 18"/>
          <p:cNvSpPr/>
          <p:nvPr/>
        </p:nvSpPr>
        <p:spPr>
          <a:xfrm>
            <a:off x="6324448" y="4879848"/>
            <a:ext cx="82296" cy="82296"/>
          </a:xfrm>
          <a:prstGeom prst="ellipse">
            <a:avLst/>
          </a:prstGeom>
          <a:solidFill>
            <a:srgbClr val="2657A8"/>
          </a:solidFill>
          <a:ln/>
        </p:spPr>
      </p:sp>
      <p:sp>
        <p:nvSpPr>
          <p:cNvPr id="21" name="Text 19"/>
          <p:cNvSpPr/>
          <p:nvPr/>
        </p:nvSpPr>
        <p:spPr>
          <a:xfrm>
            <a:off x="6553048"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Upgrades automatically with a model key.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Free-form question answering is a matter of registering a live LLM adapter behind the same interface — the rule-based version is a safe, working starting point, not a dead end.</a:t>
            </a:r>
            <a:endParaRPr lang="en-US" sz="1250" dirty="0"/>
          </a:p>
        </p:txBody>
      </p:sp>
      <p:sp>
        <p:nvSpPr>
          <p:cNvPr id="22" name="Text 2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3" name="Text 2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80</a:t>
            </a:r>
            <a:endParaRPr lang="en-US" sz="8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11 — AI FEATURES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AI roadmap — what's next</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Free-form AI everywhere, the moment a key is funded.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single highest-leverage AI investment: connecting a real Anthropic/OpenAI/Gemini API key unlocks live generation, live copilot answers, and live decision-engine reasoning across the whole platform at once, because every seam is already built.</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Autonomous agents (Section 2's 'Agents' screen).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Chained pipelines — research an account, map its committee, draft outreach — running on top of the exact same prompt registry, cost tracking, and guardrails already live today.</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Memory &amp; retrieval (RAG).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Letting the AI reference a bank's full history (documents, past emails, meeting notes) when generating an answer, rather than only the fields explicitly passed to it — a genuinely new capability, not yet started.</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Natural-language search (Section 8).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AI layer translating a plain-English question into the same structured filters the screens already use.</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81</a:t>
            </a:r>
            <a:endParaRPr lang="en-US" sz="8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12</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12</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Campaign Flow</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The entire customer journey, from picking a prospect list to a closed opportunity in the CRM.</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Prospect selection and segmentation</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Personalisation and delivery</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Landing pages, case studies, and meeting booking</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Follow-up, CRM update, and opportunity creation</a:t>
            </a:r>
            <a:endParaRPr lang="en-US" sz="12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12 — CAMPAIGN FLOW</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The full journey, step by step</a:t>
            </a:r>
            <a:endParaRPr lang="en-US" sz="2600" dirty="0"/>
          </a:p>
        </p:txBody>
      </p:sp>
      <p:sp>
        <p:nvSpPr>
          <p:cNvPr id="4" name="Shape 2"/>
          <p:cNvSpPr/>
          <p:nvPr/>
        </p:nvSpPr>
        <p:spPr>
          <a:xfrm>
            <a:off x="502920" y="1788958"/>
            <a:ext cx="438912" cy="438912"/>
          </a:xfrm>
          <a:prstGeom prst="ellipse">
            <a:avLst/>
          </a:prstGeom>
          <a:solidFill>
            <a:srgbClr val="0B1220"/>
          </a:solidFill>
          <a:ln/>
        </p:spPr>
      </p:sp>
      <p:sp>
        <p:nvSpPr>
          <p:cNvPr id="5" name="Text 3"/>
          <p:cNvSpPr/>
          <p:nvPr/>
        </p:nvSpPr>
        <p:spPr>
          <a:xfrm>
            <a:off x="502920" y="1788958"/>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1</a:t>
            </a:r>
            <a:endParaRPr lang="en-US" sz="1600" dirty="0"/>
          </a:p>
        </p:txBody>
      </p:sp>
      <p:sp>
        <p:nvSpPr>
          <p:cNvPr id="6" name="Shape 4"/>
          <p:cNvSpPr/>
          <p:nvPr/>
        </p:nvSpPr>
        <p:spPr>
          <a:xfrm>
            <a:off x="722376" y="2227870"/>
            <a:ext cx="0" cy="194637"/>
          </a:xfrm>
          <a:prstGeom prst="line">
            <a:avLst/>
          </a:prstGeom>
          <a:noFill/>
          <a:ln w="19050">
            <a:solidFill>
              <a:srgbClr val="E1E5EE"/>
            </a:solidFill>
            <a:prstDash val="dash"/>
          </a:ln>
        </p:spPr>
      </p:sp>
      <p:sp>
        <p:nvSpPr>
          <p:cNvPr id="7" name="Text 5"/>
          <p:cNvSpPr/>
          <p:nvPr/>
        </p:nvSpPr>
        <p:spPr>
          <a:xfrm>
            <a:off x="1188720" y="1691640"/>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Prospect selection &amp; segmentation</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Pick a built-in cohort, a specific bank, or a live-evaluated segment (for example, 'Tier 1 contacts at banks with a signal in 30 days'), with a real-time member-count preview before you commit</a:t>
            </a:r>
            <a:endParaRPr lang="en-US" sz="1300" dirty="0"/>
          </a:p>
        </p:txBody>
      </p:sp>
      <p:sp>
        <p:nvSpPr>
          <p:cNvPr id="8" name="Shape 6"/>
          <p:cNvSpPr/>
          <p:nvPr/>
        </p:nvSpPr>
        <p:spPr>
          <a:xfrm>
            <a:off x="502920" y="2422507"/>
            <a:ext cx="438912" cy="438912"/>
          </a:xfrm>
          <a:prstGeom prst="ellipse">
            <a:avLst/>
          </a:prstGeom>
          <a:solidFill>
            <a:srgbClr val="0B1220"/>
          </a:solidFill>
          <a:ln/>
        </p:spPr>
      </p:sp>
      <p:sp>
        <p:nvSpPr>
          <p:cNvPr id="9" name="Text 7"/>
          <p:cNvSpPr/>
          <p:nvPr/>
        </p:nvSpPr>
        <p:spPr>
          <a:xfrm>
            <a:off x="502920" y="2422507"/>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2</a:t>
            </a:r>
            <a:endParaRPr lang="en-US" sz="1600" dirty="0"/>
          </a:p>
        </p:txBody>
      </p:sp>
      <p:sp>
        <p:nvSpPr>
          <p:cNvPr id="10" name="Shape 8"/>
          <p:cNvSpPr/>
          <p:nvPr/>
        </p:nvSpPr>
        <p:spPr>
          <a:xfrm>
            <a:off x="722376" y="2861419"/>
            <a:ext cx="0" cy="194637"/>
          </a:xfrm>
          <a:prstGeom prst="line">
            <a:avLst/>
          </a:prstGeom>
          <a:noFill/>
          <a:ln w="19050">
            <a:solidFill>
              <a:srgbClr val="E1E5EE"/>
            </a:solidFill>
            <a:prstDash val="dash"/>
          </a:ln>
        </p:spPr>
      </p:sp>
      <p:sp>
        <p:nvSpPr>
          <p:cNvPr id="11" name="Text 9"/>
          <p:cNvSpPr/>
          <p:nvPr/>
        </p:nvSpPr>
        <p:spPr>
          <a:xfrm>
            <a:off x="1188720" y="2325189"/>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Personalisation</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Merge tags pull in the contact's name, title, and bank; an AI generator can draft subject lines and body copy, anonymised and quality-checked before use</a:t>
            </a:r>
            <a:endParaRPr lang="en-US" sz="1300" dirty="0"/>
          </a:p>
        </p:txBody>
      </p:sp>
      <p:sp>
        <p:nvSpPr>
          <p:cNvPr id="12" name="Shape 10"/>
          <p:cNvSpPr/>
          <p:nvPr/>
        </p:nvSpPr>
        <p:spPr>
          <a:xfrm>
            <a:off x="502920" y="3056055"/>
            <a:ext cx="438912" cy="438912"/>
          </a:xfrm>
          <a:prstGeom prst="ellipse">
            <a:avLst/>
          </a:prstGeom>
          <a:solidFill>
            <a:srgbClr val="0B1220"/>
          </a:solidFill>
          <a:ln/>
        </p:spPr>
      </p:sp>
      <p:sp>
        <p:nvSpPr>
          <p:cNvPr id="13" name="Text 11"/>
          <p:cNvSpPr/>
          <p:nvPr/>
        </p:nvSpPr>
        <p:spPr>
          <a:xfrm>
            <a:off x="502920" y="3056055"/>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3</a:t>
            </a:r>
            <a:endParaRPr lang="en-US" sz="1600" dirty="0"/>
          </a:p>
        </p:txBody>
      </p:sp>
      <p:sp>
        <p:nvSpPr>
          <p:cNvPr id="14" name="Shape 12"/>
          <p:cNvSpPr/>
          <p:nvPr/>
        </p:nvSpPr>
        <p:spPr>
          <a:xfrm>
            <a:off x="722376" y="3494967"/>
            <a:ext cx="0" cy="194637"/>
          </a:xfrm>
          <a:prstGeom prst="line">
            <a:avLst/>
          </a:prstGeom>
          <a:noFill/>
          <a:ln w="19050">
            <a:solidFill>
              <a:srgbClr val="E1E5EE"/>
            </a:solidFill>
            <a:prstDash val="dash"/>
          </a:ln>
        </p:spPr>
      </p:sp>
      <p:sp>
        <p:nvSpPr>
          <p:cNvPr id="15" name="Text 13"/>
          <p:cNvSpPr/>
          <p:nvPr/>
        </p:nvSpPr>
        <p:spPr>
          <a:xfrm>
            <a:off x="1188720" y="2958737"/>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Email delivery</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Sent through the campaign engine — today this runs in verified dry-run mode until a live sending domain is connected (Section 15)</a:t>
            </a:r>
            <a:endParaRPr lang="en-US" sz="1300" dirty="0"/>
          </a:p>
        </p:txBody>
      </p:sp>
      <p:sp>
        <p:nvSpPr>
          <p:cNvPr id="16" name="Shape 14"/>
          <p:cNvSpPr/>
          <p:nvPr/>
        </p:nvSpPr>
        <p:spPr>
          <a:xfrm>
            <a:off x="502920" y="3689604"/>
            <a:ext cx="438912" cy="438912"/>
          </a:xfrm>
          <a:prstGeom prst="ellipse">
            <a:avLst/>
          </a:prstGeom>
          <a:solidFill>
            <a:srgbClr val="0B1220"/>
          </a:solidFill>
          <a:ln/>
        </p:spPr>
      </p:sp>
      <p:sp>
        <p:nvSpPr>
          <p:cNvPr id="17" name="Text 15"/>
          <p:cNvSpPr/>
          <p:nvPr/>
        </p:nvSpPr>
        <p:spPr>
          <a:xfrm>
            <a:off x="502920" y="368960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4</a:t>
            </a:r>
            <a:endParaRPr lang="en-US" sz="1600" dirty="0"/>
          </a:p>
        </p:txBody>
      </p:sp>
      <p:sp>
        <p:nvSpPr>
          <p:cNvPr id="18" name="Shape 16"/>
          <p:cNvSpPr/>
          <p:nvPr/>
        </p:nvSpPr>
        <p:spPr>
          <a:xfrm>
            <a:off x="722376" y="4128516"/>
            <a:ext cx="0" cy="194637"/>
          </a:xfrm>
          <a:prstGeom prst="line">
            <a:avLst/>
          </a:prstGeom>
          <a:noFill/>
          <a:ln w="19050">
            <a:solidFill>
              <a:srgbClr val="E1E5EE"/>
            </a:solidFill>
            <a:prstDash val="dash"/>
          </a:ln>
        </p:spPr>
      </p:sp>
      <p:sp>
        <p:nvSpPr>
          <p:cNvPr id="19" name="Text 17"/>
          <p:cNvSpPr/>
          <p:nvPr/>
        </p:nvSpPr>
        <p:spPr>
          <a:xfrm>
            <a:off x="1188720" y="3592286"/>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Landing page / case study / whitepaper</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A real landing-page renderer with consent-aware forms captures interest and feeds new or updated contacts straight back into the database</a:t>
            </a:r>
            <a:endParaRPr lang="en-US" sz="1300" dirty="0"/>
          </a:p>
        </p:txBody>
      </p:sp>
      <p:sp>
        <p:nvSpPr>
          <p:cNvPr id="20" name="Shape 18"/>
          <p:cNvSpPr/>
          <p:nvPr/>
        </p:nvSpPr>
        <p:spPr>
          <a:xfrm>
            <a:off x="502920" y="4323153"/>
            <a:ext cx="438912" cy="438912"/>
          </a:xfrm>
          <a:prstGeom prst="ellipse">
            <a:avLst/>
          </a:prstGeom>
          <a:solidFill>
            <a:srgbClr val="0B1220"/>
          </a:solidFill>
          <a:ln/>
        </p:spPr>
      </p:sp>
      <p:sp>
        <p:nvSpPr>
          <p:cNvPr id="21" name="Text 19"/>
          <p:cNvSpPr/>
          <p:nvPr/>
        </p:nvSpPr>
        <p:spPr>
          <a:xfrm>
            <a:off x="502920" y="4323153"/>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5</a:t>
            </a:r>
            <a:endParaRPr lang="en-US" sz="1600" dirty="0"/>
          </a:p>
        </p:txBody>
      </p:sp>
      <p:sp>
        <p:nvSpPr>
          <p:cNvPr id="22" name="Shape 20"/>
          <p:cNvSpPr/>
          <p:nvPr/>
        </p:nvSpPr>
        <p:spPr>
          <a:xfrm>
            <a:off x="722376" y="4762065"/>
            <a:ext cx="0" cy="194637"/>
          </a:xfrm>
          <a:prstGeom prst="line">
            <a:avLst/>
          </a:prstGeom>
          <a:noFill/>
          <a:ln w="19050">
            <a:solidFill>
              <a:srgbClr val="E1E5EE"/>
            </a:solidFill>
            <a:prstDash val="dash"/>
          </a:ln>
        </p:spPr>
      </p:sp>
      <p:sp>
        <p:nvSpPr>
          <p:cNvPr id="23" name="Text 21"/>
          <p:cNvSpPr/>
          <p:nvPr/>
        </p:nvSpPr>
        <p:spPr>
          <a:xfrm>
            <a:off x="1188720" y="4225834"/>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Meeting booking</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A prospect's response can be turned directly into a scheduled meeting, conflict-checked and calendar-exportable</a:t>
            </a:r>
            <a:endParaRPr lang="en-US" sz="1300" dirty="0"/>
          </a:p>
        </p:txBody>
      </p:sp>
      <p:sp>
        <p:nvSpPr>
          <p:cNvPr id="24" name="Shape 22"/>
          <p:cNvSpPr/>
          <p:nvPr/>
        </p:nvSpPr>
        <p:spPr>
          <a:xfrm>
            <a:off x="502920" y="4956701"/>
            <a:ext cx="438912" cy="438912"/>
          </a:xfrm>
          <a:prstGeom prst="ellipse">
            <a:avLst/>
          </a:prstGeom>
          <a:solidFill>
            <a:srgbClr val="0B1220"/>
          </a:solidFill>
          <a:ln/>
        </p:spPr>
      </p:sp>
      <p:sp>
        <p:nvSpPr>
          <p:cNvPr id="25" name="Text 23"/>
          <p:cNvSpPr/>
          <p:nvPr/>
        </p:nvSpPr>
        <p:spPr>
          <a:xfrm>
            <a:off x="502920" y="4956701"/>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6</a:t>
            </a:r>
            <a:endParaRPr lang="en-US" sz="1600" dirty="0"/>
          </a:p>
        </p:txBody>
      </p:sp>
      <p:sp>
        <p:nvSpPr>
          <p:cNvPr id="26" name="Shape 24"/>
          <p:cNvSpPr/>
          <p:nvPr/>
        </p:nvSpPr>
        <p:spPr>
          <a:xfrm>
            <a:off x="722376" y="5395613"/>
            <a:ext cx="0" cy="194637"/>
          </a:xfrm>
          <a:prstGeom prst="line">
            <a:avLst/>
          </a:prstGeom>
          <a:noFill/>
          <a:ln w="19050">
            <a:solidFill>
              <a:srgbClr val="E1E5EE"/>
            </a:solidFill>
            <a:prstDash val="dash"/>
          </a:ln>
        </p:spPr>
      </p:sp>
      <p:sp>
        <p:nvSpPr>
          <p:cNvPr id="27" name="Text 25"/>
          <p:cNvSpPr/>
          <p:nvPr/>
        </p:nvSpPr>
        <p:spPr>
          <a:xfrm>
            <a:off x="1188720" y="4859383"/>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Follow-up</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A reply, positive or negative, can automatically pause the sequence for that contact and flag the account for human follow-up</a:t>
            </a:r>
            <a:endParaRPr lang="en-US" sz="1300" dirty="0"/>
          </a:p>
        </p:txBody>
      </p:sp>
      <p:sp>
        <p:nvSpPr>
          <p:cNvPr id="28" name="Shape 26"/>
          <p:cNvSpPr/>
          <p:nvPr/>
        </p:nvSpPr>
        <p:spPr>
          <a:xfrm>
            <a:off x="502920" y="5590250"/>
            <a:ext cx="438912" cy="438912"/>
          </a:xfrm>
          <a:prstGeom prst="ellipse">
            <a:avLst/>
          </a:prstGeom>
          <a:solidFill>
            <a:srgbClr val="0B1220"/>
          </a:solidFill>
          <a:ln/>
        </p:spPr>
      </p:sp>
      <p:sp>
        <p:nvSpPr>
          <p:cNvPr id="29" name="Text 27"/>
          <p:cNvSpPr/>
          <p:nvPr/>
        </p:nvSpPr>
        <p:spPr>
          <a:xfrm>
            <a:off x="502920" y="5590250"/>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7</a:t>
            </a:r>
            <a:endParaRPr lang="en-US" sz="1600" dirty="0"/>
          </a:p>
        </p:txBody>
      </p:sp>
      <p:sp>
        <p:nvSpPr>
          <p:cNvPr id="30" name="Text 28"/>
          <p:cNvSpPr/>
          <p:nvPr/>
        </p:nvSpPr>
        <p:spPr>
          <a:xfrm>
            <a:off x="1188720" y="5492931"/>
            <a:ext cx="10362895" cy="633549"/>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CRM update &amp; opportunity creation</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Engagement (opens, clicks, replies, meetings) rolls up into the account score, and a qualified prospect becomes a new Opportunity on the deal board</a:t>
            </a:r>
            <a:endParaRPr lang="en-US" sz="1300" dirty="0"/>
          </a:p>
        </p:txBody>
      </p:sp>
      <p:sp>
        <p:nvSpPr>
          <p:cNvPr id="31" name="Text 29"/>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32" name="Text 30"/>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82</a:t>
            </a:r>
            <a:endParaRPr lang="en-US" sz="8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12 — CAMPAIGN FLOW</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Campaign flow — what's real vs. what's gated</a:t>
            </a:r>
            <a:endParaRPr lang="en-US" sz="26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929629"/>
                <a:gridCol w="1686756"/>
                <a:gridCol w="6569471"/>
              </a:tblGrid>
              <a:tr h="5943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gates it</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Audience selection &amp; live count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Nothing — fully working today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Personalisation (merge tags + AI draft)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Nothing — fully working today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Actual email delivery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23B3B"/>
                          </a:solidFill>
                          <a:latin typeface="Calibri" pitchFamily="34" charset="0"/>
                          <a:ea typeface="Calibri" pitchFamily="34" charset="-122"/>
                          <a:cs typeface="Calibri" pitchFamily="34" charset="-120"/>
                        </a:rPr>
                        <a:t>BLOCKED</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AEA"/>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Needs a verified sending domain and Amazon SES credentials — currently dry-run by design so nothing can accidentally email a real bank contact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Landing pages &amp; forms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Nothing — fully working today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Meeting booking</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Full two-way calendar sync (Google/Outlook) is credential-gated; manual scheduling with conflict-check works today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Reply-triggered pause &amp; follow-up</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Nothing — fully working today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59436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Opportunity creation from engagement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9D55"/>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Nothing — fully working today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83</a:t>
            </a:r>
            <a:endParaRPr lang="en-US" sz="8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12 — CAMPAIGN FLOW</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The entire customer journey, described for a business reader</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5000"/>
              </a:lnSpc>
              <a:buNone/>
            </a:pPr>
            <a:r>
              <a:rPr lang="en-US" sz="1350" dirty="0">
                <a:solidFill>
                  <a:srgbClr val="586080"/>
                </a:solidFill>
                <a:latin typeface="Calibri" pitchFamily="34" charset="0"/>
                <a:ea typeface="Calibri" pitchFamily="34" charset="-122"/>
                <a:cs typeface="Calibri" pitchFamily="34" charset="-120"/>
              </a:rPr>
              <a:t>A campaign starts with a question, not a button click: 'who exactly do we want to reach, and why.' DRIP answers that with segments that update themselves — if a new contact matches 'Tier 1 at a bank with a recent signal' tomorrow, they're automatically included the next time that segment is used.</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5000"/>
              </a:lnSpc>
              <a:buNone/>
            </a:pPr>
            <a:r>
              <a:rPr lang="en-US" sz="1350" dirty="0">
                <a:solidFill>
                  <a:srgbClr val="586080"/>
                </a:solidFill>
                <a:latin typeface="Calibri" pitchFamily="34" charset="0"/>
                <a:ea typeface="Calibri" pitchFamily="34" charset="-122"/>
                <a:cs typeface="Calibri" pitchFamily="34" charset="-120"/>
              </a:rPr>
              <a:t>From there, the system does the boring-but-important work: making sure the email looks personal, making sure nobody who unsubscribed or is on a do-not-contact list ever receives it, and recording exactly what happened to every single message.</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5000"/>
              </a:lnSpc>
              <a:buNone/>
            </a:pPr>
            <a:r>
              <a:rPr lang="en-US" sz="1350" dirty="0">
                <a:solidFill>
                  <a:srgbClr val="586080"/>
                </a:solidFill>
                <a:latin typeface="Calibri" pitchFamily="34" charset="0"/>
                <a:ea typeface="Calibri" pitchFamily="34" charset="-122"/>
                <a:cs typeface="Calibri" pitchFamily="34" charset="-120"/>
              </a:rPr>
              <a:t>The moment a prospect engages — opens, clicks, replies, or books a meeting — that signal doesn't just sit in a marketing report. It flows straight into the same account record a salesperson is looking at, updates that account's score, and can trigger a real opportunity to appear on the deal board without anyone re-typing anything.</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5000"/>
              </a:lnSpc>
              <a:buNone/>
            </a:pPr>
            <a:r>
              <a:rPr lang="en-US" sz="1350" dirty="0">
                <a:solidFill>
                  <a:srgbClr val="586080"/>
                </a:solidFill>
                <a:latin typeface="Calibri" pitchFamily="34" charset="0"/>
                <a:ea typeface="Calibri" pitchFamily="34" charset="-122"/>
                <a:cs typeface="Calibri" pitchFamily="34" charset="-120"/>
              </a:rPr>
              <a:t>That closed loop — marketing engagement becoming sales pipeline automatically — is the entire point of an account-based system, and it is one of the parts of DRIP that the project's own honest audit says already matches or exceeds what Mailchimp and HubSpot do out of the box.</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84</a:t>
            </a:r>
            <a:endParaRPr lang="en-US" sz="8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13</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13</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Complete User Flow</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What a normal working day inside DRIP OS actually looks like, screen by screen.</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Login and the Dashboard</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Search, Profile, People</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Relationship mapping and Campaigns</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Meetings, Analytics, and the feedback loop</a:t>
            </a:r>
            <a:endParaRPr lang="en-US" sz="12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13 — COMPLETE USER FLOW</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A day inside DRIP OS</a:t>
            </a:r>
            <a:endParaRPr lang="en-US" sz="2600" dirty="0"/>
          </a:p>
        </p:txBody>
      </p:sp>
      <p:sp>
        <p:nvSpPr>
          <p:cNvPr id="4" name="Shape 2"/>
          <p:cNvSpPr/>
          <p:nvPr/>
        </p:nvSpPr>
        <p:spPr>
          <a:xfrm>
            <a:off x="502920" y="1718564"/>
            <a:ext cx="438912" cy="438912"/>
          </a:xfrm>
          <a:prstGeom prst="ellipse">
            <a:avLst/>
          </a:prstGeom>
          <a:solidFill>
            <a:srgbClr val="0B1220"/>
          </a:solidFill>
          <a:ln/>
        </p:spPr>
      </p:sp>
      <p:sp>
        <p:nvSpPr>
          <p:cNvPr id="5" name="Text 3"/>
          <p:cNvSpPr/>
          <p:nvPr/>
        </p:nvSpPr>
        <p:spPr>
          <a:xfrm>
            <a:off x="502920" y="171856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1</a:t>
            </a:r>
            <a:endParaRPr lang="en-US" sz="1600" dirty="0"/>
          </a:p>
        </p:txBody>
      </p:sp>
      <p:sp>
        <p:nvSpPr>
          <p:cNvPr id="6" name="Shape 4"/>
          <p:cNvSpPr/>
          <p:nvPr/>
        </p:nvSpPr>
        <p:spPr>
          <a:xfrm>
            <a:off x="722376" y="2157476"/>
            <a:ext cx="0" cy="53848"/>
          </a:xfrm>
          <a:prstGeom prst="line">
            <a:avLst/>
          </a:prstGeom>
          <a:noFill/>
          <a:ln w="19050">
            <a:solidFill>
              <a:srgbClr val="E1E5EE"/>
            </a:solidFill>
            <a:prstDash val="dash"/>
          </a:ln>
        </p:spPr>
      </p:sp>
      <p:sp>
        <p:nvSpPr>
          <p:cNvPr id="7" name="Text 5"/>
          <p:cNvSpPr/>
          <p:nvPr/>
        </p:nvSpPr>
        <p:spPr>
          <a:xfrm>
            <a:off x="1188720" y="1691640"/>
            <a:ext cx="10362895" cy="49276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Login</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One login for the whole application — no separate logins for CRM vs. marketing vs. reporting</a:t>
            </a:r>
            <a:endParaRPr lang="en-US" sz="1300" dirty="0"/>
          </a:p>
        </p:txBody>
      </p:sp>
      <p:sp>
        <p:nvSpPr>
          <p:cNvPr id="8" name="Shape 6"/>
          <p:cNvSpPr/>
          <p:nvPr/>
        </p:nvSpPr>
        <p:spPr>
          <a:xfrm>
            <a:off x="502920" y="2211324"/>
            <a:ext cx="438912" cy="438912"/>
          </a:xfrm>
          <a:prstGeom prst="ellipse">
            <a:avLst/>
          </a:prstGeom>
          <a:solidFill>
            <a:srgbClr val="0B1220"/>
          </a:solidFill>
          <a:ln/>
        </p:spPr>
      </p:sp>
      <p:sp>
        <p:nvSpPr>
          <p:cNvPr id="9" name="Text 7"/>
          <p:cNvSpPr/>
          <p:nvPr/>
        </p:nvSpPr>
        <p:spPr>
          <a:xfrm>
            <a:off x="502920" y="221132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2</a:t>
            </a:r>
            <a:endParaRPr lang="en-US" sz="1600" dirty="0"/>
          </a:p>
        </p:txBody>
      </p:sp>
      <p:sp>
        <p:nvSpPr>
          <p:cNvPr id="10" name="Shape 8"/>
          <p:cNvSpPr/>
          <p:nvPr/>
        </p:nvSpPr>
        <p:spPr>
          <a:xfrm>
            <a:off x="722376" y="2650236"/>
            <a:ext cx="0" cy="53848"/>
          </a:xfrm>
          <a:prstGeom prst="line">
            <a:avLst/>
          </a:prstGeom>
          <a:noFill/>
          <a:ln w="19050">
            <a:solidFill>
              <a:srgbClr val="E1E5EE"/>
            </a:solidFill>
            <a:prstDash val="dash"/>
          </a:ln>
        </p:spPr>
      </p:sp>
      <p:sp>
        <p:nvSpPr>
          <p:cNvPr id="11" name="Text 9"/>
          <p:cNvSpPr/>
          <p:nvPr/>
        </p:nvSpPr>
        <p:spPr>
          <a:xfrm>
            <a:off x="1188720" y="2184400"/>
            <a:ext cx="10362895" cy="49276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Dashboard</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See pipeline health, top signals, and anything overdue in one glance</a:t>
            </a:r>
            <a:endParaRPr lang="en-US" sz="1300" dirty="0"/>
          </a:p>
        </p:txBody>
      </p:sp>
      <p:sp>
        <p:nvSpPr>
          <p:cNvPr id="12" name="Shape 10"/>
          <p:cNvSpPr/>
          <p:nvPr/>
        </p:nvSpPr>
        <p:spPr>
          <a:xfrm>
            <a:off x="502920" y="2704084"/>
            <a:ext cx="438912" cy="438912"/>
          </a:xfrm>
          <a:prstGeom prst="ellipse">
            <a:avLst/>
          </a:prstGeom>
          <a:solidFill>
            <a:srgbClr val="0B1220"/>
          </a:solidFill>
          <a:ln/>
        </p:spPr>
      </p:sp>
      <p:sp>
        <p:nvSpPr>
          <p:cNvPr id="13" name="Text 11"/>
          <p:cNvSpPr/>
          <p:nvPr/>
        </p:nvSpPr>
        <p:spPr>
          <a:xfrm>
            <a:off x="502920" y="270408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3</a:t>
            </a:r>
            <a:endParaRPr lang="en-US" sz="1600" dirty="0"/>
          </a:p>
        </p:txBody>
      </p:sp>
      <p:sp>
        <p:nvSpPr>
          <p:cNvPr id="14" name="Shape 12"/>
          <p:cNvSpPr/>
          <p:nvPr/>
        </p:nvSpPr>
        <p:spPr>
          <a:xfrm>
            <a:off x="722376" y="3142996"/>
            <a:ext cx="0" cy="53848"/>
          </a:xfrm>
          <a:prstGeom prst="line">
            <a:avLst/>
          </a:prstGeom>
          <a:noFill/>
          <a:ln w="19050">
            <a:solidFill>
              <a:srgbClr val="E1E5EE"/>
            </a:solidFill>
            <a:prstDash val="dash"/>
          </a:ln>
        </p:spPr>
      </p:sp>
      <p:sp>
        <p:nvSpPr>
          <p:cNvPr id="15" name="Text 13"/>
          <p:cNvSpPr/>
          <p:nvPr/>
        </p:nvSpPr>
        <p:spPr>
          <a:xfrm>
            <a:off x="1188720" y="2677160"/>
            <a:ext cx="10362895" cy="49276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Search</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Ctrl+K instantly finds any bank, contact, deal, or campaign by name</a:t>
            </a:r>
            <a:endParaRPr lang="en-US" sz="1300" dirty="0"/>
          </a:p>
        </p:txBody>
      </p:sp>
      <p:sp>
        <p:nvSpPr>
          <p:cNvPr id="16" name="Shape 14"/>
          <p:cNvSpPr/>
          <p:nvPr/>
        </p:nvSpPr>
        <p:spPr>
          <a:xfrm>
            <a:off x="502920" y="3196844"/>
            <a:ext cx="438912" cy="438912"/>
          </a:xfrm>
          <a:prstGeom prst="ellipse">
            <a:avLst/>
          </a:prstGeom>
          <a:solidFill>
            <a:srgbClr val="0B1220"/>
          </a:solidFill>
          <a:ln/>
        </p:spPr>
      </p:sp>
      <p:sp>
        <p:nvSpPr>
          <p:cNvPr id="17" name="Text 15"/>
          <p:cNvSpPr/>
          <p:nvPr/>
        </p:nvSpPr>
        <p:spPr>
          <a:xfrm>
            <a:off x="502920" y="319684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4</a:t>
            </a:r>
            <a:endParaRPr lang="en-US" sz="1600" dirty="0"/>
          </a:p>
        </p:txBody>
      </p:sp>
      <p:sp>
        <p:nvSpPr>
          <p:cNvPr id="18" name="Shape 16"/>
          <p:cNvSpPr/>
          <p:nvPr/>
        </p:nvSpPr>
        <p:spPr>
          <a:xfrm>
            <a:off x="722376" y="3635756"/>
            <a:ext cx="0" cy="53848"/>
          </a:xfrm>
          <a:prstGeom prst="line">
            <a:avLst/>
          </a:prstGeom>
          <a:noFill/>
          <a:ln w="19050">
            <a:solidFill>
              <a:srgbClr val="E1E5EE"/>
            </a:solidFill>
            <a:prstDash val="dash"/>
          </a:ln>
        </p:spPr>
      </p:sp>
      <p:sp>
        <p:nvSpPr>
          <p:cNvPr id="19" name="Text 17"/>
          <p:cNvSpPr/>
          <p:nvPr/>
        </p:nvSpPr>
        <p:spPr>
          <a:xfrm>
            <a:off x="1188720" y="3169920"/>
            <a:ext cx="10362895" cy="49276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Profile / People</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Open a contact's full picture — role, committee position, every past interaction</a:t>
            </a:r>
            <a:endParaRPr lang="en-US" sz="1300" dirty="0"/>
          </a:p>
        </p:txBody>
      </p:sp>
      <p:sp>
        <p:nvSpPr>
          <p:cNvPr id="20" name="Shape 18"/>
          <p:cNvSpPr/>
          <p:nvPr/>
        </p:nvSpPr>
        <p:spPr>
          <a:xfrm>
            <a:off x="502920" y="3689604"/>
            <a:ext cx="438912" cy="438912"/>
          </a:xfrm>
          <a:prstGeom prst="ellipse">
            <a:avLst/>
          </a:prstGeom>
          <a:solidFill>
            <a:srgbClr val="0B1220"/>
          </a:solidFill>
          <a:ln/>
        </p:spPr>
      </p:sp>
      <p:sp>
        <p:nvSpPr>
          <p:cNvPr id="21" name="Text 19"/>
          <p:cNvSpPr/>
          <p:nvPr/>
        </p:nvSpPr>
        <p:spPr>
          <a:xfrm>
            <a:off x="502920" y="368960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5</a:t>
            </a:r>
            <a:endParaRPr lang="en-US" sz="1600" dirty="0"/>
          </a:p>
        </p:txBody>
      </p:sp>
      <p:sp>
        <p:nvSpPr>
          <p:cNvPr id="22" name="Shape 20"/>
          <p:cNvSpPr/>
          <p:nvPr/>
        </p:nvSpPr>
        <p:spPr>
          <a:xfrm>
            <a:off x="722376" y="4128516"/>
            <a:ext cx="0" cy="53848"/>
          </a:xfrm>
          <a:prstGeom prst="line">
            <a:avLst/>
          </a:prstGeom>
          <a:noFill/>
          <a:ln w="19050">
            <a:solidFill>
              <a:srgbClr val="E1E5EE"/>
            </a:solidFill>
            <a:prstDash val="dash"/>
          </a:ln>
        </p:spPr>
      </p:sp>
      <p:sp>
        <p:nvSpPr>
          <p:cNvPr id="23" name="Text 21"/>
          <p:cNvSpPr/>
          <p:nvPr/>
        </p:nvSpPr>
        <p:spPr>
          <a:xfrm>
            <a:off x="1188720" y="3662680"/>
            <a:ext cx="10362895" cy="49276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Relationship mapping</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See who else at this bank, or who at another account, could open a door here</a:t>
            </a:r>
            <a:endParaRPr lang="en-US" sz="1300" dirty="0"/>
          </a:p>
        </p:txBody>
      </p:sp>
      <p:sp>
        <p:nvSpPr>
          <p:cNvPr id="24" name="Shape 22"/>
          <p:cNvSpPr/>
          <p:nvPr/>
        </p:nvSpPr>
        <p:spPr>
          <a:xfrm>
            <a:off x="502920" y="4182364"/>
            <a:ext cx="438912" cy="438912"/>
          </a:xfrm>
          <a:prstGeom prst="ellipse">
            <a:avLst/>
          </a:prstGeom>
          <a:solidFill>
            <a:srgbClr val="0B1220"/>
          </a:solidFill>
          <a:ln/>
        </p:spPr>
      </p:sp>
      <p:sp>
        <p:nvSpPr>
          <p:cNvPr id="25" name="Text 23"/>
          <p:cNvSpPr/>
          <p:nvPr/>
        </p:nvSpPr>
        <p:spPr>
          <a:xfrm>
            <a:off x="502920" y="418236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6</a:t>
            </a:r>
            <a:endParaRPr lang="en-US" sz="1600" dirty="0"/>
          </a:p>
        </p:txBody>
      </p:sp>
      <p:sp>
        <p:nvSpPr>
          <p:cNvPr id="26" name="Shape 24"/>
          <p:cNvSpPr/>
          <p:nvPr/>
        </p:nvSpPr>
        <p:spPr>
          <a:xfrm>
            <a:off x="722376" y="4621276"/>
            <a:ext cx="0" cy="53848"/>
          </a:xfrm>
          <a:prstGeom prst="line">
            <a:avLst/>
          </a:prstGeom>
          <a:noFill/>
          <a:ln w="19050">
            <a:solidFill>
              <a:srgbClr val="E1E5EE"/>
            </a:solidFill>
            <a:prstDash val="dash"/>
          </a:ln>
        </p:spPr>
      </p:sp>
      <p:sp>
        <p:nvSpPr>
          <p:cNvPr id="27" name="Text 25"/>
          <p:cNvSpPr/>
          <p:nvPr/>
        </p:nvSpPr>
        <p:spPr>
          <a:xfrm>
            <a:off x="1188720" y="4155440"/>
            <a:ext cx="10362895" cy="49276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Campaign / outreach</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Check what sequence or campaign this contact is enrolled in, and its status</a:t>
            </a:r>
            <a:endParaRPr lang="en-US" sz="1300" dirty="0"/>
          </a:p>
        </p:txBody>
      </p:sp>
      <p:sp>
        <p:nvSpPr>
          <p:cNvPr id="28" name="Shape 26"/>
          <p:cNvSpPr/>
          <p:nvPr/>
        </p:nvSpPr>
        <p:spPr>
          <a:xfrm>
            <a:off x="502920" y="4675124"/>
            <a:ext cx="438912" cy="438912"/>
          </a:xfrm>
          <a:prstGeom prst="ellipse">
            <a:avLst/>
          </a:prstGeom>
          <a:solidFill>
            <a:srgbClr val="0B1220"/>
          </a:solidFill>
          <a:ln/>
        </p:spPr>
      </p:sp>
      <p:sp>
        <p:nvSpPr>
          <p:cNvPr id="29" name="Text 27"/>
          <p:cNvSpPr/>
          <p:nvPr/>
        </p:nvSpPr>
        <p:spPr>
          <a:xfrm>
            <a:off x="502920" y="467512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7</a:t>
            </a:r>
            <a:endParaRPr lang="en-US" sz="1600" dirty="0"/>
          </a:p>
        </p:txBody>
      </p:sp>
      <p:sp>
        <p:nvSpPr>
          <p:cNvPr id="30" name="Shape 28"/>
          <p:cNvSpPr/>
          <p:nvPr/>
        </p:nvSpPr>
        <p:spPr>
          <a:xfrm>
            <a:off x="722376" y="5114036"/>
            <a:ext cx="0" cy="53848"/>
          </a:xfrm>
          <a:prstGeom prst="line">
            <a:avLst/>
          </a:prstGeom>
          <a:noFill/>
          <a:ln w="19050">
            <a:solidFill>
              <a:srgbClr val="E1E5EE"/>
            </a:solidFill>
            <a:prstDash val="dash"/>
          </a:ln>
        </p:spPr>
      </p:sp>
      <p:sp>
        <p:nvSpPr>
          <p:cNvPr id="31" name="Text 29"/>
          <p:cNvSpPr/>
          <p:nvPr/>
        </p:nvSpPr>
        <p:spPr>
          <a:xfrm>
            <a:off x="1188720" y="4648200"/>
            <a:ext cx="10362895" cy="49276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Meeting</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Book, prepare for, and log the outcome of a call or visit</a:t>
            </a:r>
            <a:endParaRPr lang="en-US" sz="1300" dirty="0"/>
          </a:p>
        </p:txBody>
      </p:sp>
      <p:sp>
        <p:nvSpPr>
          <p:cNvPr id="32" name="Shape 30"/>
          <p:cNvSpPr/>
          <p:nvPr/>
        </p:nvSpPr>
        <p:spPr>
          <a:xfrm>
            <a:off x="502920" y="5167884"/>
            <a:ext cx="438912" cy="438912"/>
          </a:xfrm>
          <a:prstGeom prst="ellipse">
            <a:avLst/>
          </a:prstGeom>
          <a:solidFill>
            <a:srgbClr val="0B1220"/>
          </a:solidFill>
          <a:ln/>
        </p:spPr>
      </p:sp>
      <p:sp>
        <p:nvSpPr>
          <p:cNvPr id="33" name="Text 31"/>
          <p:cNvSpPr/>
          <p:nvPr/>
        </p:nvSpPr>
        <p:spPr>
          <a:xfrm>
            <a:off x="502920" y="516788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8</a:t>
            </a:r>
            <a:endParaRPr lang="en-US" sz="1600" dirty="0"/>
          </a:p>
        </p:txBody>
      </p:sp>
      <p:sp>
        <p:nvSpPr>
          <p:cNvPr id="34" name="Shape 32"/>
          <p:cNvSpPr/>
          <p:nvPr/>
        </p:nvSpPr>
        <p:spPr>
          <a:xfrm>
            <a:off x="722376" y="5606796"/>
            <a:ext cx="0" cy="53848"/>
          </a:xfrm>
          <a:prstGeom prst="line">
            <a:avLst/>
          </a:prstGeom>
          <a:noFill/>
          <a:ln w="19050">
            <a:solidFill>
              <a:srgbClr val="E1E5EE"/>
            </a:solidFill>
            <a:prstDash val="dash"/>
          </a:ln>
        </p:spPr>
      </p:sp>
      <p:sp>
        <p:nvSpPr>
          <p:cNvPr id="35" name="Text 33"/>
          <p:cNvSpPr/>
          <p:nvPr/>
        </p:nvSpPr>
        <p:spPr>
          <a:xfrm>
            <a:off x="1188720" y="5140960"/>
            <a:ext cx="10362895" cy="49276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Analytics</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Confirm whether last week's outreach is actually moving the numbers</a:t>
            </a:r>
            <a:endParaRPr lang="en-US" sz="1300" dirty="0"/>
          </a:p>
        </p:txBody>
      </p:sp>
      <p:sp>
        <p:nvSpPr>
          <p:cNvPr id="36" name="Shape 34"/>
          <p:cNvSpPr/>
          <p:nvPr/>
        </p:nvSpPr>
        <p:spPr>
          <a:xfrm>
            <a:off x="502920" y="5660644"/>
            <a:ext cx="438912" cy="438912"/>
          </a:xfrm>
          <a:prstGeom prst="ellipse">
            <a:avLst/>
          </a:prstGeom>
          <a:solidFill>
            <a:srgbClr val="0B1220"/>
          </a:solidFill>
          <a:ln/>
        </p:spPr>
      </p:sp>
      <p:sp>
        <p:nvSpPr>
          <p:cNvPr id="37" name="Text 35"/>
          <p:cNvSpPr/>
          <p:nvPr/>
        </p:nvSpPr>
        <p:spPr>
          <a:xfrm>
            <a:off x="502920" y="5660644"/>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9</a:t>
            </a:r>
            <a:endParaRPr lang="en-US" sz="1600" dirty="0"/>
          </a:p>
        </p:txBody>
      </p:sp>
      <p:sp>
        <p:nvSpPr>
          <p:cNvPr id="38" name="Text 36"/>
          <p:cNvSpPr/>
          <p:nvPr/>
        </p:nvSpPr>
        <p:spPr>
          <a:xfrm>
            <a:off x="1188720" y="5633720"/>
            <a:ext cx="10362895" cy="49276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Feedback loop</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Everything logged today feeds tomorrow's Dashboard, score, and AI recommendations</a:t>
            </a:r>
            <a:endParaRPr lang="en-US" sz="1300" dirty="0"/>
          </a:p>
        </p:txBody>
      </p:sp>
      <p:sp>
        <p:nvSpPr>
          <p:cNvPr id="39" name="Text 37"/>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40" name="Text 38"/>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85</a:t>
            </a:r>
            <a:endParaRPr lang="en-US" sz="8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13 — COMPLETE USER FLOW</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Why the loop closes — and why that matters</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Nothing is a dead end.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search result opens a full profile; a profile shows relationships; a relationship suggests an action; an action becomes a logged activity; a logged activity improves tomorrow's score and AI recommendation.</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The system gets smarter the more it's used.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Every logged call, every campaign engagement, every relationship recorded makes the next day's Dashboard and AI suggestions a little more accurate — this is a deliberate design property, not an accident.</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One login, one mental model.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Because it's a single application rather than several disconnected tools, a new team member only has to learn one navigation pattern, one search box, and one login to become productive.</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This is what 'operating system' means in the name.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DRIP OS isn't a CRM with marketing bolted on — it's meant to be the one place a BD professional's entire working day happens, the way an operating system is the one place all of a computer's programs run.</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86</a:t>
            </a:r>
            <a:endParaRPr lang="en-US" sz="8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14</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14</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Current Status</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What is actually done, right now, module by module — pulled directly from the engineering team's own capability registry, not a status report written for this deck.</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Three honest scores, three different questions</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Status by module</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What 'complete' really means here</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The Feature Parity dashboard, live in the product</a:t>
            </a:r>
            <a:endParaRPr lang="en-US" sz="12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14 — CURRENT STATUS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Three honest scores — and why they don't contradict each other</a:t>
            </a:r>
            <a:endParaRPr lang="en-US" sz="2600" dirty="0"/>
          </a:p>
        </p:txBody>
      </p:sp>
      <p:sp>
        <p:nvSpPr>
          <p:cNvPr id="4" name="Shape 2"/>
          <p:cNvSpPr/>
          <p:nvPr/>
        </p:nvSpPr>
        <p:spPr>
          <a:xfrm>
            <a:off x="502920" y="1554480"/>
            <a:ext cx="3515258" cy="2148840"/>
          </a:xfrm>
          <a:prstGeom prst="rect">
            <a:avLst/>
          </a:prstGeom>
          <a:solidFill>
            <a:srgbClr val="0B1220"/>
          </a:solidFill>
          <a:ln/>
        </p:spPr>
      </p:sp>
      <p:sp>
        <p:nvSpPr>
          <p:cNvPr id="5" name="Shape 3"/>
          <p:cNvSpPr/>
          <p:nvPr/>
        </p:nvSpPr>
        <p:spPr>
          <a:xfrm>
            <a:off x="502920" y="1554480"/>
            <a:ext cx="3515258" cy="82296"/>
          </a:xfrm>
          <a:prstGeom prst="rect">
            <a:avLst/>
          </a:prstGeom>
          <a:solidFill>
            <a:srgbClr val="C9A227"/>
          </a:solidFill>
          <a:ln/>
        </p:spPr>
      </p:sp>
      <p:sp>
        <p:nvSpPr>
          <p:cNvPr id="6" name="Text 4"/>
          <p:cNvSpPr/>
          <p:nvPr/>
        </p:nvSpPr>
        <p:spPr>
          <a:xfrm>
            <a:off x="640080" y="1874520"/>
            <a:ext cx="3240938" cy="100584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80%</a:t>
            </a:r>
            <a:endParaRPr lang="en-US" sz="3400" dirty="0"/>
          </a:p>
        </p:txBody>
      </p:sp>
      <p:sp>
        <p:nvSpPr>
          <p:cNvPr id="7" name="Text 5"/>
          <p:cNvSpPr/>
          <p:nvPr/>
        </p:nvSpPr>
        <p:spPr>
          <a:xfrm>
            <a:off x="640080" y="2926080"/>
            <a:ext cx="3240938" cy="685800"/>
          </a:xfrm>
          <a:prstGeom prst="rect">
            <a:avLst/>
          </a:prstGeom>
          <a:noFill/>
          <a:ln/>
        </p:spPr>
        <p:txBody>
          <a:bodyPr wrap="square" rtlCol="0" anchor="t"/>
          <a:lstStyle/>
          <a:p>
            <a:pPr algn="ctr" indent="0" marL="0">
              <a:lnSpc>
                <a:spcPct val="110000"/>
              </a:lnSpc>
              <a:buNone/>
            </a:pPr>
            <a:r>
              <a:rPr lang="en-US" sz="1150" dirty="0">
                <a:solidFill>
                  <a:srgbClr val="D7E1F2"/>
                </a:solidFill>
                <a:latin typeface="Calibri" pitchFamily="34" charset="0"/>
                <a:ea typeface="Calibri" pitchFamily="34" charset="-122"/>
                <a:cs typeface="Calibri" pitchFamily="34" charset="-120"/>
              </a:rPr>
              <a:t>of scoped engineering capabilities are functionally complete (63 tracked capabilities)</a:t>
            </a:r>
            <a:endParaRPr lang="en-US" sz="1150" dirty="0"/>
          </a:p>
        </p:txBody>
      </p:sp>
      <p:sp>
        <p:nvSpPr>
          <p:cNvPr id="8" name="Shape 6"/>
          <p:cNvSpPr/>
          <p:nvPr/>
        </p:nvSpPr>
        <p:spPr>
          <a:xfrm>
            <a:off x="4338218" y="1554480"/>
            <a:ext cx="3515258" cy="2148840"/>
          </a:xfrm>
          <a:prstGeom prst="rect">
            <a:avLst/>
          </a:prstGeom>
          <a:solidFill>
            <a:srgbClr val="0B1220"/>
          </a:solidFill>
          <a:ln/>
        </p:spPr>
      </p:sp>
      <p:sp>
        <p:nvSpPr>
          <p:cNvPr id="9" name="Shape 7"/>
          <p:cNvSpPr/>
          <p:nvPr/>
        </p:nvSpPr>
        <p:spPr>
          <a:xfrm>
            <a:off x="4338218" y="1554480"/>
            <a:ext cx="3515258" cy="82296"/>
          </a:xfrm>
          <a:prstGeom prst="rect">
            <a:avLst/>
          </a:prstGeom>
          <a:solidFill>
            <a:srgbClr val="C9A227"/>
          </a:solidFill>
          <a:ln/>
        </p:spPr>
      </p:sp>
      <p:sp>
        <p:nvSpPr>
          <p:cNvPr id="10" name="Text 8"/>
          <p:cNvSpPr/>
          <p:nvPr/>
        </p:nvSpPr>
        <p:spPr>
          <a:xfrm>
            <a:off x="4475378" y="1874520"/>
            <a:ext cx="3240938" cy="100584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22/100</a:t>
            </a:r>
            <a:endParaRPr lang="en-US" sz="3400" dirty="0"/>
          </a:p>
        </p:txBody>
      </p:sp>
      <p:sp>
        <p:nvSpPr>
          <p:cNvPr id="11" name="Text 9"/>
          <p:cNvSpPr/>
          <p:nvPr/>
        </p:nvSpPr>
        <p:spPr>
          <a:xfrm>
            <a:off x="4475378" y="2926080"/>
            <a:ext cx="3240938" cy="685800"/>
          </a:xfrm>
          <a:prstGeom prst="rect">
            <a:avLst/>
          </a:prstGeom>
          <a:noFill/>
          <a:ln/>
        </p:spPr>
        <p:txBody>
          <a:bodyPr wrap="square" rtlCol="0" anchor="t"/>
          <a:lstStyle/>
          <a:p>
            <a:pPr algn="ctr" indent="0" marL="0">
              <a:lnSpc>
                <a:spcPct val="110000"/>
              </a:lnSpc>
              <a:buNone/>
            </a:pPr>
            <a:r>
              <a:rPr lang="en-US" sz="1150" dirty="0">
                <a:solidFill>
                  <a:srgbClr val="D7E1F2"/>
                </a:solidFill>
                <a:latin typeface="Calibri" pitchFamily="34" charset="0"/>
                <a:ea typeface="Calibri" pitchFamily="34" charset="-122"/>
                <a:cs typeface="Calibri" pitchFamily="34" charset="-120"/>
              </a:rPr>
              <a:t>as a general substitute for HubSpot + Mailchimp as products</a:t>
            </a:r>
            <a:endParaRPr lang="en-US" sz="1150" dirty="0"/>
          </a:p>
        </p:txBody>
      </p:sp>
      <p:sp>
        <p:nvSpPr>
          <p:cNvPr id="12" name="Shape 10"/>
          <p:cNvSpPr/>
          <p:nvPr/>
        </p:nvSpPr>
        <p:spPr>
          <a:xfrm>
            <a:off x="8173517" y="1554480"/>
            <a:ext cx="3515258" cy="2148840"/>
          </a:xfrm>
          <a:prstGeom prst="rect">
            <a:avLst/>
          </a:prstGeom>
          <a:solidFill>
            <a:srgbClr val="0B1220"/>
          </a:solidFill>
          <a:ln/>
        </p:spPr>
      </p:sp>
      <p:sp>
        <p:nvSpPr>
          <p:cNvPr id="13" name="Shape 11"/>
          <p:cNvSpPr/>
          <p:nvPr/>
        </p:nvSpPr>
        <p:spPr>
          <a:xfrm>
            <a:off x="8173517" y="1554480"/>
            <a:ext cx="3515258" cy="82296"/>
          </a:xfrm>
          <a:prstGeom prst="rect">
            <a:avLst/>
          </a:prstGeom>
          <a:solidFill>
            <a:srgbClr val="C9A227"/>
          </a:solidFill>
          <a:ln/>
        </p:spPr>
      </p:sp>
      <p:sp>
        <p:nvSpPr>
          <p:cNvPr id="14" name="Text 12"/>
          <p:cNvSpPr/>
          <p:nvPr/>
        </p:nvSpPr>
        <p:spPr>
          <a:xfrm>
            <a:off x="8310677" y="1874520"/>
            <a:ext cx="3240938" cy="100584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~50/100</a:t>
            </a:r>
            <a:endParaRPr lang="en-US" sz="3400" dirty="0"/>
          </a:p>
        </p:txBody>
      </p:sp>
      <p:sp>
        <p:nvSpPr>
          <p:cNvPr id="15" name="Text 13"/>
          <p:cNvSpPr/>
          <p:nvPr/>
        </p:nvSpPr>
        <p:spPr>
          <a:xfrm>
            <a:off x="8310677" y="2926080"/>
            <a:ext cx="3240938" cy="685800"/>
          </a:xfrm>
          <a:prstGeom prst="rect">
            <a:avLst/>
          </a:prstGeom>
          <a:noFill/>
          <a:ln/>
        </p:spPr>
        <p:txBody>
          <a:bodyPr wrap="square" rtlCol="0" anchor="t"/>
          <a:lstStyle/>
          <a:p>
            <a:pPr algn="ctr" indent="0" marL="0">
              <a:lnSpc>
                <a:spcPct val="110000"/>
              </a:lnSpc>
              <a:buNone/>
            </a:pPr>
            <a:r>
              <a:rPr lang="en-US" sz="1150" dirty="0">
                <a:solidFill>
                  <a:srgbClr val="D7E1F2"/>
                </a:solidFill>
                <a:latin typeface="Calibri" pitchFamily="34" charset="0"/>
                <a:ea typeface="Calibri" pitchFamily="34" charset="-122"/>
                <a:cs typeface="Calibri" pitchFamily="34" charset="-120"/>
              </a:rPr>
              <a:t>as a fit-for-purpose tool for Decimal's actual job today</a:t>
            </a:r>
            <a:endParaRPr lang="en-US" sz="1150" dirty="0"/>
          </a:p>
        </p:txBody>
      </p:sp>
      <p:sp>
        <p:nvSpPr>
          <p:cNvPr id="16" name="Text 14"/>
          <p:cNvSpPr/>
          <p:nvPr/>
        </p:nvSpPr>
        <p:spPr>
          <a:xfrm>
            <a:off x="502920" y="4023360"/>
            <a:ext cx="11185855" cy="1280160"/>
          </a:xfrm>
          <a:prstGeom prst="rect">
            <a:avLst/>
          </a:prstGeom>
          <a:noFill/>
          <a:ln/>
        </p:spPr>
        <p:txBody>
          <a:bodyPr wrap="square" rtlCol="0" anchor="ctr"/>
          <a:lstStyle/>
          <a:p>
            <a:pPr indent="0" marL="0">
              <a:lnSpc>
                <a:spcPct val="125000"/>
              </a:lnSpc>
              <a:buNone/>
            </a:pPr>
            <a:r>
              <a:rPr lang="en-US" sz="1300" dirty="0">
                <a:solidFill>
                  <a:srgbClr val="586080"/>
                </a:solidFill>
                <a:latin typeface="Calibri" pitchFamily="34" charset="0"/>
                <a:ea typeface="Calibri" pitchFamily="34" charset="-122"/>
                <a:cs typeface="Calibri" pitchFamily="34" charset="-120"/>
              </a:rPr>
              <a:t>These are three different questions, not three conflicting answers. '80% of scoped capabilities complete' means: of the specific engines we set out to build, most work. '22/100 as a HubSpot/Mailchimp substitute' means: as a general product competing on UI polish, integrations marketplace, and a decade of deliverability trust, DRIP was never trying to win that fight (Section 16). '~50/100 fit-for-purpose' is the number that actually matters day to day, and its gap is mostly deployment and data readiness, not unsolved engineering — see the next slides.</a:t>
            </a:r>
            <a:endParaRPr lang="en-US" sz="1300" dirty="0"/>
          </a:p>
        </p:txBody>
      </p:sp>
      <p:sp>
        <p:nvSpPr>
          <p:cNvPr id="17" name="Text 15"/>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8" name="Text 16"/>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87</a:t>
            </a:r>
            <a:endParaRPr lang="en-US" sz="8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14 — CURRENT STATUS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Status by module — the full capability registry</a:t>
            </a:r>
            <a:endParaRPr lang="en-US" sz="26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170390"/>
                <a:gridCol w="2170390"/>
                <a:gridCol w="1586054"/>
                <a:gridCol w="5259021"/>
              </a:tblGrid>
              <a:tr h="39624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Module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Capabilities tracked</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 complete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Where the gaps are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CRM</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88.9%</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Calling / shared inbox — planned, not started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Marketing</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85.7%</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Real email sending — coded, blocked on a domain + credentials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Sales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80.0%</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Dialer / meetings scheduler UI — planned, not started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ABM Intelligence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71.4%</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Third-party enrichment &amp; intent data — coded, blocked on API keys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AI</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83.3%</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Autonomous agents / memory / RAG — planned, next phase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Workflow</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Fully complete — no open gaps tracked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Analytics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66.7%</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GA4 integration &amp; a data warehouse — both blocked on credentials/infra</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Developer Platform</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75.0%</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GraphQL / SDKs / marketplace — planned, not started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Compliance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71.4%</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SSO/MFA/SCIM and formal certifications — blocked on an identity provider and external auditors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Platform / Ops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75.0%</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Load-tested proof at real scale — blocked on staging infrastructure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39624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Workspace / UI (DRIP OS)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80.0%</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Full Arabic translation — partially done, string catalogue incomplete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88</a:t>
            </a:r>
            <a:endParaRPr lang="en-US" sz="8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14 — CURRENT STATUS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What 'complete' actually means in this registry</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It means: real, tested, working code.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capability marked 'complete' has passing automated tests and is reachable through a real screen or API endpoint today — not a plan, not a mockup.</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It does not mean: perfect, or fully productised.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For example, custom objects are marked complete because you can create and manage them via the API and UI — but there is no drag-and-drop object builder the way HubSpot has; that's a separate, honestly-labelled gap.</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Every claim is checkable.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This deck's status labels trace back to a specific file (capability_registry.py) and a specific set of automated tests — anyone can open the code and verify a 'complete' label is true.</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'Blocked-external' is not a euphemism for 'not done'.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It specifically means the engineering work is finished and the only remaining step is something outside engineering's control — a credential, a domain, a legal sign-off, or a piece of infrastructure someone needs to provision.</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89</a:t>
            </a:r>
            <a:endParaRPr lang="en-US" sz="8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14 — CURRENT STATUS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The twelve tracked gaps, named exactly</a:t>
            </a:r>
            <a:endParaRPr lang="en-US" sz="2600" dirty="0"/>
          </a:p>
        </p:txBody>
      </p:sp>
      <p:graphicFrame>
        <p:nvGraphicFramePr>
          <p:cNvPr id="106"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074796"/>
                <a:gridCol w="7306889"/>
                <a:gridCol w="1804170"/>
              </a:tblGrid>
              <a:tr h="36576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Module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What's missing</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36576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CRM</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Calling / shared inbox</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90A2"/>
                          </a:solidFill>
                          <a:latin typeface="Calibri" pitchFamily="34" charset="0"/>
                          <a:ea typeface="Calibri" pitchFamily="34" charset="-122"/>
                          <a:cs typeface="Calibri" pitchFamily="34" charset="-120"/>
                        </a:rPr>
                        <a:t>PLANNED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DEEF2"/>
                    </a:solidFill>
                  </a:tcPr>
                </a:tc>
              </a:tr>
              <a:tr h="36576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Marketing</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Real email transport (SES) + domain warmup</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C23B3B"/>
                          </a:solidFill>
                          <a:latin typeface="Calibri" pitchFamily="34" charset="0"/>
                          <a:ea typeface="Calibri" pitchFamily="34" charset="-122"/>
                          <a:cs typeface="Calibri" pitchFamily="34" charset="-120"/>
                        </a:rPr>
                        <a:t>BLOCKED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AEA"/>
                    </a:solidFill>
                  </a:tcPr>
                </a:tc>
              </a:tr>
              <a:tr h="36576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Sales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Dialer / meetings scheduler UI</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90A2"/>
                          </a:solidFill>
                          <a:latin typeface="Calibri" pitchFamily="34" charset="0"/>
                          <a:ea typeface="Calibri" pitchFamily="34" charset="-122"/>
                          <a:cs typeface="Calibri" pitchFamily="34" charset="-120"/>
                        </a:rPr>
                        <a:t>PLANNED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DEEF2"/>
                    </a:solidFill>
                  </a:tcPr>
                </a:tc>
              </a:tr>
              <a:tr h="36576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ABM</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Third-party enrichment (Apollo/Clay adapters)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C23B3B"/>
                          </a:solidFill>
                          <a:latin typeface="Calibri" pitchFamily="34" charset="0"/>
                          <a:ea typeface="Calibri" pitchFamily="34" charset="-122"/>
                          <a:cs typeface="Calibri" pitchFamily="34" charset="-120"/>
                        </a:rPr>
                        <a:t>BLOCKED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AEA"/>
                    </a:solidFill>
                  </a:tcPr>
                </a:tc>
              </a:tr>
              <a:tr h="36576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ABM</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Intent data (bidstream)</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C23B3B"/>
                          </a:solidFill>
                          <a:latin typeface="Calibri" pitchFamily="34" charset="0"/>
                          <a:ea typeface="Calibri" pitchFamily="34" charset="-122"/>
                          <a:cs typeface="Calibri" pitchFamily="34" charset="-120"/>
                        </a:rPr>
                        <a:t>BLOCKED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AEA"/>
                    </a:solidFill>
                  </a:tcPr>
                </a:tc>
              </a:tr>
              <a:tr h="36576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AI</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Agents / memory / RAG / embeddings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8A90A2"/>
                          </a:solidFill>
                          <a:latin typeface="Calibri" pitchFamily="34" charset="0"/>
                          <a:ea typeface="Calibri" pitchFamily="34" charset="-122"/>
                          <a:cs typeface="Calibri" pitchFamily="34" charset="-120"/>
                        </a:rPr>
                        <a:t>PLANNED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DEEF2"/>
                    </a:solidFill>
                  </a:tcPr>
                </a:tc>
              </a:tr>
              <a:tr h="36576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Analytics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Google Analytics 4 integration</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C23B3B"/>
                          </a:solidFill>
                          <a:latin typeface="Calibri" pitchFamily="34" charset="0"/>
                          <a:ea typeface="Calibri" pitchFamily="34" charset="-122"/>
                          <a:cs typeface="Calibri" pitchFamily="34" charset="-120"/>
                        </a:rPr>
                        <a:t>BLOCKED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AEA"/>
                    </a:solidFill>
                  </a:tcPr>
                </a:tc>
              </a:tr>
              <a:tr h="36576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Analytics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Data warehouse (ClickHouse/Timescale) + BI</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C23B3B"/>
                          </a:solidFill>
                          <a:latin typeface="Calibri" pitchFamily="34" charset="0"/>
                          <a:ea typeface="Calibri" pitchFamily="34" charset="-122"/>
                          <a:cs typeface="Calibri" pitchFamily="34" charset="-120"/>
                        </a:rPr>
                        <a:t>BLOCKED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AEA"/>
                    </a:solidFill>
                  </a:tcPr>
                </a:tc>
              </a:tr>
              <a:tr h="36576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Developer</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GraphQL / SDKs / OAuth apps / marketplace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8A90A2"/>
                          </a:solidFill>
                          <a:latin typeface="Calibri" pitchFamily="34" charset="0"/>
                          <a:ea typeface="Calibri" pitchFamily="34" charset="-122"/>
                          <a:cs typeface="Calibri" pitchFamily="34" charset="-120"/>
                        </a:rPr>
                        <a:t>PLANNED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DEEF2"/>
                    </a:solidFill>
                  </a:tcPr>
                </a:tc>
              </a:tr>
              <a:tr h="36576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Compliance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SSO / MFA / SCIM</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C23B3B"/>
                          </a:solidFill>
                          <a:latin typeface="Calibri" pitchFamily="34" charset="0"/>
                          <a:ea typeface="Calibri" pitchFamily="34" charset="-122"/>
                          <a:cs typeface="Calibri" pitchFamily="34" charset="-120"/>
                        </a:rPr>
                        <a:t>BLOCKED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AEA"/>
                    </a:solidFill>
                  </a:tcPr>
                </a:tc>
              </a:tr>
              <a:tr h="36576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Compliance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SOC2 / ISO27001 / PDPL certification</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C23B3B"/>
                          </a:solidFill>
                          <a:latin typeface="Calibri" pitchFamily="34" charset="0"/>
                          <a:ea typeface="Calibri" pitchFamily="34" charset="-122"/>
                          <a:cs typeface="Calibri" pitchFamily="34" charset="-120"/>
                        </a:rPr>
                        <a:t>BLOCKED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AEA"/>
                    </a:solidFill>
                  </a:tcPr>
                </a:tc>
              </a:tr>
              <a:tr h="36576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Platform</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Load-tested proof at 100k contacts / 100M events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b="1" dirty="0">
                          <a:solidFill>
                            <a:srgbClr val="C23B3B"/>
                          </a:solidFill>
                          <a:latin typeface="Calibri" pitchFamily="34" charset="0"/>
                          <a:ea typeface="Calibri" pitchFamily="34" charset="-122"/>
                          <a:cs typeface="Calibri" pitchFamily="34" charset="-120"/>
                        </a:rPr>
                        <a:t>BLOCKED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EAEA"/>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90</a:t>
            </a:r>
            <a:endParaRPr lang="en-US" sz="8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15</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15</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What Is Left</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An exhaustive, honest checklist — why each item is needed, what depends on it, roughly how much effort it takes, how urgent it is, and the risk of leaving it undone.</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The five highest-leverage items, in order</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Every tracked engineering gap, prioritised</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Named data-model gaps from Sections 5-10</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What genuinely cannot be closed by writing more code</a:t>
            </a:r>
            <a:endParaRPr lang="en-US" sz="12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15 — WHAT IS LEFT</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The five highest-leverage items, in order</a:t>
            </a:r>
            <a:endParaRPr lang="en-US" sz="2600" dirty="0"/>
          </a:p>
        </p:txBody>
      </p:sp>
      <p:graphicFrame>
        <p:nvGraphicFramePr>
          <p:cNvPr id="108"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520272"/>
                <a:gridCol w="2254513"/>
                <a:gridCol w="5896420"/>
                <a:gridCol w="2514650"/>
              </a:tblGrid>
              <a:tr h="79248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Business value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Rough effort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79248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Deploy to a real server</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Nothing here matters if the team can't reach it outside one laptop — this unlocks everyday real use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Days — a hosting decision plus running the already-built deployment package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79248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Connect a real sending domain + SES + a 2-week warmup</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Turns every marketing feature in Sections 3, 9, and 12 from 'dry-run' into 'actually reaches a bank contact'</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1-2 weeks, mostly waiting on domain reputation to build, not engineering</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79248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Enrich &amp; verify the contact data with one real provider</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8,000+ contacts today are not confirmed 'outreach-ready' — a single enrichment adapter (Section 6) closes this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About a week for one adapter behind the existing waterfall engine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79248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Surface the newer engines in the everyday UI</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Several powerful engines (pipeline, tracking, decision) were built API-first — making sure every one is one click away in DRIP OS closes the last usability gap</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1-2 weeks of focused UI work</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792480">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PDPL legal sign-off</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The compliance controls are built (Section 4, Section 19); a lawyer's formal sign-off is the one gate that isn't an engineering task at all</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035"/>
                          </a:solidFill>
                          <a:latin typeface="Calibri" pitchFamily="34" charset="0"/>
                          <a:ea typeface="Calibri" pitchFamily="34" charset="-122"/>
                          <a:cs typeface="Calibri" pitchFamily="34" charset="-120"/>
                        </a:rPr>
                        <a:t>Depends entirely on legal availability, not engineering</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91</a:t>
            </a:r>
            <a:endParaRPr lang="en-US" sz="8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15 — WHAT IS LEFT</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Every tracked engineering gap — priority &amp; risk if ignored</a:t>
            </a:r>
            <a:endParaRPr lang="en-US" sz="2600" dirty="0"/>
          </a:p>
        </p:txBody>
      </p:sp>
      <p:graphicFrame>
        <p:nvGraphicFramePr>
          <p:cNvPr id="109"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3005155"/>
                <a:gridCol w="1335625"/>
                <a:gridCol w="6845076"/>
              </a:tblGrid>
              <a:tr h="47548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Gap</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Priority</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Risk if left alone</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475488">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Real email sending (SES + warmup)</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Critical</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The single biggest blocker to any real marketing use — everything else in the campaign flow is waiting on this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75488">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Third-party enrichment (Apollo/Clay)</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Contact data quality plateaus without it; today's data is real but not independently verified</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475488">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Autonomous AI agents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Nothing breaks without it — it's a capability multiplier, not a blocker, for a 5-person team</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75488">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GA4 / data warehouse &amp; BI</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Reporting stays inside DRIP's own screens rather than a company-wide analytics stack — fine at current scale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475488">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SSO / MFA / SCIM</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High (before any bank ever logs in directly)</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Not a risk today with an internal team; becomes a hard requirement the moment an external bank user needs access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75488">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SOC2 / ISO27001 / PDPL certification</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High for enterprise sales credibility</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Some enterprise banking procurement processes will not proceed without a certification on file, regardless of how good the actual controls are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475488">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Calling / shared inbox, dialer</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Low-Medium</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A convenience gap for a 5-person team already using phones and personal email directly</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75488">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GraphQL / SDKs / marketplace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Low today</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Only matters once external developers or partners need to build on top of DRIP — not yet a real scenario</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475488">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Load-tested proof at real scale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Confidence gap, not a known defect — the architecture is designed for scale (Section 4) but has not been proven under real production load</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92</a:t>
            </a:r>
            <a:endParaRPr lang="en-US" sz="8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15 — WHAT IS LEFT</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Named data-model &amp; feature gaps from earlier sections</a:t>
            </a:r>
            <a:endParaRPr lang="en-US" sz="2600" dirty="0"/>
          </a:p>
        </p:txBody>
      </p:sp>
      <p:graphicFrame>
        <p:nvGraphicFramePr>
          <p:cNvPr id="110"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706255"/>
                <a:gridCol w="1172711"/>
                <a:gridCol w="7306889"/>
              </a:tblGrid>
              <a:tr h="52832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Gap</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Section</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Why it's worth building</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528320">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Procurement History table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Turns free-text RFP notes into a queryable 'who won which tender, and when' record across all accounts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28320">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Pain Points table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Lets the AI decision engine reason directly over stated pain points instead of re-reading free text</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528320">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Dedicated Initiative master table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Initiatives today are a filtered view of Signals — a real table would let a programme be tracked over its full life, not just as news events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28320">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Natural-language / semantic search</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Removes the need to know which screen a fact lives on before you can find it</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528320">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Per-field property history view</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The raw audit data already exists; a clean 'show me every change to this one field over time' view does not yet</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28320">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Self-service 'recover deleted record' screen</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The safety net (soft delete) already exists; only the friendly recovery UI is missing</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528320">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Full Arabic (RTL) translation</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The toggle and layout support exist; the actual string catalogue is not yet fully translated</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28320">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Auto-inferred buying-committee roles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Committee roles are entered manually today; inferring likely roles from title/seniority signals would save time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93</a:t>
            </a:r>
            <a:endParaRPr lang="en-US" sz="8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15 — WHAT IS LEFT</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What genuinely cannot be closed by writing more code</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Deliverability network effects.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Mailchimp's sending infrastructure carries decades of accumulated trust with every major mailbox provider. That reputation is earned by sending real mail over time — it cannot be coded into existence on day one, no matter how good the software is.</a:t>
            </a:r>
            <a:endParaRPr lang="en-US" sz="1350" dirty="0"/>
          </a:p>
        </p:txBody>
      </p:sp>
      <p:sp>
        <p:nvSpPr>
          <p:cNvPr id="6" name="Shape 4"/>
          <p:cNvSpPr/>
          <p:nvPr/>
        </p:nvSpPr>
        <p:spPr>
          <a:xfrm>
            <a:off x="502920" y="2468880"/>
            <a:ext cx="100584" cy="100584"/>
          </a:xfrm>
          <a:prstGeom prst="ellipse">
            <a:avLst/>
          </a:prstGeom>
          <a:solidFill>
            <a:srgbClr val="C9A227"/>
          </a:solidFill>
          <a:ln/>
        </p:spPr>
      </p:sp>
      <p:sp>
        <p:nvSpPr>
          <p:cNvPr id="7" name="Text 5"/>
          <p:cNvSpPr/>
          <p:nvPr/>
        </p:nvSpPr>
        <p:spPr>
          <a:xfrm>
            <a:off x="777240" y="2331720"/>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A 1,500-app integrations marketplace.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HubSpot's ecosystem is a result of thousands of outside developers building on its platform for over a decade. DRIP can build the technical capability to support a marketplace (Section 18); it cannot manufacture the ten years of third-party adoption that fills one.</a:t>
            </a:r>
            <a:endParaRPr lang="en-US" sz="1350" dirty="0"/>
          </a:p>
        </p:txBody>
      </p:sp>
      <p:sp>
        <p:nvSpPr>
          <p:cNvPr id="8" name="Shape 6"/>
          <p:cNvSpPr/>
          <p:nvPr/>
        </p:nvSpPr>
        <p:spPr>
          <a:xfrm>
            <a:off x="502920" y="3438144"/>
            <a:ext cx="100584" cy="100584"/>
          </a:xfrm>
          <a:prstGeom prst="ellipse">
            <a:avLst/>
          </a:prstGeom>
          <a:solidFill>
            <a:srgbClr val="C9A227"/>
          </a:solidFill>
          <a:ln/>
        </p:spPr>
      </p:sp>
      <p:sp>
        <p:nvSpPr>
          <p:cNvPr id="9" name="Text 7"/>
          <p:cNvSpPr/>
          <p:nvPr/>
        </p:nvSpPr>
        <p:spPr>
          <a:xfrm>
            <a:off x="777240" y="3300984"/>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Security certifications.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SOC2, ISO27001, and similar certifications require external auditors, evidence collection over months, and often a pen test — genuinely good internal security design (which DRIP has) is necessary but not sufficient to hold a certificate.</a:t>
            </a:r>
            <a:endParaRPr lang="en-US" sz="1350" dirty="0"/>
          </a:p>
        </p:txBody>
      </p:sp>
      <p:sp>
        <p:nvSpPr>
          <p:cNvPr id="10" name="Shape 8"/>
          <p:cNvSpPr/>
          <p:nvPr/>
        </p:nvSpPr>
        <p:spPr>
          <a:xfrm>
            <a:off x="502920" y="4407408"/>
            <a:ext cx="100584" cy="100584"/>
          </a:xfrm>
          <a:prstGeom prst="ellipse">
            <a:avLst/>
          </a:prstGeom>
          <a:solidFill>
            <a:srgbClr val="C9A227"/>
          </a:solidFill>
          <a:ln/>
        </p:spPr>
      </p:sp>
      <p:sp>
        <p:nvSpPr>
          <p:cNvPr id="11" name="Text 9"/>
          <p:cNvSpPr/>
          <p:nvPr/>
        </p:nvSpPr>
        <p:spPr>
          <a:xfrm>
            <a:off x="777240" y="4270248"/>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Production track record.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Hundreds of passing automated tests prove the code works as designed; they are not the same thing as months or years of real uptime history, which is its own form of trust that only comes from time.</a:t>
            </a:r>
            <a:endParaRPr lang="en-US" sz="1350" dirty="0"/>
          </a:p>
        </p:txBody>
      </p:sp>
      <p:sp>
        <p:nvSpPr>
          <p:cNvPr id="12" name="Shape 10"/>
          <p:cNvSpPr/>
          <p:nvPr/>
        </p:nvSpPr>
        <p:spPr>
          <a:xfrm>
            <a:off x="502920" y="5376672"/>
            <a:ext cx="100584" cy="100584"/>
          </a:xfrm>
          <a:prstGeom prst="ellipse">
            <a:avLst/>
          </a:prstGeom>
          <a:solidFill>
            <a:srgbClr val="C9A227"/>
          </a:solidFill>
          <a:ln/>
        </p:spPr>
      </p:sp>
      <p:sp>
        <p:nvSpPr>
          <p:cNvPr id="13" name="Text 11"/>
          <p:cNvSpPr/>
          <p:nvPr/>
        </p:nvSpPr>
        <p:spPr>
          <a:xfrm>
            <a:off x="777240" y="5239512"/>
            <a:ext cx="10911535" cy="969264"/>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Why this is stated plainly.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Anyone who claims a self-built platform can reach HubSpot-or-Mailchimp-level maturity purely through more engineering effort is not being straight with you — Section 16 explains exactly where the honest ceiling is and why it's the right ceiling to accept.</a:t>
            </a:r>
            <a:endParaRPr lang="en-US" sz="1350" dirty="0"/>
          </a:p>
        </p:txBody>
      </p:sp>
      <p:sp>
        <p:nvSpPr>
          <p:cNvPr id="14" name="Text 1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5" name="Text 1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94</a:t>
            </a:r>
            <a:endParaRPr lang="en-US" sz="8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16</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16</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Competitor Comparison</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An honest, non-marketing comparison against 14 named products — where they win, where we win, where we lose, and what should (and should never) be copied.</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The measured parity scores (from the engineering registry)</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HubSpot and Mailchimp, feature by feature</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The wider sales-intelligence &amp; ABM landscape</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What to copy, and what to never copy</a:t>
            </a:r>
            <a:endParaRPr lang="en-US" sz="12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16 — COMPETITOR COMPARISON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Measured parity scores — engineering registry, not marketing</a:t>
            </a:r>
            <a:endParaRPr lang="en-US" sz="2600" dirty="0"/>
          </a:p>
        </p:txBody>
      </p:sp>
      <p:graphicFrame>
        <p:nvGraphicFramePr>
          <p:cNvPr id="113"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113862"/>
                <a:gridCol w="5636966"/>
                <a:gridCol w="3435026"/>
              </a:tblGrid>
              <a:tr h="39624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Competitor</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they primarily sell</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DRIP's measured parity</a:t>
                      </a:r>
                      <a:endParaRPr lang="en-US" sz="11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39624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Mailchimp</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Email marketing &amp; campaign automation</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51.2 / 100</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9624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HubSpot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All-in-one CRM + marketing + sales suite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50.2 / 100</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39624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Salesloft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Sales engagement / sequences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55.0 / 100</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9624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Customer.io</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Marketing automation / journeys</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55.0 / 100</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39624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Demandbase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Account-based marketing platform</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45.0 / 100</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9624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Outreach</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Sales engagement platform</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44.0 / 100</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39624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ServiceNow</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Enterprise workflow / ops platform</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41.7 / 100</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9624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Salesforce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Enterprise CRM</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39.4 / 100</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39624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Apollo</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Contact database + sales engagement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40.0 / 100</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9624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6sense</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Account intent / ABM platform</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32.2 / 100</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396240">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Clay</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Data enrichment workflow tooling</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035"/>
                          </a:solidFill>
                          <a:latin typeface="Calibri" pitchFamily="34" charset="0"/>
                          <a:ea typeface="Calibri" pitchFamily="34" charset="-122"/>
                          <a:cs typeface="Calibri" pitchFamily="34" charset="-120"/>
                        </a:rPr>
                        <a:t>0 / 100 (no live provider connected yet)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95</a:t>
            </a:r>
            <a:endParaRPr lang="en-US" sz="8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16 — COMPETITOR COMPARISON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DRIP vs. HubSpot — subsystem by subsystem</a:t>
            </a:r>
            <a:endParaRPr lang="en-US" sz="2600" dirty="0"/>
          </a:p>
        </p:txBody>
      </p:sp>
      <p:graphicFrame>
        <p:nvGraphicFramePr>
          <p:cNvPr id="114"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3355757"/>
                <a:gridCol w="3915049"/>
                <a:gridCol w="3915049"/>
              </a:tblGrid>
              <a:tr h="685800">
                <a:tc>
                  <a:txBody>
                    <a:bodyPr/>
                    <a:lstStyle/>
                    <a:p>
                      <a:pPr indent="0" marL="0">
                        <a:buNone/>
                      </a:pPr>
                      <a:r>
                        <a:rPr lang="en-US" sz="1100" b="1" dirty="0">
                          <a:solidFill>
                            <a:srgbClr val="FFFFFF"/>
                          </a:solidFill>
                        </a:rPr>
                        <a:t>DIMENSION</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100" b="1" dirty="0">
                          <a:solidFill>
                            <a:srgbClr val="FFFFFF"/>
                          </a:solidFill>
                        </a:rPr>
                        <a:t>HUBSPOT</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100" b="1" dirty="0">
                          <a:solidFill>
                            <a:srgbClr val="0B1220"/>
                          </a:solidFill>
                        </a:rPr>
                        <a:t>DRIP</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C9A227"/>
                    </a:solidFill>
                  </a:tcPr>
                </a:tc>
              </a:tr>
              <a:tr h="685800">
                <a:tc>
                  <a:txBody>
                    <a:bodyPr/>
                    <a:lstStyle/>
                    <a:p>
                      <a:pPr indent="0" marL="0">
                        <a:buNone/>
                      </a:pPr>
                      <a:r>
                        <a:rPr lang="en-US" sz="1100" b="1" dirty="0">
                          <a:solidFill>
                            <a:srgbClr val="1A2035"/>
                          </a:solidFill>
                        </a:rPr>
                        <a:t>Contacts / companies / deals core</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50" dirty="0">
                          <a:solidFill>
                            <a:srgbClr val="586080"/>
                          </a:solidFill>
                        </a:rPr>
                        <a:t>Mature, broad, self-serve</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50" dirty="0">
                          <a:solidFill>
                            <a:srgbClr val="586080"/>
                          </a:solidFill>
                        </a:rPr>
                        <a:t>8,000+ real contacts, richer bank-specific fields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85800">
                <a:tc>
                  <a:txBody>
                    <a:bodyPr/>
                    <a:lstStyle/>
                    <a:p>
                      <a:pPr indent="0" marL="0">
                        <a:buNone/>
                      </a:pPr>
                      <a:r>
                        <a:rPr lang="en-US" sz="1100" b="1" dirty="0">
                          <a:solidFill>
                            <a:srgbClr val="1A2035"/>
                          </a:solidFill>
                        </a:rPr>
                        <a:t>Buying-committee &amp; relationship graph</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50" dirty="0">
                          <a:solidFill>
                            <a:srgbClr val="586080"/>
                          </a:solidFill>
                        </a:rPr>
                        <a:t>Flat association model</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50" b="1" dirty="0">
                          <a:solidFill>
                            <a:srgbClr val="1F9D55"/>
                          </a:solidFill>
                        </a:rPr>
                        <a:t>Native, typed, scored committee-per-product graph</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685800">
                <a:tc>
                  <a:txBody>
                    <a:bodyPr/>
                    <a:lstStyle/>
                    <a:p>
                      <a:pPr indent="0" marL="0">
                        <a:buNone/>
                      </a:pPr>
                      <a:r>
                        <a:rPr lang="en-US" sz="1100" b="1" dirty="0">
                          <a:solidFill>
                            <a:srgbClr val="1A2035"/>
                          </a:solidFill>
                        </a:rPr>
                        <a:t>Custom objects &amp; properties</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F9D55"/>
                          </a:solidFill>
                        </a:rPr>
                        <a:t>Full drag-and-drop builder</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50" dirty="0">
                          <a:solidFill>
                            <a:srgbClr val="586080"/>
                          </a:solidFill>
                        </a:rPr>
                        <a:t>API/CRUD complete; no visual builder yet</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85800">
                <a:tc>
                  <a:txBody>
                    <a:bodyPr/>
                    <a:lstStyle/>
                    <a:p>
                      <a:pPr indent="0" marL="0">
                        <a:buNone/>
                      </a:pPr>
                      <a:r>
                        <a:rPr lang="en-US" sz="1100" b="1" dirty="0">
                          <a:solidFill>
                            <a:srgbClr val="1A2035"/>
                          </a:solidFill>
                        </a:rPr>
                        <a:t>Visual email/journey builder</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50" b="1" dirty="0">
                          <a:solidFill>
                            <a:srgbClr val="1F9D55"/>
                          </a:solidFill>
                        </a:rPr>
                        <a:t>Mature drag-and-drop builder</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50" dirty="0">
                          <a:solidFill>
                            <a:srgbClr val="586080"/>
                          </a:solidFill>
                        </a:rPr>
                        <a:t>No visual builder — API and templates only</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685800">
                <a:tc>
                  <a:txBody>
                    <a:bodyPr/>
                    <a:lstStyle/>
                    <a:p>
                      <a:pPr indent="0" marL="0">
                        <a:buNone/>
                      </a:pPr>
                      <a:r>
                        <a:rPr lang="en-US" sz="1100" b="1" dirty="0">
                          <a:solidFill>
                            <a:srgbClr val="1A2035"/>
                          </a:solidFill>
                        </a:rPr>
                        <a:t>Integrations marketplace</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F9D55"/>
                          </a:solidFill>
                        </a:rPr>
                        <a:t>1,500+ apps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50" dirty="0">
                          <a:solidFill>
                            <a:srgbClr val="586080"/>
                          </a:solidFill>
                        </a:rPr>
                        <a:t>None — no marketplace exists yet</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85800">
                <a:tc>
                  <a:txBody>
                    <a:bodyPr/>
                    <a:lstStyle/>
                    <a:p>
                      <a:pPr indent="0" marL="0">
                        <a:buNone/>
                      </a:pPr>
                      <a:r>
                        <a:rPr lang="en-US" sz="1100" b="1" dirty="0">
                          <a:solidFill>
                            <a:srgbClr val="1A2035"/>
                          </a:solidFill>
                        </a:rPr>
                        <a:t>KSA business-calendar &amp; Arabic awareness</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50" dirty="0">
                          <a:solidFill>
                            <a:srgbClr val="586080"/>
                          </a:solidFill>
                        </a:rPr>
                        <a:t>Not modelled at all</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50" b="1" dirty="0">
                          <a:solidFill>
                            <a:srgbClr val="1F9D55"/>
                          </a:solidFill>
                        </a:rPr>
                        <a:t>Sunday-Thursday, Ramadan, Arabic fields built in</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96</a:t>
            </a:r>
            <a:endParaRPr lang="en-US" sz="8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16 — COMPETITOR COMPARISON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DRIP vs. Mailchimp — subsystem by subsystem</a:t>
            </a:r>
            <a:endParaRPr lang="en-US" sz="2600"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85855" cy="914400"/>
        </p:xfrm>
        <a:graphic>
          <a:graphicData uri="http://schemas.openxmlformats.org/drawingml/2006/table">
            <a:tbl>
              <a:tblPr/>
              <a:tblGrid>
                <a:gridCol w="3355757"/>
                <a:gridCol w="3915049"/>
                <a:gridCol w="3915049"/>
              </a:tblGrid>
              <a:tr h="685800">
                <a:tc>
                  <a:txBody>
                    <a:bodyPr/>
                    <a:lstStyle/>
                    <a:p>
                      <a:pPr indent="0" marL="0">
                        <a:buNone/>
                      </a:pPr>
                      <a:r>
                        <a:rPr lang="en-US" sz="1100" b="1" dirty="0">
                          <a:solidFill>
                            <a:srgbClr val="FFFFFF"/>
                          </a:solidFill>
                        </a:rPr>
                        <a:t>DIMENSION</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100" b="1" dirty="0">
                          <a:solidFill>
                            <a:srgbClr val="FFFFFF"/>
                          </a:solidFill>
                        </a:rPr>
                        <a:t>MAILCHIMP</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indent="0" marL="0">
                        <a:buNone/>
                      </a:pPr>
                      <a:r>
                        <a:rPr lang="en-US" sz="1100" b="1" dirty="0">
                          <a:solidFill>
                            <a:srgbClr val="0B1220"/>
                          </a:solidFill>
                        </a:rPr>
                        <a:t>DRIP</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C9A227"/>
                    </a:solidFill>
                  </a:tcPr>
                </a:tc>
              </a:tr>
              <a:tr h="685800">
                <a:tc>
                  <a:txBody>
                    <a:bodyPr/>
                    <a:lstStyle/>
                    <a:p>
                      <a:pPr indent="0" marL="0">
                        <a:buNone/>
                      </a:pPr>
                      <a:r>
                        <a:rPr lang="en-US" sz="1100" b="1" dirty="0">
                          <a:solidFill>
                            <a:srgbClr val="1A2035"/>
                          </a:solidFill>
                        </a:rPr>
                        <a:t>Audiences: static lists + dynamic segments</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50" dirty="0">
                          <a:solidFill>
                            <a:srgbClr val="586080"/>
                          </a:solidFill>
                        </a:rPr>
                        <a:t>Mature, self-serve</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50" dirty="0">
                          <a:solidFill>
                            <a:srgbClr val="586080"/>
                          </a:solidFill>
                        </a:rPr>
                        <a:t>Built and tested, including live-evaluated segments</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85800">
                <a:tc>
                  <a:txBody>
                    <a:bodyPr/>
                    <a:lstStyle/>
                    <a:p>
                      <a:pPr indent="0" marL="0">
                        <a:buNone/>
                      </a:pPr>
                      <a:r>
                        <a:rPr lang="en-US" sz="1100" b="1" dirty="0">
                          <a:solidFill>
                            <a:srgbClr val="1A2035"/>
                          </a:solidFill>
                        </a:rPr>
                        <a:t>Suppression &amp; consent enforcement</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50" dirty="0">
                          <a:solidFill>
                            <a:srgbClr val="586080"/>
                          </a:solidFill>
                        </a:rPr>
                        <a:t>Enforced at send only</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50" b="1" dirty="0">
                          <a:solidFill>
                            <a:srgbClr val="1F9D55"/>
                          </a:solidFill>
                        </a:rPr>
                        <a:t>Enforced at both enrollment AND send — stricter</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685800">
                <a:tc>
                  <a:txBody>
                    <a:bodyPr/>
                    <a:lstStyle/>
                    <a:p>
                      <a:pPr indent="0" marL="0">
                        <a:buNone/>
                      </a:pPr>
                      <a:r>
                        <a:rPr lang="en-US" sz="1100" b="1" dirty="0">
                          <a:solidFill>
                            <a:srgbClr val="1A2035"/>
                          </a:solidFill>
                        </a:rPr>
                        <a:t>A/B testing with visible statistics</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50" dirty="0">
                          <a:solidFill>
                            <a:srgbClr val="586080"/>
                          </a:solidFill>
                        </a:rPr>
                        <a:t>Shows a winner, not the underlying math</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F9D55"/>
                          </a:solidFill>
                        </a:rPr>
                        <a:t>Real statistical test, results are inspectable</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85800">
                <a:tc>
                  <a:txBody>
                    <a:bodyPr/>
                    <a:lstStyle/>
                    <a:p>
                      <a:pPr indent="0" marL="0">
                        <a:buNone/>
                      </a:pPr>
                      <a:r>
                        <a:rPr lang="en-US" sz="1100" b="1" dirty="0">
                          <a:solidFill>
                            <a:srgbClr val="1A2035"/>
                          </a:solidFill>
                        </a:rPr>
                        <a:t>Drag-and-drop email builder + template gallery</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50" b="1" dirty="0">
                          <a:solidFill>
                            <a:srgbClr val="1F9D55"/>
                          </a:solidFill>
                        </a:rPr>
                        <a:t>Mature, visual</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50" dirty="0">
                          <a:solidFill>
                            <a:srgbClr val="586080"/>
                          </a:solidFill>
                        </a:rPr>
                        <a:t>Templates + AI generation only, no visual builder</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685800">
                <a:tc>
                  <a:txBody>
                    <a:bodyPr/>
                    <a:lstStyle/>
                    <a:p>
                      <a:pPr indent="0" marL="0">
                        <a:buNone/>
                      </a:pPr>
                      <a:r>
                        <a:rPr lang="en-US" sz="1100" b="1" dirty="0">
                          <a:solidFill>
                            <a:srgbClr val="1A2035"/>
                          </a:solidFill>
                        </a:rPr>
                        <a:t>Real sending infrastructure &amp; reputation</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50" b="1" dirty="0">
                          <a:solidFill>
                            <a:srgbClr val="1F9D55"/>
                          </a:solidFill>
                        </a:rPr>
                        <a:t>Decades of deliverability trust</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050" dirty="0">
                          <a:solidFill>
                            <a:srgbClr val="586080"/>
                          </a:solidFill>
                        </a:rPr>
                        <a:t>Coded, tested, deliberately dry-run until connected</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85800">
                <a:tc>
                  <a:txBody>
                    <a:bodyPr/>
                    <a:lstStyle/>
                    <a:p>
                      <a:pPr indent="0" marL="0">
                        <a:buNone/>
                      </a:pPr>
                      <a:r>
                        <a:rPr lang="en-US" sz="1100" b="1" dirty="0">
                          <a:solidFill>
                            <a:srgbClr val="1A2035"/>
                          </a:solidFill>
                        </a:rPr>
                        <a:t>Journeys / automation with dynamic branching</a:t>
                      </a:r>
                      <a:endParaRPr lang="en-US" sz="110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50" dirty="0">
                          <a:solidFill>
                            <a:srgbClr val="586080"/>
                          </a:solidFill>
                        </a:rPr>
                        <a:t>Solid, template-driven</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indent="0" marL="0">
                        <a:buNone/>
                      </a:pPr>
                      <a:r>
                        <a:rPr lang="en-US" sz="1050" b="1" dirty="0">
                          <a:solidFill>
                            <a:srgbClr val="1F9D55"/>
                          </a:solidFill>
                        </a:rPr>
                        <a:t>Sequences + journeys + an AI decision engine choosing the next touch dynamically</a:t>
                      </a:r>
                      <a:endParaRPr lang="en-US" sz="1050" dirty="0"/>
                    </a:p>
                  </a:txBody>
                  <a:tcPr marL="91440" marR="91440" marT="45720" marB="45720">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97</a:t>
            </a:r>
            <a:endParaRPr lang="en-US" sz="8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16 — COMPETITOR COMPARISON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The wider landscape — categorical comparison</a:t>
            </a:r>
            <a:endParaRPr lang="en-US" sz="260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097348"/>
                <a:gridCol w="4019917"/>
                <a:gridCol w="5068591"/>
              </a:tblGrid>
              <a:tr h="679269">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Competitor</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they primarily do</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How DRIP compares</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679269">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ZoomInfo</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Large B2B contact &amp; intent database, bought as a data subscription</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DRIP has no equivalent third-party data subscription — it depends entirely on manually sourced and self-collected data (Section 6). Categorical assessment, not a registry-measured score.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79269">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Affinity</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Relationship intelligence for VC/banking relationship teams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Closest philosophical relative to DRIP's relationship graph (Section 7) — but Affinity auto-detects relationships from email/calendar metadata, which DRIP does not do yet.</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679269">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People.ai</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Automatically captures sales activity from email/calendar into a CRM</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DRIP's activity_log is manually logged plus system-generated events; there is no passive email/calendar activity capture yet.</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79269">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LinkedIn Sales Navigator</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Prospecting and lead search directly on LinkedIn</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DRIP tracks LinkedIn outreach state per contact but does not search or scrape LinkedIn itself — deliberately, to respect LinkedIn's terms of service (Section 6).</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679269">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Lusha / Cognism</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Contact data providers (email/phone verification at scale)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This is exactly the gap named in Section 6 as 'blocked-external' — the enrichment engine is built to plug a provider like this in; none is connected yet.</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79269">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Bombora / Factors.ai</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Intent data — which companies are researching a topic online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Equivalent to the 'Intent data (bidstream)' gap in Section 14 — tracked as blocked-external, needing a data-provider relationship DRIP does not have.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98</a:t>
            </a:r>
            <a:endParaRPr lang="en-US" sz="8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16 — COMPETITOR COMPARISON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Where DRIP is genuinely ahead</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Capabilities neither HubSpot nor Mailchimp ship</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AI Decision Engine.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Dynamic next-touch selection with fully logged, auditable reasoning — not a static 'wait 3 days' rule.</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Compliance-by-construction.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Consent enforced at two separate gates, account-wide auto-pause on any reply, a hard C-suite human-review lock that no automation can bypass.</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Intelligence layer with decay.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Signals carry a confidence score that fades over time — a six-month-old headline stops influencing decisions automatically.</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Structural strengths</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Relationship graph + per-product buying committee.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Richer and more explicit than HubSpot's flat association model.</a:t>
            </a:r>
            <a:endParaRPr lang="en-US" sz="1250" dirty="0"/>
          </a:p>
        </p:txBody>
      </p:sp>
      <p:sp>
        <p:nvSpPr>
          <p:cNvPr id="18" name="Shape 16"/>
          <p:cNvSpPr/>
          <p:nvPr/>
        </p:nvSpPr>
        <p:spPr>
          <a:xfrm>
            <a:off x="6324448" y="3514344"/>
            <a:ext cx="82296" cy="82296"/>
          </a:xfrm>
          <a:prstGeom prst="ellipse">
            <a:avLst/>
          </a:prstGeom>
          <a:solidFill>
            <a:srgbClr val="2657A8"/>
          </a:solidFill>
          <a:ln/>
        </p:spPr>
      </p:sp>
      <p:sp>
        <p:nvSpPr>
          <p:cNvPr id="19" name="Text 17"/>
          <p:cNvSpPr/>
          <p:nvPr/>
        </p:nvSpPr>
        <p:spPr>
          <a:xfrm>
            <a:off x="6553048"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Auditable A/B testing.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real statistical test with visible math, not just a declared 'winner'.</a:t>
            </a:r>
            <a:endParaRPr lang="en-US" sz="1250" dirty="0"/>
          </a:p>
        </p:txBody>
      </p:sp>
      <p:sp>
        <p:nvSpPr>
          <p:cNvPr id="20" name="Shape 18"/>
          <p:cNvSpPr/>
          <p:nvPr/>
        </p:nvSpPr>
        <p:spPr>
          <a:xfrm>
            <a:off x="6324448" y="4879848"/>
            <a:ext cx="82296" cy="82296"/>
          </a:xfrm>
          <a:prstGeom prst="ellipse">
            <a:avLst/>
          </a:prstGeom>
          <a:solidFill>
            <a:srgbClr val="2657A8"/>
          </a:solidFill>
          <a:ln/>
        </p:spPr>
      </p:sp>
      <p:sp>
        <p:nvSpPr>
          <p:cNvPr id="21" name="Text 19"/>
          <p:cNvSpPr/>
          <p:nvPr/>
        </p:nvSpPr>
        <p:spPr>
          <a:xfrm>
            <a:off x="6553048"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Built for exactly one hard job.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KSA business calendar, Arabic fields, and bank-specific taxonomy are native, not translated afterthoughts.</a:t>
            </a:r>
            <a:endParaRPr lang="en-US" sz="1250" dirty="0"/>
          </a:p>
        </p:txBody>
      </p:sp>
      <p:sp>
        <p:nvSpPr>
          <p:cNvPr id="22" name="Text 2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3" name="Text 2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99</a:t>
            </a:r>
            <a:endParaRPr lang="en-US" sz="8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16 — COMPETITOR COMPARISON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What should be copied — and what never should</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Worth copying</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HubSpot's visual builders.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Drag-and-drop email, journey, and object builders are the single biggest UX gap — worth investing in deliberately.</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Mailchimp's onboarding simplicity.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'pick an audience, pick a template, hit send' three-step feel is worth matching even without a marketplace.</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Affinity/People.ai's passive activity capture.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Automatically detecting relationship and activity signals from email/calendar metadata would reduce manual logging.</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Never worth copying</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Per-seat pricing at scale.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Wrong model for a small, senior, owned-end-to-end team — this was a deliberate rejection in Section 1, not an oversight.</a:t>
            </a:r>
            <a:endParaRPr lang="en-US" sz="1250" dirty="0"/>
          </a:p>
        </p:txBody>
      </p:sp>
      <p:sp>
        <p:nvSpPr>
          <p:cNvPr id="18" name="Shape 16"/>
          <p:cNvSpPr/>
          <p:nvPr/>
        </p:nvSpPr>
        <p:spPr>
          <a:xfrm>
            <a:off x="6324448" y="3514344"/>
            <a:ext cx="82296" cy="82296"/>
          </a:xfrm>
          <a:prstGeom prst="ellipse">
            <a:avLst/>
          </a:prstGeom>
          <a:solidFill>
            <a:srgbClr val="2657A8"/>
          </a:solidFill>
          <a:ln/>
        </p:spPr>
      </p:sp>
      <p:sp>
        <p:nvSpPr>
          <p:cNvPr id="19" name="Text 17"/>
          <p:cNvSpPr/>
          <p:nvPr/>
        </p:nvSpPr>
        <p:spPr>
          <a:xfrm>
            <a:off x="6553048"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A generic, one-size-fits-all data model.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entire reason DRIP exists is that generic CRMs cannot express a Saudi bank's buying committee or KSA business calendar — copying that genericness would undo the whole point.</a:t>
            </a:r>
            <a:endParaRPr lang="en-US" sz="1250" dirty="0"/>
          </a:p>
        </p:txBody>
      </p:sp>
      <p:sp>
        <p:nvSpPr>
          <p:cNvPr id="20" name="Shape 18"/>
          <p:cNvSpPr/>
          <p:nvPr/>
        </p:nvSpPr>
        <p:spPr>
          <a:xfrm>
            <a:off x="6324448" y="4879848"/>
            <a:ext cx="82296" cy="82296"/>
          </a:xfrm>
          <a:prstGeom prst="ellipse">
            <a:avLst/>
          </a:prstGeom>
          <a:solidFill>
            <a:srgbClr val="2657A8"/>
          </a:solidFill>
          <a:ln/>
        </p:spPr>
      </p:sp>
      <p:sp>
        <p:nvSpPr>
          <p:cNvPr id="21" name="Text 19"/>
          <p:cNvSpPr/>
          <p:nvPr/>
        </p:nvSpPr>
        <p:spPr>
          <a:xfrm>
            <a:off x="6553048"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Chasing marketplace breadth for its own sake.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1,500-app marketplace took a decade of ecosystem investment neither warranted nor useful for a 5-person team's actual job.</a:t>
            </a:r>
            <a:endParaRPr lang="en-US" sz="1250" dirty="0"/>
          </a:p>
        </p:txBody>
      </p:sp>
      <p:sp>
        <p:nvSpPr>
          <p:cNvPr id="22" name="Text 2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3" name="Text 2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100</a:t>
            </a:r>
            <a:endParaRPr lang="en-US" sz="8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17</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17</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Business Logic</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Not how each feature works — why it exists at all. The business reasoning behind every major design decision in this document.</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Why a Vendor Master</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Why a contact graph, not a list</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Why buying signals and relationship intelligence</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Why a unified timeline and a single search box</a:t>
            </a:r>
            <a:endParaRPr lang="en-US" sz="12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17 — BUSINESS LOGIC</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Why Vendor Master? Why Bank vs. NBFI vs. Ecosystem?</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Why a Vendor Master exists</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Because who else is inside a bank changes the sales strategy.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Knowing which core-banking vendor, which system integrator, and which consultant already has a foothold at a target bank tells us whether we're replacing someone, partnering with someone, or entering a green field.</a:t>
            </a:r>
            <a:endParaRPr lang="en-US" sz="1250" dirty="0"/>
          </a:p>
        </p:txBody>
      </p:sp>
      <p:sp>
        <p:nvSpPr>
          <p:cNvPr id="9" name="Shape 7"/>
          <p:cNvSpPr/>
          <p:nvPr/>
        </p:nvSpPr>
        <p:spPr>
          <a:xfrm>
            <a:off x="502920" y="4197096"/>
            <a:ext cx="82296" cy="82296"/>
          </a:xfrm>
          <a:prstGeom prst="ellipse">
            <a:avLst/>
          </a:prstGeom>
          <a:solidFill>
            <a:srgbClr val="C9A227"/>
          </a:solidFill>
          <a:ln/>
        </p:spPr>
      </p:sp>
      <p:sp>
        <p:nvSpPr>
          <p:cNvPr id="10" name="Text 8"/>
          <p:cNvSpPr/>
          <p:nvPr/>
        </p:nvSpPr>
        <p:spPr>
          <a:xfrm>
            <a:off x="731520"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Without it, competitive intelligence lives in someone's head.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exact problem named in Section 1 — a Vendor Master turns 'I think Company X is already in there' into a structured, shareable fact.</a:t>
            </a:r>
            <a:endParaRPr lang="en-US" sz="1250" dirty="0"/>
          </a:p>
        </p:txBody>
      </p:sp>
      <p:sp>
        <p:nvSpPr>
          <p:cNvPr id="11" name="Shape 9"/>
          <p:cNvSpPr/>
          <p:nvPr/>
        </p:nvSpPr>
        <p:spPr>
          <a:xfrm>
            <a:off x="6324448" y="1417320"/>
            <a:ext cx="5364328" cy="457200"/>
          </a:xfrm>
          <a:prstGeom prst="rect">
            <a:avLst/>
          </a:prstGeom>
          <a:solidFill>
            <a:srgbClr val="F3F5F9"/>
          </a:solidFill>
          <a:ln/>
        </p:spPr>
      </p:sp>
      <p:sp>
        <p:nvSpPr>
          <p:cNvPr id="12" name="Shape 10"/>
          <p:cNvSpPr/>
          <p:nvPr/>
        </p:nvSpPr>
        <p:spPr>
          <a:xfrm>
            <a:off x="6324448" y="1417320"/>
            <a:ext cx="73152" cy="457200"/>
          </a:xfrm>
          <a:prstGeom prst="rect">
            <a:avLst/>
          </a:prstGeom>
          <a:solidFill>
            <a:srgbClr val="2657A8"/>
          </a:solidFill>
          <a:ln/>
        </p:spPr>
      </p:sp>
      <p:sp>
        <p:nvSpPr>
          <p:cNvPr id="13" name="Text 11"/>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Why the Bank/NBFI/Ecosystem split exists</a:t>
            </a:r>
            <a:endParaRPr lang="en-US" sz="1500" dirty="0"/>
          </a:p>
        </p:txBody>
      </p:sp>
      <p:sp>
        <p:nvSpPr>
          <p:cNvPr id="14" name="Shape 12"/>
          <p:cNvSpPr/>
          <p:nvPr/>
        </p:nvSpPr>
        <p:spPr>
          <a:xfrm>
            <a:off x="6324448" y="2148840"/>
            <a:ext cx="82296" cy="82296"/>
          </a:xfrm>
          <a:prstGeom prst="ellipse">
            <a:avLst/>
          </a:prstGeom>
          <a:solidFill>
            <a:srgbClr val="2657A8"/>
          </a:solidFill>
          <a:ln/>
        </p:spPr>
      </p:sp>
      <p:sp>
        <p:nvSpPr>
          <p:cNvPr id="15" name="Text 13"/>
          <p:cNvSpPr/>
          <p:nvPr/>
        </p:nvSpPr>
        <p:spPr>
          <a:xfrm>
            <a:off x="6553048"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Because the sales motion is genuinely different for each.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commercial bank's procurement process, an insurance company's regulatory concerns, and a payments company's technical integration needs are not interchangeable — treating them the same, the way a generic CRM would, hides that difference.</a:t>
            </a:r>
            <a:endParaRPr lang="en-US" sz="1250" dirty="0"/>
          </a:p>
        </p:txBody>
      </p:sp>
      <p:sp>
        <p:nvSpPr>
          <p:cNvPr id="16" name="Shape 14"/>
          <p:cNvSpPr/>
          <p:nvPr/>
        </p:nvSpPr>
        <p:spPr>
          <a:xfrm>
            <a:off x="6324448" y="4197096"/>
            <a:ext cx="82296" cy="82296"/>
          </a:xfrm>
          <a:prstGeom prst="ellipse">
            <a:avLst/>
          </a:prstGeom>
          <a:solidFill>
            <a:srgbClr val="2657A8"/>
          </a:solidFill>
          <a:ln/>
        </p:spPr>
      </p:sp>
      <p:sp>
        <p:nvSpPr>
          <p:cNvPr id="17" name="Text 15"/>
          <p:cNvSpPr/>
          <p:nvPr/>
        </p:nvSpPr>
        <p:spPr>
          <a:xfrm>
            <a:off x="6553048"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It was a direct, repeated requirement.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This taxonomy exists because the business explicitly asked for it more than once — a sign the generic default was actively getting in the way of real work.</a:t>
            </a:r>
            <a:endParaRPr lang="en-US" sz="1250" dirty="0"/>
          </a:p>
        </p:txBody>
      </p:sp>
      <p:sp>
        <p:nvSpPr>
          <p:cNvPr id="18" name="Text 16"/>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9" name="Text 17"/>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101</a:t>
            </a:r>
            <a:endParaRPr lang="en-US" sz="8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17 — BUSINESS LOGIC</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Why a contact graph? Why buying signals?</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Why a graph, not a flat list</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Because relationships are the actual sales asset, not the contact list.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Knowing who can introduce you to someone is worth more than knowing that person's job title — a flat list cannot represent an introduction path; a graph can.</a:t>
            </a:r>
            <a:endParaRPr lang="en-US" sz="1250" dirty="0"/>
          </a:p>
        </p:txBody>
      </p:sp>
      <p:sp>
        <p:nvSpPr>
          <p:cNvPr id="9" name="Shape 7"/>
          <p:cNvSpPr/>
          <p:nvPr/>
        </p:nvSpPr>
        <p:spPr>
          <a:xfrm>
            <a:off x="502920" y="4197096"/>
            <a:ext cx="82296" cy="82296"/>
          </a:xfrm>
          <a:prstGeom prst="ellipse">
            <a:avLst/>
          </a:prstGeom>
          <a:solidFill>
            <a:srgbClr val="C9A227"/>
          </a:solidFill>
          <a:ln/>
        </p:spPr>
      </p:sp>
      <p:sp>
        <p:nvSpPr>
          <p:cNvPr id="10" name="Text 8"/>
          <p:cNvSpPr/>
          <p:nvPr/>
        </p:nvSpPr>
        <p:spPr>
          <a:xfrm>
            <a:off x="731520"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Because it protects institutional memory.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When a salesperson leaves, a flat spreadsheet of names leaves with their memory of who matters; a scored, typed relationship graph does not.</a:t>
            </a:r>
            <a:endParaRPr lang="en-US" sz="1250" dirty="0"/>
          </a:p>
        </p:txBody>
      </p:sp>
      <p:sp>
        <p:nvSpPr>
          <p:cNvPr id="11" name="Shape 9"/>
          <p:cNvSpPr/>
          <p:nvPr/>
        </p:nvSpPr>
        <p:spPr>
          <a:xfrm>
            <a:off x="6324448" y="1417320"/>
            <a:ext cx="5364328" cy="457200"/>
          </a:xfrm>
          <a:prstGeom prst="rect">
            <a:avLst/>
          </a:prstGeom>
          <a:solidFill>
            <a:srgbClr val="F3F5F9"/>
          </a:solidFill>
          <a:ln/>
        </p:spPr>
      </p:sp>
      <p:sp>
        <p:nvSpPr>
          <p:cNvPr id="12" name="Shape 10"/>
          <p:cNvSpPr/>
          <p:nvPr/>
        </p:nvSpPr>
        <p:spPr>
          <a:xfrm>
            <a:off x="6324448" y="1417320"/>
            <a:ext cx="73152" cy="457200"/>
          </a:xfrm>
          <a:prstGeom prst="rect">
            <a:avLst/>
          </a:prstGeom>
          <a:solidFill>
            <a:srgbClr val="2657A8"/>
          </a:solidFill>
          <a:ln/>
        </p:spPr>
      </p:sp>
      <p:sp>
        <p:nvSpPr>
          <p:cNvPr id="13" name="Text 11"/>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Why buying signals matter</a:t>
            </a:r>
            <a:endParaRPr lang="en-US" sz="1500" dirty="0"/>
          </a:p>
        </p:txBody>
      </p:sp>
      <p:sp>
        <p:nvSpPr>
          <p:cNvPr id="14" name="Shape 12"/>
          <p:cNvSpPr/>
          <p:nvPr/>
        </p:nvSpPr>
        <p:spPr>
          <a:xfrm>
            <a:off x="6324448" y="2148840"/>
            <a:ext cx="82296" cy="82296"/>
          </a:xfrm>
          <a:prstGeom prst="ellipse">
            <a:avLst/>
          </a:prstGeom>
          <a:solidFill>
            <a:srgbClr val="2657A8"/>
          </a:solidFill>
          <a:ln/>
        </p:spPr>
      </p:sp>
      <p:sp>
        <p:nvSpPr>
          <p:cNvPr id="15" name="Text 13"/>
          <p:cNvSpPr/>
          <p:nvPr/>
        </p:nvSpPr>
        <p:spPr>
          <a:xfrm>
            <a:off x="6553048"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Because timing is often the whole deal.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bank announcing a digital transformation programme, or a new CIO arriving, is a narrow window — a system that surfaces it same-day instead of weeks later can be the difference between being early or being one of five vendors chasing the same news.</a:t>
            </a:r>
            <a:endParaRPr lang="en-US" sz="1250" dirty="0"/>
          </a:p>
        </p:txBody>
      </p:sp>
      <p:sp>
        <p:nvSpPr>
          <p:cNvPr id="16" name="Shape 14"/>
          <p:cNvSpPr/>
          <p:nvPr/>
        </p:nvSpPr>
        <p:spPr>
          <a:xfrm>
            <a:off x="6324448" y="4197096"/>
            <a:ext cx="82296" cy="82296"/>
          </a:xfrm>
          <a:prstGeom prst="ellipse">
            <a:avLst/>
          </a:prstGeom>
          <a:solidFill>
            <a:srgbClr val="2657A8"/>
          </a:solidFill>
          <a:ln/>
        </p:spPr>
      </p:sp>
      <p:sp>
        <p:nvSpPr>
          <p:cNvPr id="17" name="Text 15"/>
          <p:cNvSpPr/>
          <p:nvPr/>
        </p:nvSpPr>
        <p:spPr>
          <a:xfrm>
            <a:off x="6553048"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Because a stale signal is worse than no signal.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This is exactly why signals decay — pitching based on six-month-old news signals that a vendor isn't paying attention, which is worse than not mentioning it at all.</a:t>
            </a:r>
            <a:endParaRPr lang="en-US" sz="1250" dirty="0"/>
          </a:p>
        </p:txBody>
      </p:sp>
      <p:sp>
        <p:nvSpPr>
          <p:cNvPr id="18" name="Text 16"/>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9" name="Text 17"/>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102</a:t>
            </a:r>
            <a:endParaRPr lang="en-US" sz="8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17 — BUSINESS LOGIC</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Why relationship intelligence? Why per-channel outreach tracking?</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Why relationship intelligence, specifically scored</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4096512"/>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Because not all relationships are equally useful.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confirmed, strong, recent introduction path is worth acting on immediately; a weak, unconfirmed, years-old connection is not — without a strength and confidence score, both would look identical on a screen.</a:t>
            </a:r>
            <a:endParaRPr lang="en-US" sz="1250" dirty="0"/>
          </a:p>
        </p:txBody>
      </p:sp>
      <p:sp>
        <p:nvSpPr>
          <p:cNvPr id="9" name="Shape 7"/>
          <p:cNvSpPr/>
          <p:nvPr/>
        </p:nvSpPr>
        <p:spPr>
          <a:xfrm>
            <a:off x="6324448" y="1417320"/>
            <a:ext cx="5364328" cy="457200"/>
          </a:xfrm>
          <a:prstGeom prst="rect">
            <a:avLst/>
          </a:prstGeom>
          <a:solidFill>
            <a:srgbClr val="F3F5F9"/>
          </a:solidFill>
          <a:ln/>
        </p:spPr>
      </p:sp>
      <p:sp>
        <p:nvSpPr>
          <p:cNvPr id="10" name="Shape 8"/>
          <p:cNvSpPr/>
          <p:nvPr/>
        </p:nvSpPr>
        <p:spPr>
          <a:xfrm>
            <a:off x="6324448" y="1417320"/>
            <a:ext cx="73152" cy="457200"/>
          </a:xfrm>
          <a:prstGeom prst="rect">
            <a:avLst/>
          </a:prstGeom>
          <a:solidFill>
            <a:srgbClr val="2657A8"/>
          </a:solidFill>
          <a:ln/>
        </p:spPr>
      </p:sp>
      <p:sp>
        <p:nvSpPr>
          <p:cNvPr id="11" name="Text 9"/>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Why per-channel outreach tracking, not one status field</a:t>
            </a:r>
            <a:endParaRPr lang="en-US" sz="1500" dirty="0"/>
          </a:p>
        </p:txBody>
      </p:sp>
      <p:sp>
        <p:nvSpPr>
          <p:cNvPr id="12" name="Shape 10"/>
          <p:cNvSpPr/>
          <p:nvPr/>
        </p:nvSpPr>
        <p:spPr>
          <a:xfrm>
            <a:off x="6324448" y="2148840"/>
            <a:ext cx="82296" cy="82296"/>
          </a:xfrm>
          <a:prstGeom prst="ellipse">
            <a:avLst/>
          </a:prstGeom>
          <a:solidFill>
            <a:srgbClr val="2657A8"/>
          </a:solidFill>
          <a:ln/>
        </p:spPr>
      </p:sp>
      <p:sp>
        <p:nvSpPr>
          <p:cNvPr id="13" name="Text 11"/>
          <p:cNvSpPr/>
          <p:nvPr/>
        </p:nvSpPr>
        <p:spPr>
          <a:xfrm>
            <a:off x="6553048"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Because outreach isn't one thing.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contact can be mid-conversation on LinkedIn, completely cold on email, and never called at all — all three, at once. A single 'contacted: yes/no' flag would lose that entirely.</a:t>
            </a:r>
            <a:endParaRPr lang="en-US" sz="1250" dirty="0"/>
          </a:p>
        </p:txBody>
      </p:sp>
      <p:sp>
        <p:nvSpPr>
          <p:cNvPr id="14" name="Shape 12"/>
          <p:cNvSpPr/>
          <p:nvPr/>
        </p:nvSpPr>
        <p:spPr>
          <a:xfrm>
            <a:off x="6324448" y="4197096"/>
            <a:ext cx="82296" cy="82296"/>
          </a:xfrm>
          <a:prstGeom prst="ellipse">
            <a:avLst/>
          </a:prstGeom>
          <a:solidFill>
            <a:srgbClr val="2657A8"/>
          </a:solidFill>
          <a:ln/>
        </p:spPr>
      </p:sp>
      <p:sp>
        <p:nvSpPr>
          <p:cNvPr id="15" name="Text 13"/>
          <p:cNvSpPr/>
          <p:nvPr/>
        </p:nvSpPr>
        <p:spPr>
          <a:xfrm>
            <a:off x="6553048"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This exact design was requested directly.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per-channel model — LinkedIn, email, phone, WhatsApp, each with its own stage, response, and next step — restores exactly how the original DRIP dashboard modelled outreach, because that model was correct and a simplified version had lost real information.</a:t>
            </a:r>
            <a:endParaRPr lang="en-US" sz="1250" dirty="0"/>
          </a:p>
        </p:txBody>
      </p:sp>
      <p:sp>
        <p:nvSpPr>
          <p:cNvPr id="16" name="Text 1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7" name="Text 1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103</a:t>
            </a:r>
            <a:endParaRPr lang="en-US" sz="8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17 — BUSINESS LOGIC</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Why a unified timeline? Why one search box?</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Why a unified activity timeline</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4096512"/>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Because the truth about a relationship is scattered across seven places.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Activity logs, outreach channels, sequence events, email opens, meetings, signals, and the audit trail each hold part of the story — a salesperson preparing for a call should not have to open seven screens to get the whole picture.</a:t>
            </a:r>
            <a:endParaRPr lang="en-US" sz="1250" dirty="0"/>
          </a:p>
        </p:txBody>
      </p:sp>
      <p:sp>
        <p:nvSpPr>
          <p:cNvPr id="9" name="Shape 7"/>
          <p:cNvSpPr/>
          <p:nvPr/>
        </p:nvSpPr>
        <p:spPr>
          <a:xfrm>
            <a:off x="6324448" y="1417320"/>
            <a:ext cx="5364328" cy="457200"/>
          </a:xfrm>
          <a:prstGeom prst="rect">
            <a:avLst/>
          </a:prstGeom>
          <a:solidFill>
            <a:srgbClr val="F3F5F9"/>
          </a:solidFill>
          <a:ln/>
        </p:spPr>
      </p:sp>
      <p:sp>
        <p:nvSpPr>
          <p:cNvPr id="10" name="Shape 8"/>
          <p:cNvSpPr/>
          <p:nvPr/>
        </p:nvSpPr>
        <p:spPr>
          <a:xfrm>
            <a:off x="6324448" y="1417320"/>
            <a:ext cx="73152" cy="457200"/>
          </a:xfrm>
          <a:prstGeom prst="rect">
            <a:avLst/>
          </a:prstGeom>
          <a:solidFill>
            <a:srgbClr val="2657A8"/>
          </a:solidFill>
          <a:ln/>
        </p:spPr>
      </p:sp>
      <p:sp>
        <p:nvSpPr>
          <p:cNvPr id="11" name="Text 9"/>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Why one global search box</a:t>
            </a:r>
            <a:endParaRPr lang="en-US" sz="1500" dirty="0"/>
          </a:p>
        </p:txBody>
      </p:sp>
      <p:sp>
        <p:nvSpPr>
          <p:cNvPr id="12" name="Shape 10"/>
          <p:cNvSpPr/>
          <p:nvPr/>
        </p:nvSpPr>
        <p:spPr>
          <a:xfrm>
            <a:off x="6324448" y="2148840"/>
            <a:ext cx="82296" cy="82296"/>
          </a:xfrm>
          <a:prstGeom prst="ellipse">
            <a:avLst/>
          </a:prstGeom>
          <a:solidFill>
            <a:srgbClr val="2657A8"/>
          </a:solidFill>
          <a:ln/>
        </p:spPr>
      </p:sp>
      <p:sp>
        <p:nvSpPr>
          <p:cNvPr id="13" name="Text 11"/>
          <p:cNvSpPr/>
          <p:nvPr/>
        </p:nvSpPr>
        <p:spPr>
          <a:xfrm>
            <a:off x="6553048"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Because nobody should need to know where something lives before they can find it.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In a single application with 31 screens across 9 groups, remembering which module a fact sits in becomes its own tax on productivity — one search box removes that tax entirely.</a:t>
            </a:r>
            <a:endParaRPr lang="en-US" sz="1250" dirty="0"/>
          </a:p>
        </p:txBody>
      </p:sp>
      <p:sp>
        <p:nvSpPr>
          <p:cNvPr id="14" name="Shape 12"/>
          <p:cNvSpPr/>
          <p:nvPr/>
        </p:nvSpPr>
        <p:spPr>
          <a:xfrm>
            <a:off x="6324448" y="4197096"/>
            <a:ext cx="82296" cy="82296"/>
          </a:xfrm>
          <a:prstGeom prst="ellipse">
            <a:avLst/>
          </a:prstGeom>
          <a:solidFill>
            <a:srgbClr val="2657A8"/>
          </a:solidFill>
          <a:ln/>
        </p:spPr>
      </p:sp>
      <p:sp>
        <p:nvSpPr>
          <p:cNvPr id="15" name="Text 13"/>
          <p:cNvSpPr/>
          <p:nvPr/>
        </p:nvSpPr>
        <p:spPr>
          <a:xfrm>
            <a:off x="6553048"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It's also the foundation for future AI search.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Every future 'ask a plain-English question' capability (Section 8, Section 11) builds directly on the same structured search index that powers today's keyword search.</a:t>
            </a:r>
            <a:endParaRPr lang="en-US" sz="1250" dirty="0"/>
          </a:p>
        </p:txBody>
      </p:sp>
      <p:sp>
        <p:nvSpPr>
          <p:cNvPr id="16" name="Text 14"/>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7" name="Text 15"/>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104</a:t>
            </a:r>
            <a:endParaRPr lang="en-US" sz="8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17 — BUSINESS LOGIC</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Why an AI decision engine, and why it's not a black box</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61544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Why it exists.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human can juggle a mental model of maybe a dozen active accounts; a next-best-action engine can consistently weigh engagement, signal strength, buying stage, and channel history across every account at once, every single day, without fatigue.</a:t>
            </a:r>
            <a:endParaRPr lang="en-US" sz="1350" dirty="0"/>
          </a:p>
        </p:txBody>
      </p:sp>
      <p:sp>
        <p:nvSpPr>
          <p:cNvPr id="6" name="Shape 4"/>
          <p:cNvSpPr/>
          <p:nvPr/>
        </p:nvSpPr>
        <p:spPr>
          <a:xfrm>
            <a:off x="502920" y="3115056"/>
            <a:ext cx="100584" cy="100584"/>
          </a:xfrm>
          <a:prstGeom prst="ellipse">
            <a:avLst/>
          </a:prstGeom>
          <a:solidFill>
            <a:srgbClr val="C9A227"/>
          </a:solidFill>
          <a:ln/>
        </p:spPr>
      </p:sp>
      <p:sp>
        <p:nvSpPr>
          <p:cNvPr id="7" name="Text 5"/>
          <p:cNvSpPr/>
          <p:nvPr/>
        </p:nvSpPr>
        <p:spPr>
          <a:xfrm>
            <a:off x="777240" y="2977896"/>
            <a:ext cx="10911535" cy="161544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Why every decision is logged with its reasoning.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An unexplainable AI recommendation that a salesperson can't defend to a manager, or can't understand well enough to override when it's wrong, is worse than no recommendation — auditable reasoning is what makes it trustworthy enough to actually follow.</a:t>
            </a:r>
            <a:endParaRPr lang="en-US" sz="1350" dirty="0"/>
          </a:p>
        </p:txBody>
      </p:sp>
      <p:sp>
        <p:nvSpPr>
          <p:cNvPr id="8" name="Shape 6"/>
          <p:cNvSpPr/>
          <p:nvPr/>
        </p:nvSpPr>
        <p:spPr>
          <a:xfrm>
            <a:off x="502920" y="4730496"/>
            <a:ext cx="100584" cy="100584"/>
          </a:xfrm>
          <a:prstGeom prst="ellipse">
            <a:avLst/>
          </a:prstGeom>
          <a:solidFill>
            <a:srgbClr val="C9A227"/>
          </a:solidFill>
          <a:ln/>
        </p:spPr>
      </p:sp>
      <p:sp>
        <p:nvSpPr>
          <p:cNvPr id="9" name="Text 7"/>
          <p:cNvSpPr/>
          <p:nvPr/>
        </p:nvSpPr>
        <p:spPr>
          <a:xfrm>
            <a:off x="777240" y="4593336"/>
            <a:ext cx="10911535" cy="161544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Why hard compliance stops override the AI, always.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No amount of predicted engagement lift justifies messaging someone on a do-not-contact list, or auto-messaging a C-suite contact without human review — the business risk of getting that wrong outweighs any efficiency gained.</a:t>
            </a:r>
            <a:endParaRPr lang="en-US" sz="1350" dirty="0"/>
          </a:p>
        </p:txBody>
      </p:sp>
      <p:sp>
        <p:nvSpPr>
          <p:cNvPr id="10" name="Text 8"/>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1" name="Text 9"/>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105</a:t>
            </a:r>
            <a:endParaRPr lang="en-US" sz="8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18</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18</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Technical Roadmap</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The next phases of engineering work, in order, building directly on what already exists.</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Phase 1 — Deploy &amp; connect real sending</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Phase 2 — Data enrichment &amp; UI surfacing</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Phase 3 — Certifications &amp; enterprise readiness</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Phase 4 — AI agents, memory, and automation</a:t>
            </a:r>
            <a:endParaRPr lang="en-US" sz="12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18 — TECHNICAL ROADMAP</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The four phases ahead</a:t>
            </a:r>
            <a:endParaRPr lang="en-US" sz="2600" dirty="0"/>
          </a:p>
        </p:txBody>
      </p:sp>
      <p:sp>
        <p:nvSpPr>
          <p:cNvPr id="4" name="Shape 2"/>
          <p:cNvSpPr/>
          <p:nvPr/>
        </p:nvSpPr>
        <p:spPr>
          <a:xfrm>
            <a:off x="502920" y="2026539"/>
            <a:ext cx="438912" cy="438912"/>
          </a:xfrm>
          <a:prstGeom prst="ellipse">
            <a:avLst/>
          </a:prstGeom>
          <a:solidFill>
            <a:srgbClr val="0B1220"/>
          </a:solidFill>
          <a:ln/>
        </p:spPr>
      </p:sp>
      <p:sp>
        <p:nvSpPr>
          <p:cNvPr id="5" name="Text 3"/>
          <p:cNvSpPr/>
          <p:nvPr/>
        </p:nvSpPr>
        <p:spPr>
          <a:xfrm>
            <a:off x="502920" y="2026539"/>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1</a:t>
            </a:r>
            <a:endParaRPr lang="en-US" sz="1600" dirty="0"/>
          </a:p>
        </p:txBody>
      </p:sp>
      <p:sp>
        <p:nvSpPr>
          <p:cNvPr id="6" name="Shape 4"/>
          <p:cNvSpPr/>
          <p:nvPr/>
        </p:nvSpPr>
        <p:spPr>
          <a:xfrm>
            <a:off x="722376" y="2465451"/>
            <a:ext cx="0" cy="669798"/>
          </a:xfrm>
          <a:prstGeom prst="line">
            <a:avLst/>
          </a:prstGeom>
          <a:noFill/>
          <a:ln w="19050">
            <a:solidFill>
              <a:srgbClr val="E1E5EE"/>
            </a:solidFill>
            <a:prstDash val="dash"/>
          </a:ln>
        </p:spPr>
      </p:sp>
      <p:sp>
        <p:nvSpPr>
          <p:cNvPr id="7" name="Text 5"/>
          <p:cNvSpPr/>
          <p:nvPr/>
        </p:nvSpPr>
        <p:spPr>
          <a:xfrm>
            <a:off x="1188720" y="1691640"/>
            <a:ext cx="10362895" cy="110871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Phase 1 — Go live for real</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Deploy the already-built package to a real server; connect a real sending domain through SES and complete the warmup period; run the PDPL legal sign-off in parallel</a:t>
            </a:r>
            <a:endParaRPr lang="en-US" sz="1300" dirty="0"/>
          </a:p>
        </p:txBody>
      </p:sp>
      <p:sp>
        <p:nvSpPr>
          <p:cNvPr id="8" name="Shape 6"/>
          <p:cNvSpPr/>
          <p:nvPr/>
        </p:nvSpPr>
        <p:spPr>
          <a:xfrm>
            <a:off x="502920" y="3135249"/>
            <a:ext cx="438912" cy="438912"/>
          </a:xfrm>
          <a:prstGeom prst="ellipse">
            <a:avLst/>
          </a:prstGeom>
          <a:solidFill>
            <a:srgbClr val="0B1220"/>
          </a:solidFill>
          <a:ln/>
        </p:spPr>
      </p:sp>
      <p:sp>
        <p:nvSpPr>
          <p:cNvPr id="9" name="Text 7"/>
          <p:cNvSpPr/>
          <p:nvPr/>
        </p:nvSpPr>
        <p:spPr>
          <a:xfrm>
            <a:off x="502920" y="3135249"/>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2</a:t>
            </a:r>
            <a:endParaRPr lang="en-US" sz="1600" dirty="0"/>
          </a:p>
        </p:txBody>
      </p:sp>
      <p:sp>
        <p:nvSpPr>
          <p:cNvPr id="10" name="Shape 8"/>
          <p:cNvSpPr/>
          <p:nvPr/>
        </p:nvSpPr>
        <p:spPr>
          <a:xfrm>
            <a:off x="722376" y="3574161"/>
            <a:ext cx="0" cy="669798"/>
          </a:xfrm>
          <a:prstGeom prst="line">
            <a:avLst/>
          </a:prstGeom>
          <a:noFill/>
          <a:ln w="19050">
            <a:solidFill>
              <a:srgbClr val="E1E5EE"/>
            </a:solidFill>
            <a:prstDash val="dash"/>
          </a:ln>
        </p:spPr>
      </p:sp>
      <p:sp>
        <p:nvSpPr>
          <p:cNvPr id="11" name="Text 9"/>
          <p:cNvSpPr/>
          <p:nvPr/>
        </p:nvSpPr>
        <p:spPr>
          <a:xfrm>
            <a:off x="1188720" y="2800350"/>
            <a:ext cx="10362895" cy="110871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Phase 2 — Trust the data, see everything</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Connect one real enrichment provider behind the existing waterfall engine; surface every already-built engine (pipeline, tracking, decision, segments) fully inside DRIP OS</a:t>
            </a:r>
            <a:endParaRPr lang="en-US" sz="1300" dirty="0"/>
          </a:p>
        </p:txBody>
      </p:sp>
      <p:sp>
        <p:nvSpPr>
          <p:cNvPr id="12" name="Shape 10"/>
          <p:cNvSpPr/>
          <p:nvPr/>
        </p:nvSpPr>
        <p:spPr>
          <a:xfrm>
            <a:off x="502920" y="4243959"/>
            <a:ext cx="438912" cy="438912"/>
          </a:xfrm>
          <a:prstGeom prst="ellipse">
            <a:avLst/>
          </a:prstGeom>
          <a:solidFill>
            <a:srgbClr val="0B1220"/>
          </a:solidFill>
          <a:ln/>
        </p:spPr>
      </p:sp>
      <p:sp>
        <p:nvSpPr>
          <p:cNvPr id="13" name="Text 11"/>
          <p:cNvSpPr/>
          <p:nvPr/>
        </p:nvSpPr>
        <p:spPr>
          <a:xfrm>
            <a:off x="502920" y="4243959"/>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3</a:t>
            </a:r>
            <a:endParaRPr lang="en-US" sz="1600" dirty="0"/>
          </a:p>
        </p:txBody>
      </p:sp>
      <p:sp>
        <p:nvSpPr>
          <p:cNvPr id="14" name="Shape 12"/>
          <p:cNvSpPr/>
          <p:nvPr/>
        </p:nvSpPr>
        <p:spPr>
          <a:xfrm>
            <a:off x="722376" y="4682871"/>
            <a:ext cx="0" cy="669798"/>
          </a:xfrm>
          <a:prstGeom prst="line">
            <a:avLst/>
          </a:prstGeom>
          <a:noFill/>
          <a:ln w="19050">
            <a:solidFill>
              <a:srgbClr val="E1E5EE"/>
            </a:solidFill>
            <a:prstDash val="dash"/>
          </a:ln>
        </p:spPr>
      </p:sp>
      <p:sp>
        <p:nvSpPr>
          <p:cNvPr id="15" name="Text 13"/>
          <p:cNvSpPr/>
          <p:nvPr/>
        </p:nvSpPr>
        <p:spPr>
          <a:xfrm>
            <a:off x="1188720" y="3909060"/>
            <a:ext cx="10362895" cy="110871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Phase 3 — Enterprise-grade trust</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SSO/MFA/SCIM for when an external bank user needs access; pursue SOC2/ISO27001/PDPL certification; run a real load test at target scale</a:t>
            </a:r>
            <a:endParaRPr lang="en-US" sz="1300" dirty="0"/>
          </a:p>
        </p:txBody>
      </p:sp>
      <p:sp>
        <p:nvSpPr>
          <p:cNvPr id="16" name="Shape 14"/>
          <p:cNvSpPr/>
          <p:nvPr/>
        </p:nvSpPr>
        <p:spPr>
          <a:xfrm>
            <a:off x="502920" y="5352669"/>
            <a:ext cx="438912" cy="438912"/>
          </a:xfrm>
          <a:prstGeom prst="ellipse">
            <a:avLst/>
          </a:prstGeom>
          <a:solidFill>
            <a:srgbClr val="0B1220"/>
          </a:solidFill>
          <a:ln/>
        </p:spPr>
      </p:sp>
      <p:sp>
        <p:nvSpPr>
          <p:cNvPr id="17" name="Text 15"/>
          <p:cNvSpPr/>
          <p:nvPr/>
        </p:nvSpPr>
        <p:spPr>
          <a:xfrm>
            <a:off x="502920" y="5352669"/>
            <a:ext cx="438912" cy="438912"/>
          </a:xfrm>
          <a:prstGeom prst="rect">
            <a:avLst/>
          </a:prstGeom>
          <a:noFill/>
          <a:ln/>
        </p:spPr>
        <p:txBody>
          <a:bodyPr wrap="square"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1188720" y="5017770"/>
            <a:ext cx="10362895" cy="1108710"/>
          </a:xfrm>
          <a:prstGeom prst="rect">
            <a:avLst/>
          </a:prstGeom>
          <a:noFill/>
          <a:ln/>
        </p:spPr>
        <p:txBody>
          <a:bodyPr wrap="square" rtlCol="0" anchor="ctr"/>
          <a:lstStyle/>
          <a:p>
            <a:pPr indent="0" marL="0">
              <a:lnSpc>
                <a:spcPct val="110000"/>
              </a:lnSpc>
              <a:buNone/>
            </a:pPr>
            <a:r>
              <a:rPr lang="en-US" sz="1300" b="1" dirty="0">
                <a:solidFill>
                  <a:srgbClr val="1A2035"/>
                </a:solidFill>
                <a:latin typeface="Calibri" pitchFamily="34" charset="0"/>
                <a:ea typeface="Calibri" pitchFamily="34" charset="-122"/>
                <a:cs typeface="Calibri" pitchFamily="34" charset="-120"/>
              </a:rPr>
              <a:t>Phase 4 — AI agents &amp; deeper automation</a:t>
            </a:r>
            <a:endParaRPr lang="en-US" sz="1300" dirty="0"/>
          </a:p>
          <a:p>
            <a:pPr indent="0" marL="0">
              <a:lnSpc>
                <a:spcPct val="110000"/>
              </a:lnSpc>
              <a:buNone/>
            </a:pPr>
            <a:r>
              <a:rPr lang="en-US" sz="1150" dirty="0">
                <a:solidFill>
                  <a:srgbClr val="586080"/>
                </a:solidFill>
                <a:latin typeface="Calibri" pitchFamily="34" charset="0"/>
                <a:ea typeface="Calibri" pitchFamily="34" charset="-122"/>
                <a:cs typeface="Calibri" pitchFamily="34" charset="-120"/>
              </a:rPr>
              <a:t>Autonomous research-to-outreach agent pipelines; memory/RAG so AI can reference full account history; natural-language search; visual builders for email, journeys, and objects</a:t>
            </a:r>
            <a:endParaRPr lang="en-US" sz="1300" dirty="0"/>
          </a:p>
        </p:txBody>
      </p:sp>
      <p:sp>
        <p:nvSpPr>
          <p:cNvPr id="19" name="Text 17"/>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0" name="Text 18"/>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106</a:t>
            </a:r>
            <a:endParaRPr lang="en-US" sz="8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18 — TECHNICAL ROADMAP</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Future: Mobile &amp; the API Marketplace</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Mobile</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Not yet started.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DRIP OS today is a responsive web application, usable on a phone's browser, but there is no dedicated mobile app.</a:t>
            </a:r>
            <a:endParaRPr lang="en-US" sz="1250" dirty="0"/>
          </a:p>
        </p:txBody>
      </p:sp>
      <p:sp>
        <p:nvSpPr>
          <p:cNvPr id="9" name="Shape 7"/>
          <p:cNvSpPr/>
          <p:nvPr/>
        </p:nvSpPr>
        <p:spPr>
          <a:xfrm>
            <a:off x="502920" y="4197096"/>
            <a:ext cx="82296" cy="82296"/>
          </a:xfrm>
          <a:prstGeom prst="ellipse">
            <a:avLst/>
          </a:prstGeom>
          <a:solidFill>
            <a:srgbClr val="C9A227"/>
          </a:solidFill>
          <a:ln/>
        </p:spPr>
      </p:sp>
      <p:sp>
        <p:nvSpPr>
          <p:cNvPr id="10" name="Text 8"/>
          <p:cNvSpPr/>
          <p:nvPr/>
        </p:nvSpPr>
        <p:spPr>
          <a:xfrm>
            <a:off x="731520"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Why it's later, not now.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For a 5-person desk-based BD team, a polished web app delivers most of the value; a native app becomes worthwhile once field-based, on-the-go usage (visiting a bank in person) becomes the norm.</a:t>
            </a:r>
            <a:endParaRPr lang="en-US" sz="1250" dirty="0"/>
          </a:p>
        </p:txBody>
      </p:sp>
      <p:sp>
        <p:nvSpPr>
          <p:cNvPr id="11" name="Shape 9"/>
          <p:cNvSpPr/>
          <p:nvPr/>
        </p:nvSpPr>
        <p:spPr>
          <a:xfrm>
            <a:off x="6324448" y="1417320"/>
            <a:ext cx="5364328" cy="457200"/>
          </a:xfrm>
          <a:prstGeom prst="rect">
            <a:avLst/>
          </a:prstGeom>
          <a:solidFill>
            <a:srgbClr val="F3F5F9"/>
          </a:solidFill>
          <a:ln/>
        </p:spPr>
      </p:sp>
      <p:sp>
        <p:nvSpPr>
          <p:cNvPr id="12" name="Shape 10"/>
          <p:cNvSpPr/>
          <p:nvPr/>
        </p:nvSpPr>
        <p:spPr>
          <a:xfrm>
            <a:off x="6324448" y="1417320"/>
            <a:ext cx="73152" cy="457200"/>
          </a:xfrm>
          <a:prstGeom prst="rect">
            <a:avLst/>
          </a:prstGeom>
          <a:solidFill>
            <a:srgbClr val="2657A8"/>
          </a:solidFill>
          <a:ln/>
        </p:spPr>
      </p:sp>
      <p:sp>
        <p:nvSpPr>
          <p:cNvPr id="13" name="Text 11"/>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API Marketplace / OAuth apps</a:t>
            </a:r>
            <a:endParaRPr lang="en-US" sz="1500" dirty="0"/>
          </a:p>
        </p:txBody>
      </p:sp>
      <p:sp>
        <p:nvSpPr>
          <p:cNvPr id="14" name="Shape 12"/>
          <p:cNvSpPr/>
          <p:nvPr/>
        </p:nvSpPr>
        <p:spPr>
          <a:xfrm>
            <a:off x="6324448" y="2148840"/>
            <a:ext cx="82296" cy="82296"/>
          </a:xfrm>
          <a:prstGeom prst="ellipse">
            <a:avLst/>
          </a:prstGeom>
          <a:solidFill>
            <a:srgbClr val="2657A8"/>
          </a:solidFill>
          <a:ln/>
        </p:spPr>
      </p:sp>
      <p:sp>
        <p:nvSpPr>
          <p:cNvPr id="15" name="Text 13"/>
          <p:cNvSpPr/>
          <p:nvPr/>
        </p:nvSpPr>
        <p:spPr>
          <a:xfrm>
            <a:off x="6553048"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Not yet started.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There is no framework today for outside developers or partners to build integrations on top of DRIP.</a:t>
            </a:r>
            <a:endParaRPr lang="en-US" sz="1250" dirty="0"/>
          </a:p>
        </p:txBody>
      </p:sp>
      <p:sp>
        <p:nvSpPr>
          <p:cNvPr id="16" name="Shape 14"/>
          <p:cNvSpPr/>
          <p:nvPr/>
        </p:nvSpPr>
        <p:spPr>
          <a:xfrm>
            <a:off x="6324448" y="4197096"/>
            <a:ext cx="82296" cy="82296"/>
          </a:xfrm>
          <a:prstGeom prst="ellipse">
            <a:avLst/>
          </a:prstGeom>
          <a:solidFill>
            <a:srgbClr val="2657A8"/>
          </a:solidFill>
          <a:ln/>
        </p:spPr>
      </p:sp>
      <p:sp>
        <p:nvSpPr>
          <p:cNvPr id="17" name="Text 15"/>
          <p:cNvSpPr/>
          <p:nvPr/>
        </p:nvSpPr>
        <p:spPr>
          <a:xfrm>
            <a:off x="6553048"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Why it's later, not now.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marketplace only creates value once there are outside parties who want to build on the platform — worth revisiting once DRIP is deployed, proven, and potentially offered to other teams or clients.</a:t>
            </a:r>
            <a:endParaRPr lang="en-US" sz="1250" dirty="0"/>
          </a:p>
        </p:txBody>
      </p:sp>
      <p:sp>
        <p:nvSpPr>
          <p:cNvPr id="18" name="Text 16"/>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9" name="Text 17"/>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107</a:t>
            </a:r>
            <a:endParaRPr lang="en-US" sz="8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18 — TECHNICAL ROADMAP</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Automation — what's next beyond today's rules and workflows</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Today: rules + workflow + sequences, three coordinated engines.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Trigger-condition-action rules, graph-based workflows with approvals, and multi-touch sequences already work together on a shared event bus.</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Next: agent-driven automation.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Chaining research, committee-mapping, and outreach-drafting into a single supervised pipeline, built on the AI core described in Section 11.</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Next: passive activity capture.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Automatically detecting meetings and relationship signals from email/calendar metadata (inspired by what Affinity and People.ai do well, per Section 16) instead of requiring manual logging.</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Next: visual automation builders.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drag-and-drop interface over the existing rules and workflow engines, closing one of the clearest UI gaps named against HubSpot in Section 16.</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108</a:t>
            </a:r>
            <a:endParaRPr lang="en-US" sz="8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19</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19</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Risks</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What could genuinely go wrong, honestly assessed — including five serious risks a past internal review found and that have since been fixed.</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Technical &amp; scaling risks — found and closed</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Security risks</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Compliance &amp; data risks</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Business &amp; operational risks</a:t>
            </a:r>
            <a:endParaRPr lang="en-US" sz="12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19 — RISKS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Five serious risks a past review found — and their current status</a:t>
            </a:r>
            <a:endParaRPr lang="en-US" sz="2600" dirty="0"/>
          </a:p>
        </p:txBody>
      </p:sp>
      <p:graphicFrame>
        <p:nvGraphicFramePr>
          <p:cNvPr id="130"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2749066"/>
                <a:gridCol w="6446086"/>
                <a:gridCol w="1990703"/>
              </a:tblGrid>
              <a:tr h="79248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Risk (as originally named)</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meant in plain English</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Status today</a:t>
                      </a:r>
                      <a:endParaRPr lang="en-US" sz="105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792480">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No multi-tenancy at all</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One client's data could theoretically be visible to another — a serious risk for a multi-account system</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F9D55"/>
                          </a:solidFill>
                          <a:latin typeface="Calibri" pitchFamily="34" charset="0"/>
                          <a:ea typeface="Calibri" pitchFamily="34" charset="-122"/>
                          <a:cs typeface="Calibri" pitchFamily="34" charset="-120"/>
                        </a:rPr>
                        <a:t>COMPLETE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792480">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No authentication on the API</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Anyone who found the address could call the API with no login at all</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b="1" dirty="0">
                          <a:solidFill>
                            <a:srgbClr val="1F9D55"/>
                          </a:solidFill>
                          <a:latin typeface="Calibri" pitchFamily="34" charset="0"/>
                          <a:ea typeface="Calibri" pitchFamily="34" charset="-122"/>
                          <a:cs typeface="Calibri" pitchFamily="34" charset="-120"/>
                        </a:rPr>
                        <a:t>COMPLETE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792480">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In-process, synchronous event bus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A slow background task could freeze the entire live application for every user</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F9D55"/>
                          </a:solidFill>
                          <a:latin typeface="Calibri" pitchFamily="34" charset="0"/>
                          <a:ea typeface="Calibri" pitchFamily="34" charset="-122"/>
                          <a:cs typeface="Calibri" pitchFamily="34" charset="-120"/>
                        </a:rPr>
                        <a:t>COMPLETE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792480">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Hot paths filtering in Python, not SQL</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Certain screens would get slower every month as data volume grew, with no ceiling</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b="1" dirty="0">
                          <a:solidFill>
                            <a:srgbClr val="1F9D55"/>
                          </a:solidFill>
                          <a:latin typeface="Calibri" pitchFamily="34" charset="0"/>
                          <a:ea typeface="Calibri" pitchFamily="34" charset="-122"/>
                          <a:cs typeface="Calibri" pitchFamily="34" charset="-120"/>
                        </a:rPr>
                        <a:t>COMPLETE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r h="792480">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No background-execution substrate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035"/>
                          </a:solidFill>
                          <a:latin typeface="Calibri" pitchFamily="34" charset="0"/>
                          <a:ea typeface="Calibri" pitchFamily="34" charset="-122"/>
                          <a:cs typeface="Calibri" pitchFamily="34" charset="-120"/>
                        </a:rPr>
                        <a:t>There was no safe way to run a long task without risking data loss if the server restarted mid-task</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F9D55"/>
                          </a:solidFill>
                          <a:latin typeface="Calibri" pitchFamily="34" charset="0"/>
                          <a:ea typeface="Calibri" pitchFamily="34" charset="-122"/>
                          <a:cs typeface="Calibri" pitchFamily="34" charset="-120"/>
                        </a:rPr>
                        <a:t>COMPLETE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E7F6ED"/>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109</a:t>
            </a:r>
            <a:endParaRPr lang="en-US" sz="8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19 — RISKS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Technical &amp; scaling risks — current posture</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What's mitigated</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Database-enforced multi-tenancy.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Row-level security means even a bug in application code cannot leak one tenant's data to another.</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Set-based SQL and partitioned tables.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Removes the 'gets slower every month' failure mode for the highest-volume data.</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A durable job queue.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Background work survives a server restart without being lost or double-run.</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What's still an open risk</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No proof at real production scale yet.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architecture is designed for scale (Section 4) and tested with realistic data shapes, but has not been load-tested against the target of 100,000+ contacts and 100 million+ events on real infrastructure.</a:t>
            </a:r>
            <a:endParaRPr lang="en-US" sz="1250" dirty="0"/>
          </a:p>
        </p:txBody>
      </p:sp>
      <p:sp>
        <p:nvSpPr>
          <p:cNvPr id="18" name="Shape 16"/>
          <p:cNvSpPr/>
          <p:nvPr/>
        </p:nvSpPr>
        <p:spPr>
          <a:xfrm>
            <a:off x="6324448" y="4197096"/>
            <a:ext cx="82296" cy="82296"/>
          </a:xfrm>
          <a:prstGeom prst="ellipse">
            <a:avLst/>
          </a:prstGeom>
          <a:solidFill>
            <a:srgbClr val="2657A8"/>
          </a:solidFill>
          <a:ln/>
        </p:spPr>
      </p:sp>
      <p:sp>
        <p:nvSpPr>
          <p:cNvPr id="19" name="Text 17"/>
          <p:cNvSpPr/>
          <p:nvPr/>
        </p:nvSpPr>
        <p:spPr>
          <a:xfrm>
            <a:off x="6553048"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Single point of deployment today.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system currently runs on one machine; no failover, no multi-region redundancy exists yet — acceptable for a 5-person team's current use, not yet enterprise-grade.</a:t>
            </a:r>
            <a:endParaRPr lang="en-US" sz="1250" dirty="0"/>
          </a:p>
        </p:txBody>
      </p:sp>
      <p:sp>
        <p:nvSpPr>
          <p:cNvPr id="20" name="Text 18"/>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1" name="Text 19"/>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110</a:t>
            </a:r>
            <a:endParaRPr lang="en-US" sz="8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19 — RISKS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Security risks — current posture</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What's mitigated</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JWT-based authentication on every route.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No endpoint can be called without a valid, scoped login token.</a:t>
            </a:r>
            <a:endParaRPr lang="en-US" sz="1250" dirty="0"/>
          </a:p>
        </p:txBody>
      </p:sp>
      <p:sp>
        <p:nvSpPr>
          <p:cNvPr id="9" name="Shape 7"/>
          <p:cNvSpPr/>
          <p:nvPr/>
        </p:nvSpPr>
        <p:spPr>
          <a:xfrm>
            <a:off x="502920" y="3514344"/>
            <a:ext cx="82296" cy="82296"/>
          </a:xfrm>
          <a:prstGeom prst="ellipse">
            <a:avLst/>
          </a:prstGeom>
          <a:solidFill>
            <a:srgbClr val="C9A227"/>
          </a:solidFill>
          <a:ln/>
        </p:spPr>
      </p:sp>
      <p:sp>
        <p:nvSpPr>
          <p:cNvPr id="10" name="Text 8"/>
          <p:cNvSpPr/>
          <p:nvPr/>
        </p:nvSpPr>
        <p:spPr>
          <a:xfrm>
            <a:off x="731520"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Rate-limited login.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Repeated failed login attempts are automatically slowed and locked.</a:t>
            </a:r>
            <a:endParaRPr lang="en-US" sz="1250" dirty="0"/>
          </a:p>
        </p:txBody>
      </p:sp>
      <p:sp>
        <p:nvSpPr>
          <p:cNvPr id="11" name="Shape 9"/>
          <p:cNvSpPr/>
          <p:nvPr/>
        </p:nvSpPr>
        <p:spPr>
          <a:xfrm>
            <a:off x="502920" y="4879848"/>
            <a:ext cx="82296" cy="82296"/>
          </a:xfrm>
          <a:prstGeom prst="ellipse">
            <a:avLst/>
          </a:prstGeom>
          <a:solidFill>
            <a:srgbClr val="C9A227"/>
          </a:solidFill>
          <a:ln/>
        </p:spPr>
      </p:sp>
      <p:sp>
        <p:nvSpPr>
          <p:cNvPr id="12" name="Text 10"/>
          <p:cNvSpPr/>
          <p:nvPr/>
        </p:nvSpPr>
        <p:spPr>
          <a:xfrm>
            <a:off x="731520"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Signed webhooks &amp; field-level encryption.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Sensitive data at rest and inbound webhook payloads are both protected against tampering.</a:t>
            </a:r>
            <a:endParaRPr lang="en-US" sz="1250" dirty="0"/>
          </a:p>
        </p:txBody>
      </p:sp>
      <p:sp>
        <p:nvSpPr>
          <p:cNvPr id="13" name="Shape 11"/>
          <p:cNvSpPr/>
          <p:nvPr/>
        </p:nvSpPr>
        <p:spPr>
          <a:xfrm>
            <a:off x="6324448" y="1417320"/>
            <a:ext cx="5364328" cy="457200"/>
          </a:xfrm>
          <a:prstGeom prst="rect">
            <a:avLst/>
          </a:prstGeom>
          <a:solidFill>
            <a:srgbClr val="F3F5F9"/>
          </a:solidFill>
          <a:ln/>
        </p:spPr>
      </p:sp>
      <p:sp>
        <p:nvSpPr>
          <p:cNvPr id="14" name="Shape 12"/>
          <p:cNvSpPr/>
          <p:nvPr/>
        </p:nvSpPr>
        <p:spPr>
          <a:xfrm>
            <a:off x="6324448" y="1417320"/>
            <a:ext cx="73152" cy="457200"/>
          </a:xfrm>
          <a:prstGeom prst="rect">
            <a:avLst/>
          </a:prstGeom>
          <a:solidFill>
            <a:srgbClr val="2657A8"/>
          </a:solidFill>
          <a:ln/>
        </p:spPr>
      </p:sp>
      <p:sp>
        <p:nvSpPr>
          <p:cNvPr id="15" name="Text 13"/>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What's still an open risk</a:t>
            </a:r>
            <a:endParaRPr lang="en-US" sz="1500" dirty="0"/>
          </a:p>
        </p:txBody>
      </p:sp>
      <p:sp>
        <p:nvSpPr>
          <p:cNvPr id="16" name="Shape 14"/>
          <p:cNvSpPr/>
          <p:nvPr/>
        </p:nvSpPr>
        <p:spPr>
          <a:xfrm>
            <a:off x="6324448" y="2148840"/>
            <a:ext cx="82296" cy="82296"/>
          </a:xfrm>
          <a:prstGeom prst="ellipse">
            <a:avLst/>
          </a:prstGeom>
          <a:solidFill>
            <a:srgbClr val="2657A8"/>
          </a:solidFill>
          <a:ln/>
        </p:spPr>
      </p:sp>
      <p:sp>
        <p:nvSpPr>
          <p:cNvPr id="17" name="Text 15"/>
          <p:cNvSpPr/>
          <p:nvPr/>
        </p:nvSpPr>
        <p:spPr>
          <a:xfrm>
            <a:off x="6553048"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No SSO / MFA / SCIM yet.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Fine for a small internal team logging in directly; becomes a real gap the moment an external bank employee needs access, or the team wants centrally managed logins.</a:t>
            </a:r>
            <a:endParaRPr lang="en-US" sz="1250" dirty="0"/>
          </a:p>
        </p:txBody>
      </p:sp>
      <p:sp>
        <p:nvSpPr>
          <p:cNvPr id="18" name="Shape 16"/>
          <p:cNvSpPr/>
          <p:nvPr/>
        </p:nvSpPr>
        <p:spPr>
          <a:xfrm>
            <a:off x="6324448" y="4197096"/>
            <a:ext cx="82296" cy="82296"/>
          </a:xfrm>
          <a:prstGeom prst="ellipse">
            <a:avLst/>
          </a:prstGeom>
          <a:solidFill>
            <a:srgbClr val="2657A8"/>
          </a:solidFill>
          <a:ln/>
        </p:spPr>
      </p:sp>
      <p:sp>
        <p:nvSpPr>
          <p:cNvPr id="19" name="Text 17"/>
          <p:cNvSpPr/>
          <p:nvPr/>
        </p:nvSpPr>
        <p:spPr>
          <a:xfrm>
            <a:off x="6553048"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No independent penetration test or bug bounty.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Internal design is genuinely strong, but has not yet been stress-tested by an outside security researcher looking specifically to break it.</a:t>
            </a:r>
            <a:endParaRPr lang="en-US" sz="1250" dirty="0"/>
          </a:p>
        </p:txBody>
      </p:sp>
      <p:sp>
        <p:nvSpPr>
          <p:cNvPr id="20" name="Text 18"/>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1" name="Text 19"/>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111</a:t>
            </a:r>
            <a:endParaRPr lang="en-US" sz="8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19 — RISKS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Compliance &amp; data risks</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What's mitigated</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PDPL-aligned controls, built.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Consent tracking, data export and erase-on-request, and retention rules are implemented and tested.</a:t>
            </a:r>
            <a:endParaRPr lang="en-US" sz="1250" dirty="0"/>
          </a:p>
        </p:txBody>
      </p:sp>
      <p:sp>
        <p:nvSpPr>
          <p:cNvPr id="9" name="Shape 7"/>
          <p:cNvSpPr/>
          <p:nvPr/>
        </p:nvSpPr>
        <p:spPr>
          <a:xfrm>
            <a:off x="502920" y="4197096"/>
            <a:ext cx="82296" cy="82296"/>
          </a:xfrm>
          <a:prstGeom prst="ellipse">
            <a:avLst/>
          </a:prstGeom>
          <a:solidFill>
            <a:srgbClr val="C9A227"/>
          </a:solidFill>
          <a:ln/>
        </p:spPr>
      </p:sp>
      <p:sp>
        <p:nvSpPr>
          <p:cNvPr id="10" name="Text 8"/>
          <p:cNvSpPr/>
          <p:nvPr/>
        </p:nvSpPr>
        <p:spPr>
          <a:xfrm>
            <a:off x="731520"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Full audit trail.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Every change to sensitive personal data is traceable to who, when, and exactly what changed.</a:t>
            </a:r>
            <a:endParaRPr lang="en-US" sz="1250" dirty="0"/>
          </a:p>
        </p:txBody>
      </p:sp>
      <p:sp>
        <p:nvSpPr>
          <p:cNvPr id="11" name="Shape 9"/>
          <p:cNvSpPr/>
          <p:nvPr/>
        </p:nvSpPr>
        <p:spPr>
          <a:xfrm>
            <a:off x="6324448" y="1417320"/>
            <a:ext cx="5364328" cy="457200"/>
          </a:xfrm>
          <a:prstGeom prst="rect">
            <a:avLst/>
          </a:prstGeom>
          <a:solidFill>
            <a:srgbClr val="F3F5F9"/>
          </a:solidFill>
          <a:ln/>
        </p:spPr>
      </p:sp>
      <p:sp>
        <p:nvSpPr>
          <p:cNvPr id="12" name="Shape 10"/>
          <p:cNvSpPr/>
          <p:nvPr/>
        </p:nvSpPr>
        <p:spPr>
          <a:xfrm>
            <a:off x="6324448" y="1417320"/>
            <a:ext cx="73152" cy="457200"/>
          </a:xfrm>
          <a:prstGeom prst="rect">
            <a:avLst/>
          </a:prstGeom>
          <a:solidFill>
            <a:srgbClr val="2657A8"/>
          </a:solidFill>
          <a:ln/>
        </p:spPr>
      </p:sp>
      <p:sp>
        <p:nvSpPr>
          <p:cNvPr id="13" name="Text 11"/>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What's still an open risk</a:t>
            </a:r>
            <a:endParaRPr lang="en-US" sz="1500" dirty="0"/>
          </a:p>
        </p:txBody>
      </p:sp>
      <p:sp>
        <p:nvSpPr>
          <p:cNvPr id="14" name="Shape 12"/>
          <p:cNvSpPr/>
          <p:nvPr/>
        </p:nvSpPr>
        <p:spPr>
          <a:xfrm>
            <a:off x="6324448" y="2148840"/>
            <a:ext cx="82296" cy="82296"/>
          </a:xfrm>
          <a:prstGeom prst="ellipse">
            <a:avLst/>
          </a:prstGeom>
          <a:solidFill>
            <a:srgbClr val="2657A8"/>
          </a:solidFill>
          <a:ln/>
        </p:spPr>
      </p:sp>
      <p:sp>
        <p:nvSpPr>
          <p:cNvPr id="15" name="Text 13"/>
          <p:cNvSpPr/>
          <p:nvPr/>
        </p:nvSpPr>
        <p:spPr>
          <a:xfrm>
            <a:off x="6553048"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No formal legal sign-off yet.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controls exist; a qualified lawyer has not yet formally confirmed they satisfy PDPL end-to-end for this specific use case — the single named hard gate in Section 15.</a:t>
            </a:r>
            <a:endParaRPr lang="en-US" sz="1250" dirty="0"/>
          </a:p>
        </p:txBody>
      </p:sp>
      <p:sp>
        <p:nvSpPr>
          <p:cNvPr id="16" name="Shape 14"/>
          <p:cNvSpPr/>
          <p:nvPr/>
        </p:nvSpPr>
        <p:spPr>
          <a:xfrm>
            <a:off x="6324448" y="3514344"/>
            <a:ext cx="82296" cy="82296"/>
          </a:xfrm>
          <a:prstGeom prst="ellipse">
            <a:avLst/>
          </a:prstGeom>
          <a:solidFill>
            <a:srgbClr val="2657A8"/>
          </a:solidFill>
          <a:ln/>
        </p:spPr>
      </p:sp>
      <p:sp>
        <p:nvSpPr>
          <p:cNvPr id="17" name="Text 15"/>
          <p:cNvSpPr/>
          <p:nvPr/>
        </p:nvSpPr>
        <p:spPr>
          <a:xfrm>
            <a:off x="6553048"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Data quality is uneven.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8,000+ contacts are loaded, but many carry an 'Unknown' email-confidence flag — treating unverified data as verified in outreach would be a real, avoidable risk.</a:t>
            </a:r>
            <a:endParaRPr lang="en-US" sz="1250" dirty="0"/>
          </a:p>
        </p:txBody>
      </p:sp>
      <p:sp>
        <p:nvSpPr>
          <p:cNvPr id="18" name="Shape 16"/>
          <p:cNvSpPr/>
          <p:nvPr/>
        </p:nvSpPr>
        <p:spPr>
          <a:xfrm>
            <a:off x="6324448" y="4879848"/>
            <a:ext cx="82296" cy="82296"/>
          </a:xfrm>
          <a:prstGeom prst="ellipse">
            <a:avLst/>
          </a:prstGeom>
          <a:solidFill>
            <a:srgbClr val="2657A8"/>
          </a:solidFill>
          <a:ln/>
        </p:spPr>
      </p:sp>
      <p:sp>
        <p:nvSpPr>
          <p:cNvPr id="19" name="Text 17"/>
          <p:cNvSpPr/>
          <p:nvPr/>
        </p:nvSpPr>
        <p:spPr>
          <a:xfrm>
            <a:off x="6553048"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No SOC2/ISO27001 certificate on file.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Some enterprise procurement processes require a certificate regardless of actual control quality — a business risk, not a technical one.</a:t>
            </a:r>
            <a:endParaRPr lang="en-US" sz="1250" dirty="0"/>
          </a:p>
        </p:txBody>
      </p:sp>
      <p:sp>
        <p:nvSpPr>
          <p:cNvPr id="20" name="Text 18"/>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1" name="Text 19"/>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112</a:t>
            </a:r>
            <a:endParaRPr lang="en-US" sz="8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19 — RISKS</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Business &amp; operational risks</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What's mitigated</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Institutional knowledge is captured, not tribal.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relationship graph and interaction history mean a departing team member no longer takes the relationship with them (Section 1's founding problem).</a:t>
            </a:r>
            <a:endParaRPr lang="en-US" sz="1250" dirty="0"/>
          </a:p>
        </p:txBody>
      </p:sp>
      <p:sp>
        <p:nvSpPr>
          <p:cNvPr id="9" name="Shape 7"/>
          <p:cNvSpPr/>
          <p:nvPr/>
        </p:nvSpPr>
        <p:spPr>
          <a:xfrm>
            <a:off x="502920" y="4197096"/>
            <a:ext cx="82296" cy="82296"/>
          </a:xfrm>
          <a:prstGeom prst="ellipse">
            <a:avLst/>
          </a:prstGeom>
          <a:solidFill>
            <a:srgbClr val="C9A227"/>
          </a:solidFill>
          <a:ln/>
        </p:spPr>
      </p:sp>
      <p:sp>
        <p:nvSpPr>
          <p:cNvPr id="10" name="Text 8"/>
          <p:cNvSpPr/>
          <p:nvPr/>
        </p:nvSpPr>
        <p:spPr>
          <a:xfrm>
            <a:off x="731520"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Everything is owned end-to-end.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No vendor lock-in, no per-seat licence risk, no dependency on an external SaaS company's roadmap or pricing changes.</a:t>
            </a:r>
            <a:endParaRPr lang="en-US" sz="1250" dirty="0"/>
          </a:p>
        </p:txBody>
      </p:sp>
      <p:sp>
        <p:nvSpPr>
          <p:cNvPr id="11" name="Shape 9"/>
          <p:cNvSpPr/>
          <p:nvPr/>
        </p:nvSpPr>
        <p:spPr>
          <a:xfrm>
            <a:off x="6324448" y="1417320"/>
            <a:ext cx="5364328" cy="457200"/>
          </a:xfrm>
          <a:prstGeom prst="rect">
            <a:avLst/>
          </a:prstGeom>
          <a:solidFill>
            <a:srgbClr val="F3F5F9"/>
          </a:solidFill>
          <a:ln/>
        </p:spPr>
      </p:sp>
      <p:sp>
        <p:nvSpPr>
          <p:cNvPr id="12" name="Shape 10"/>
          <p:cNvSpPr/>
          <p:nvPr/>
        </p:nvSpPr>
        <p:spPr>
          <a:xfrm>
            <a:off x="6324448" y="1417320"/>
            <a:ext cx="73152" cy="457200"/>
          </a:xfrm>
          <a:prstGeom prst="rect">
            <a:avLst/>
          </a:prstGeom>
          <a:solidFill>
            <a:srgbClr val="2657A8"/>
          </a:solidFill>
          <a:ln/>
        </p:spPr>
      </p:sp>
      <p:sp>
        <p:nvSpPr>
          <p:cNvPr id="13" name="Text 11"/>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What's still an open risk</a:t>
            </a:r>
            <a:endParaRPr lang="en-US" sz="1500" dirty="0"/>
          </a:p>
        </p:txBody>
      </p:sp>
      <p:sp>
        <p:nvSpPr>
          <p:cNvPr id="14" name="Shape 12"/>
          <p:cNvSpPr/>
          <p:nvPr/>
        </p:nvSpPr>
        <p:spPr>
          <a:xfrm>
            <a:off x="6324448" y="2148840"/>
            <a:ext cx="82296" cy="82296"/>
          </a:xfrm>
          <a:prstGeom prst="ellipse">
            <a:avLst/>
          </a:prstGeom>
          <a:solidFill>
            <a:srgbClr val="2657A8"/>
          </a:solidFill>
          <a:ln/>
        </p:spPr>
      </p:sp>
      <p:sp>
        <p:nvSpPr>
          <p:cNvPr id="15" name="Text 13"/>
          <p:cNvSpPr/>
          <p:nvPr/>
        </p:nvSpPr>
        <p:spPr>
          <a:xfrm>
            <a:off x="6553048" y="2029968"/>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Small team, concentrated knowledge of the system itself.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As with any internally built platform, deep system knowledge currently sits with a small number of people — worth deliberately documenting (this deck is part of that mitigation) and cross-training over time.</a:t>
            </a:r>
            <a:endParaRPr lang="en-US" sz="1250" dirty="0"/>
          </a:p>
        </p:txBody>
      </p:sp>
      <p:sp>
        <p:nvSpPr>
          <p:cNvPr id="16" name="Shape 14"/>
          <p:cNvSpPr/>
          <p:nvPr/>
        </p:nvSpPr>
        <p:spPr>
          <a:xfrm>
            <a:off x="6324448" y="3514344"/>
            <a:ext cx="82296" cy="82296"/>
          </a:xfrm>
          <a:prstGeom prst="ellipse">
            <a:avLst/>
          </a:prstGeom>
          <a:solidFill>
            <a:srgbClr val="2657A8"/>
          </a:solidFill>
          <a:ln/>
        </p:spPr>
      </p:sp>
      <p:sp>
        <p:nvSpPr>
          <p:cNvPr id="17" name="Text 15"/>
          <p:cNvSpPr/>
          <p:nvPr/>
        </p:nvSpPr>
        <p:spPr>
          <a:xfrm>
            <a:off x="6553048" y="3395472"/>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Expectation management.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Section 16 is explicit that DRIP will never be a general HubSpot/Mailchimp replacement — the operational risk is stakeholders expecting general-product maturity DRIP was never trying to deliver.</a:t>
            </a:r>
            <a:endParaRPr lang="en-US" sz="1250" dirty="0"/>
          </a:p>
        </p:txBody>
      </p:sp>
      <p:sp>
        <p:nvSpPr>
          <p:cNvPr id="18" name="Shape 16"/>
          <p:cNvSpPr/>
          <p:nvPr/>
        </p:nvSpPr>
        <p:spPr>
          <a:xfrm>
            <a:off x="6324448" y="4879848"/>
            <a:ext cx="82296" cy="82296"/>
          </a:xfrm>
          <a:prstGeom prst="ellipse">
            <a:avLst/>
          </a:prstGeom>
          <a:solidFill>
            <a:srgbClr val="2657A8"/>
          </a:solidFill>
          <a:ln/>
        </p:spPr>
      </p:sp>
      <p:sp>
        <p:nvSpPr>
          <p:cNvPr id="19" name="Text 17"/>
          <p:cNvSpPr/>
          <p:nvPr/>
        </p:nvSpPr>
        <p:spPr>
          <a:xfrm>
            <a:off x="6553048" y="4760976"/>
            <a:ext cx="5090008" cy="1365504"/>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Real sending is not live yet.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Until Section 15's Phase 1 is complete, no marketing feature can reach a real bank contact — a business risk if timelines assumed otherwise.</a:t>
            </a:r>
            <a:endParaRPr lang="en-US" sz="1250" dirty="0"/>
          </a:p>
        </p:txBody>
      </p:sp>
      <p:sp>
        <p:nvSpPr>
          <p:cNvPr id="20" name="Text 18"/>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21" name="Text 19"/>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113</a:t>
            </a:r>
            <a:endParaRPr lang="en-US" sz="8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985455" y="365760"/>
            <a:ext cx="3657600" cy="3657600"/>
          </a:xfrm>
          <a:prstGeom prst="rect">
            <a:avLst/>
          </a:prstGeom>
          <a:noFill/>
          <a:ln/>
        </p:spPr>
        <p:txBody>
          <a:bodyPr wrap="square" rtlCol="0" anchor="t"/>
          <a:lstStyle/>
          <a:p>
            <a:pPr algn="r" indent="0" marL="0">
              <a:buNone/>
            </a:pPr>
            <a:r>
              <a:rPr lang="en-US" sz="22000" dirty="0">
                <a:solidFill>
                  <a:srgbClr val="1E2C4F"/>
                </a:solidFill>
                <a:latin typeface="Cambria" pitchFamily="34" charset="0"/>
                <a:ea typeface="Cambria" pitchFamily="34" charset="-122"/>
                <a:cs typeface="Cambria" pitchFamily="34" charset="-120"/>
              </a:rPr>
              <a:t>20</a:t>
            </a:r>
            <a:endParaRPr lang="en-US" sz="22000" dirty="0"/>
          </a:p>
        </p:txBody>
      </p:sp>
      <p:sp>
        <p:nvSpPr>
          <p:cNvPr id="3" name="Text 1"/>
          <p:cNvSpPr/>
          <p:nvPr/>
        </p:nvSpPr>
        <p:spPr>
          <a:xfrm>
            <a:off x="502920" y="2286000"/>
            <a:ext cx="7315200" cy="457200"/>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SECTION 20</a:t>
            </a:r>
            <a:endParaRPr lang="en-US" sz="1400" dirty="0"/>
          </a:p>
        </p:txBody>
      </p:sp>
      <p:sp>
        <p:nvSpPr>
          <p:cNvPr id="4" name="Text 2"/>
          <p:cNvSpPr/>
          <p:nvPr/>
        </p:nvSpPr>
        <p:spPr>
          <a:xfrm>
            <a:off x="502920" y="2743200"/>
            <a:ext cx="10271455"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Cambria" pitchFamily="34" charset="0"/>
                <a:ea typeface="Cambria" pitchFamily="34" charset="-122"/>
                <a:cs typeface="Cambria" pitchFamily="34" charset="-120"/>
              </a:rPr>
              <a:t>Final Product Vision</a:t>
            </a:r>
            <a:endParaRPr lang="en-US" sz="3400" dirty="0"/>
          </a:p>
        </p:txBody>
      </p:sp>
      <p:sp>
        <p:nvSpPr>
          <p:cNvPr id="5" name="Text 3"/>
          <p:cNvSpPr/>
          <p:nvPr/>
        </p:nvSpPr>
        <p:spPr>
          <a:xfrm>
            <a:off x="502920" y="3977640"/>
            <a:ext cx="9357055" cy="731520"/>
          </a:xfrm>
          <a:prstGeom prst="rect">
            <a:avLst/>
          </a:prstGeom>
          <a:noFill/>
          <a:ln/>
        </p:spPr>
        <p:txBody>
          <a:bodyPr wrap="square" rtlCol="0" anchor="ctr"/>
          <a:lstStyle/>
          <a:p>
            <a:pPr indent="0" marL="0">
              <a:lnSpc>
                <a:spcPts val="2000"/>
              </a:lnSpc>
              <a:buNone/>
            </a:pPr>
            <a:r>
              <a:rPr lang="en-US" sz="1500" dirty="0">
                <a:solidFill>
                  <a:srgbClr val="D7E1F2"/>
                </a:solidFill>
                <a:latin typeface="Calibri" pitchFamily="34" charset="0"/>
                <a:ea typeface="Calibri" pitchFamily="34" charset="-122"/>
                <a:cs typeface="Calibri" pitchFamily="34" charset="-120"/>
              </a:rPr>
              <a:t>What DRIP looks like once the roadmap in Section 18 is complete, and how each type of user actually experiences it.</a:t>
            </a:r>
            <a:endParaRPr lang="en-US" sz="1500" dirty="0"/>
          </a:p>
        </p:txBody>
      </p:sp>
      <p:sp>
        <p:nvSpPr>
          <p:cNvPr id="6" name="Shape 4"/>
          <p:cNvSpPr/>
          <p:nvPr/>
        </p:nvSpPr>
        <p:spPr>
          <a:xfrm>
            <a:off x="502920" y="4946904"/>
            <a:ext cx="82296" cy="82296"/>
          </a:xfrm>
          <a:prstGeom prst="ellipse">
            <a:avLst/>
          </a:prstGeom>
          <a:solidFill>
            <a:srgbClr val="C9A227"/>
          </a:solidFill>
          <a:ln/>
        </p:spPr>
      </p:sp>
      <p:sp>
        <p:nvSpPr>
          <p:cNvPr id="7" name="Text 5"/>
          <p:cNvSpPr/>
          <p:nvPr/>
        </p:nvSpPr>
        <p:spPr>
          <a:xfrm>
            <a:off x="758952" y="4818888"/>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How a salesperson uses it, day to day</a:t>
            </a:r>
            <a:endParaRPr lang="en-US" sz="1250" dirty="0"/>
          </a:p>
        </p:txBody>
      </p:sp>
      <p:sp>
        <p:nvSpPr>
          <p:cNvPr id="8" name="Shape 6"/>
          <p:cNvSpPr/>
          <p:nvPr/>
        </p:nvSpPr>
        <p:spPr>
          <a:xfrm>
            <a:off x="502920" y="5276088"/>
            <a:ext cx="82296" cy="82296"/>
          </a:xfrm>
          <a:prstGeom prst="ellipse">
            <a:avLst/>
          </a:prstGeom>
          <a:solidFill>
            <a:srgbClr val="C9A227"/>
          </a:solidFill>
          <a:ln/>
        </p:spPr>
      </p:sp>
      <p:sp>
        <p:nvSpPr>
          <p:cNvPr id="9" name="Text 7"/>
          <p:cNvSpPr/>
          <p:nvPr/>
        </p:nvSpPr>
        <p:spPr>
          <a:xfrm>
            <a:off x="758952" y="5148072"/>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How management and marketing use it</a:t>
            </a:r>
            <a:endParaRPr lang="en-US" sz="1250" dirty="0"/>
          </a:p>
        </p:txBody>
      </p:sp>
      <p:sp>
        <p:nvSpPr>
          <p:cNvPr id="10" name="Shape 8"/>
          <p:cNvSpPr/>
          <p:nvPr/>
        </p:nvSpPr>
        <p:spPr>
          <a:xfrm>
            <a:off x="502920" y="5605272"/>
            <a:ext cx="82296" cy="82296"/>
          </a:xfrm>
          <a:prstGeom prst="ellipse">
            <a:avLst/>
          </a:prstGeom>
          <a:solidFill>
            <a:srgbClr val="C9A227"/>
          </a:solidFill>
          <a:ln/>
        </p:spPr>
      </p:sp>
      <p:sp>
        <p:nvSpPr>
          <p:cNvPr id="11" name="Text 9"/>
          <p:cNvSpPr/>
          <p:nvPr/>
        </p:nvSpPr>
        <p:spPr>
          <a:xfrm>
            <a:off x="758952" y="5477256"/>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How leadership uses it</a:t>
            </a:r>
            <a:endParaRPr lang="en-US" sz="1250" dirty="0"/>
          </a:p>
        </p:txBody>
      </p:sp>
      <p:sp>
        <p:nvSpPr>
          <p:cNvPr id="12" name="Shape 10"/>
          <p:cNvSpPr/>
          <p:nvPr/>
        </p:nvSpPr>
        <p:spPr>
          <a:xfrm>
            <a:off x="502920" y="5934456"/>
            <a:ext cx="82296" cy="82296"/>
          </a:xfrm>
          <a:prstGeom prst="ellipse">
            <a:avLst/>
          </a:prstGeom>
          <a:solidFill>
            <a:srgbClr val="C9A227"/>
          </a:solidFill>
          <a:ln/>
        </p:spPr>
      </p:sp>
      <p:sp>
        <p:nvSpPr>
          <p:cNvPr id="13" name="Text 11"/>
          <p:cNvSpPr/>
          <p:nvPr/>
        </p:nvSpPr>
        <p:spPr>
          <a:xfrm>
            <a:off x="758952" y="5806440"/>
            <a:ext cx="9357055" cy="292608"/>
          </a:xfrm>
          <a:prstGeom prst="rect">
            <a:avLst/>
          </a:prstGeom>
          <a:noFill/>
          <a:ln/>
        </p:spPr>
        <p:txBody>
          <a:bodyPr wrap="square" rtlCol="0" anchor="ctr"/>
          <a:lstStyle/>
          <a:p>
            <a:pPr indent="0" marL="0">
              <a:buNone/>
            </a:pPr>
            <a:r>
              <a:rPr lang="en-US" sz="1250" dirty="0">
                <a:solidFill>
                  <a:srgbClr val="8FA3C7"/>
                </a:solidFill>
                <a:latin typeface="Calibri" pitchFamily="34" charset="0"/>
                <a:ea typeface="Calibri" pitchFamily="34" charset="-122"/>
                <a:cs typeface="Calibri" pitchFamily="34" charset="-120"/>
              </a:rPr>
              <a:t>Future expansion beyond banking</a:t>
            </a:r>
            <a:endParaRPr lang="en-US" sz="12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20 — FINAL PRODUCT VISION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How a salesperson uses the finished product</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211580"/>
          </a:xfrm>
          <a:prstGeom prst="rect">
            <a:avLst/>
          </a:prstGeom>
          <a:noFill/>
          <a:ln/>
        </p:spPr>
        <p:txBody>
          <a:bodyPr wrap="square" rtlCol="0" anchor="t"/>
          <a:lstStyle/>
          <a:p>
            <a:pPr indent="0" marL="0">
              <a:lnSpc>
                <a:spcPct val="115000"/>
              </a:lnSpc>
              <a:buNone/>
            </a:pPr>
            <a:r>
              <a:rPr lang="en-US" sz="1350" dirty="0">
                <a:solidFill>
                  <a:srgbClr val="586080"/>
                </a:solidFill>
                <a:latin typeface="Calibri" pitchFamily="34" charset="0"/>
                <a:ea typeface="Calibri" pitchFamily="34" charset="-122"/>
                <a:cs typeface="Calibri" pitchFamily="34" charset="-120"/>
              </a:rPr>
              <a:t>They open one application, once, in the morning. The Dashboard already tells them which accounts moved, which signals are urgent, and which contacts haven't been touched in too long — no separate check-ins across five tools.</a:t>
            </a:r>
            <a:endParaRPr lang="en-US" sz="1350" dirty="0"/>
          </a:p>
        </p:txBody>
      </p:sp>
      <p:sp>
        <p:nvSpPr>
          <p:cNvPr id="6" name="Shape 4"/>
          <p:cNvSpPr/>
          <p:nvPr/>
        </p:nvSpPr>
        <p:spPr>
          <a:xfrm>
            <a:off x="502920" y="2711196"/>
            <a:ext cx="100584" cy="100584"/>
          </a:xfrm>
          <a:prstGeom prst="ellipse">
            <a:avLst/>
          </a:prstGeom>
          <a:solidFill>
            <a:srgbClr val="C9A227"/>
          </a:solidFill>
          <a:ln/>
        </p:spPr>
      </p:sp>
      <p:sp>
        <p:nvSpPr>
          <p:cNvPr id="7" name="Text 5"/>
          <p:cNvSpPr/>
          <p:nvPr/>
        </p:nvSpPr>
        <p:spPr>
          <a:xfrm>
            <a:off x="777240" y="2574036"/>
            <a:ext cx="10911535" cy="1211580"/>
          </a:xfrm>
          <a:prstGeom prst="rect">
            <a:avLst/>
          </a:prstGeom>
          <a:noFill/>
          <a:ln/>
        </p:spPr>
        <p:txBody>
          <a:bodyPr wrap="square" rtlCol="0" anchor="t"/>
          <a:lstStyle/>
          <a:p>
            <a:pPr indent="0" marL="0">
              <a:lnSpc>
                <a:spcPct val="115000"/>
              </a:lnSpc>
              <a:buNone/>
            </a:pPr>
            <a:r>
              <a:rPr lang="en-US" sz="1350" dirty="0">
                <a:solidFill>
                  <a:srgbClr val="586080"/>
                </a:solidFill>
                <a:latin typeface="Calibri" pitchFamily="34" charset="0"/>
                <a:ea typeface="Calibri" pitchFamily="34" charset="-122"/>
                <a:cs typeface="Calibri" pitchFamily="34" charset="-120"/>
              </a:rPr>
              <a:t>Before any call, one click opens that bank's full picture: the whole buying committee, every past interaction across every channel, the latest news, and an AI-suggested next step with its reasoning shown plainly enough to trust or override.</a:t>
            </a:r>
            <a:endParaRPr lang="en-US" sz="1350" dirty="0"/>
          </a:p>
        </p:txBody>
      </p:sp>
      <p:sp>
        <p:nvSpPr>
          <p:cNvPr id="8" name="Shape 6"/>
          <p:cNvSpPr/>
          <p:nvPr/>
        </p:nvSpPr>
        <p:spPr>
          <a:xfrm>
            <a:off x="502920" y="3922776"/>
            <a:ext cx="100584" cy="100584"/>
          </a:xfrm>
          <a:prstGeom prst="ellipse">
            <a:avLst/>
          </a:prstGeom>
          <a:solidFill>
            <a:srgbClr val="C9A227"/>
          </a:solidFill>
          <a:ln/>
        </p:spPr>
      </p:sp>
      <p:sp>
        <p:nvSpPr>
          <p:cNvPr id="9" name="Text 7"/>
          <p:cNvSpPr/>
          <p:nvPr/>
        </p:nvSpPr>
        <p:spPr>
          <a:xfrm>
            <a:off x="777240" y="3785616"/>
            <a:ext cx="10911535" cy="1211580"/>
          </a:xfrm>
          <a:prstGeom prst="rect">
            <a:avLst/>
          </a:prstGeom>
          <a:noFill/>
          <a:ln/>
        </p:spPr>
        <p:txBody>
          <a:bodyPr wrap="square" rtlCol="0" anchor="t"/>
          <a:lstStyle/>
          <a:p>
            <a:pPr indent="0" marL="0">
              <a:lnSpc>
                <a:spcPct val="115000"/>
              </a:lnSpc>
              <a:buNone/>
            </a:pPr>
            <a:r>
              <a:rPr lang="en-US" sz="1350" dirty="0">
                <a:solidFill>
                  <a:srgbClr val="586080"/>
                </a:solidFill>
                <a:latin typeface="Calibri" pitchFamily="34" charset="0"/>
                <a:ea typeface="Calibri" pitchFamily="34" charset="-122"/>
                <a:cs typeface="Calibri" pitchFamily="34" charset="-120"/>
              </a:rPr>
              <a:t>Every action they take — a call logged, a reply recorded, a meeting booked — quietly makes tomorrow's recommendations better, for them and for every other person on the team, because it all lands in the same shared system of record.</a:t>
            </a:r>
            <a:endParaRPr lang="en-US" sz="1350" dirty="0"/>
          </a:p>
        </p:txBody>
      </p:sp>
      <p:sp>
        <p:nvSpPr>
          <p:cNvPr id="10" name="Shape 8"/>
          <p:cNvSpPr/>
          <p:nvPr/>
        </p:nvSpPr>
        <p:spPr>
          <a:xfrm>
            <a:off x="502920" y="5134356"/>
            <a:ext cx="100584" cy="100584"/>
          </a:xfrm>
          <a:prstGeom prst="ellipse">
            <a:avLst/>
          </a:prstGeom>
          <a:solidFill>
            <a:srgbClr val="C9A227"/>
          </a:solidFill>
          <a:ln/>
        </p:spPr>
      </p:sp>
      <p:sp>
        <p:nvSpPr>
          <p:cNvPr id="11" name="Text 9"/>
          <p:cNvSpPr/>
          <p:nvPr/>
        </p:nvSpPr>
        <p:spPr>
          <a:xfrm>
            <a:off x="777240" y="4997196"/>
            <a:ext cx="10911535" cy="1211580"/>
          </a:xfrm>
          <a:prstGeom prst="rect">
            <a:avLst/>
          </a:prstGeom>
          <a:noFill/>
          <a:ln/>
        </p:spPr>
        <p:txBody>
          <a:bodyPr wrap="square" rtlCol="0" anchor="t"/>
          <a:lstStyle/>
          <a:p>
            <a:pPr indent="0" marL="0">
              <a:lnSpc>
                <a:spcPct val="115000"/>
              </a:lnSpc>
              <a:buNone/>
            </a:pPr>
            <a:r>
              <a:rPr lang="en-US" sz="1350" dirty="0">
                <a:solidFill>
                  <a:srgbClr val="586080"/>
                </a:solidFill>
                <a:latin typeface="Calibri" pitchFamily="34" charset="0"/>
                <a:ea typeface="Calibri" pitchFamily="34" charset="-122"/>
                <a:cs typeface="Calibri" pitchFamily="34" charset="-120"/>
              </a:rPr>
              <a:t>They never have to ask 'does anyone know who we spoke to at this bank before' — the answer is always one search away.</a:t>
            </a:r>
            <a:endParaRPr lang="en-US" sz="1350" dirty="0"/>
          </a:p>
        </p:txBody>
      </p:sp>
      <p:sp>
        <p:nvSpPr>
          <p:cNvPr id="12" name="Text 1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3" name="Text 1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114</a:t>
            </a:r>
            <a:endParaRPr lang="en-US" sz="8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20 — FINAL PRODUCT VISION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How management, marketing, and leadership use it</a:t>
            </a:r>
            <a:endParaRPr lang="en-US" sz="2600" dirty="0"/>
          </a:p>
        </p:txBody>
      </p:sp>
      <p:sp>
        <p:nvSpPr>
          <p:cNvPr id="4" name="Shape 2"/>
          <p:cNvSpPr/>
          <p:nvPr/>
        </p:nvSpPr>
        <p:spPr>
          <a:xfrm>
            <a:off x="502920" y="1417320"/>
            <a:ext cx="5364328" cy="457200"/>
          </a:xfrm>
          <a:prstGeom prst="rect">
            <a:avLst/>
          </a:prstGeom>
          <a:solidFill>
            <a:srgbClr val="F3F5F9"/>
          </a:solidFill>
          <a:ln/>
        </p:spPr>
      </p:sp>
      <p:sp>
        <p:nvSpPr>
          <p:cNvPr id="5" name="Shape 3"/>
          <p:cNvSpPr/>
          <p:nvPr/>
        </p:nvSpPr>
        <p:spPr>
          <a:xfrm>
            <a:off x="502920" y="1417320"/>
            <a:ext cx="73152" cy="457200"/>
          </a:xfrm>
          <a:prstGeom prst="rect">
            <a:avLst/>
          </a:prstGeom>
          <a:solidFill>
            <a:srgbClr val="C9A227"/>
          </a:solidFill>
          <a:ln/>
        </p:spPr>
      </p:sp>
      <p:sp>
        <p:nvSpPr>
          <p:cNvPr id="6" name="Text 4"/>
          <p:cNvSpPr/>
          <p:nvPr/>
        </p:nvSpPr>
        <p:spPr>
          <a:xfrm>
            <a:off x="731520"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Management &amp; Marketing</a:t>
            </a:r>
            <a:endParaRPr lang="en-US" sz="1500" dirty="0"/>
          </a:p>
        </p:txBody>
      </p:sp>
      <p:sp>
        <p:nvSpPr>
          <p:cNvPr id="7" name="Shape 5"/>
          <p:cNvSpPr/>
          <p:nvPr/>
        </p:nvSpPr>
        <p:spPr>
          <a:xfrm>
            <a:off x="502920" y="2148840"/>
            <a:ext cx="82296" cy="82296"/>
          </a:xfrm>
          <a:prstGeom prst="ellipse">
            <a:avLst/>
          </a:prstGeom>
          <a:solidFill>
            <a:srgbClr val="C9A227"/>
          </a:solidFill>
          <a:ln/>
        </p:spPr>
      </p:sp>
      <p:sp>
        <p:nvSpPr>
          <p:cNvPr id="8" name="Text 6"/>
          <p:cNvSpPr/>
          <p:nvPr/>
        </p:nvSpPr>
        <p:spPr>
          <a:xfrm>
            <a:off x="731520"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Management.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 live, always-current view of pipeline health, account coverage, and which deals are stalling — without chasing a weekly status update from the team.</a:t>
            </a:r>
            <a:endParaRPr lang="en-US" sz="1250" dirty="0"/>
          </a:p>
        </p:txBody>
      </p:sp>
      <p:sp>
        <p:nvSpPr>
          <p:cNvPr id="9" name="Shape 7"/>
          <p:cNvSpPr/>
          <p:nvPr/>
        </p:nvSpPr>
        <p:spPr>
          <a:xfrm>
            <a:off x="502920" y="4197096"/>
            <a:ext cx="82296" cy="82296"/>
          </a:xfrm>
          <a:prstGeom prst="ellipse">
            <a:avLst/>
          </a:prstGeom>
          <a:solidFill>
            <a:srgbClr val="C9A227"/>
          </a:solidFill>
          <a:ln/>
        </p:spPr>
      </p:sp>
      <p:sp>
        <p:nvSpPr>
          <p:cNvPr id="10" name="Text 8"/>
          <p:cNvSpPr/>
          <p:nvPr/>
        </p:nvSpPr>
        <p:spPr>
          <a:xfrm>
            <a:off x="731520"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Marketing.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Audiences that build themselves from live data, campaigns whose real performance (not vanity opens) rolls straight into account scoring and pipeline, and a full customer journey visible end to end.</a:t>
            </a:r>
            <a:endParaRPr lang="en-US" sz="1250" dirty="0"/>
          </a:p>
        </p:txBody>
      </p:sp>
      <p:sp>
        <p:nvSpPr>
          <p:cNvPr id="11" name="Shape 9"/>
          <p:cNvSpPr/>
          <p:nvPr/>
        </p:nvSpPr>
        <p:spPr>
          <a:xfrm>
            <a:off x="6324448" y="1417320"/>
            <a:ext cx="5364328" cy="457200"/>
          </a:xfrm>
          <a:prstGeom prst="rect">
            <a:avLst/>
          </a:prstGeom>
          <a:solidFill>
            <a:srgbClr val="F3F5F9"/>
          </a:solidFill>
          <a:ln/>
        </p:spPr>
      </p:sp>
      <p:sp>
        <p:nvSpPr>
          <p:cNvPr id="12" name="Shape 10"/>
          <p:cNvSpPr/>
          <p:nvPr/>
        </p:nvSpPr>
        <p:spPr>
          <a:xfrm>
            <a:off x="6324448" y="1417320"/>
            <a:ext cx="73152" cy="457200"/>
          </a:xfrm>
          <a:prstGeom prst="rect">
            <a:avLst/>
          </a:prstGeom>
          <a:solidFill>
            <a:srgbClr val="2657A8"/>
          </a:solidFill>
          <a:ln/>
        </p:spPr>
      </p:sp>
      <p:sp>
        <p:nvSpPr>
          <p:cNvPr id="13" name="Text 11"/>
          <p:cNvSpPr/>
          <p:nvPr/>
        </p:nvSpPr>
        <p:spPr>
          <a:xfrm>
            <a:off x="6553048" y="1417320"/>
            <a:ext cx="5090008" cy="457200"/>
          </a:xfrm>
          <a:prstGeom prst="rect">
            <a:avLst/>
          </a:prstGeom>
          <a:noFill/>
          <a:ln/>
        </p:spPr>
        <p:txBody>
          <a:bodyPr wrap="square" rtlCol="0" anchor="ctr"/>
          <a:lstStyle/>
          <a:p>
            <a:pPr indent="0" marL="0">
              <a:buNone/>
            </a:pPr>
            <a:r>
              <a:rPr lang="en-US" sz="1500" b="1" dirty="0">
                <a:solidFill>
                  <a:srgbClr val="1A2035"/>
                </a:solidFill>
                <a:latin typeface="Cambria" pitchFamily="34" charset="0"/>
                <a:ea typeface="Cambria" pitchFamily="34" charset="-122"/>
                <a:cs typeface="Cambria" pitchFamily="34" charset="-120"/>
              </a:rPr>
              <a:t>Leadership &amp; Investors</a:t>
            </a:r>
            <a:endParaRPr lang="en-US" sz="1500" dirty="0"/>
          </a:p>
        </p:txBody>
      </p:sp>
      <p:sp>
        <p:nvSpPr>
          <p:cNvPr id="14" name="Shape 12"/>
          <p:cNvSpPr/>
          <p:nvPr/>
        </p:nvSpPr>
        <p:spPr>
          <a:xfrm>
            <a:off x="6324448" y="2148840"/>
            <a:ext cx="82296" cy="82296"/>
          </a:xfrm>
          <a:prstGeom prst="ellipse">
            <a:avLst/>
          </a:prstGeom>
          <a:solidFill>
            <a:srgbClr val="2657A8"/>
          </a:solidFill>
          <a:ln/>
        </p:spPr>
      </p:sp>
      <p:sp>
        <p:nvSpPr>
          <p:cNvPr id="15" name="Text 13"/>
          <p:cNvSpPr/>
          <p:nvPr/>
        </p:nvSpPr>
        <p:spPr>
          <a:xfrm>
            <a:off x="6553048" y="2029968"/>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Leadership.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The same Feature Parity dashboard behind Section 14 of this deck, live, at any time — an honest, current view of platform maturity without waiting for the next big report.</a:t>
            </a:r>
            <a:endParaRPr lang="en-US" sz="1250" dirty="0"/>
          </a:p>
        </p:txBody>
      </p:sp>
      <p:sp>
        <p:nvSpPr>
          <p:cNvPr id="16" name="Shape 14"/>
          <p:cNvSpPr/>
          <p:nvPr/>
        </p:nvSpPr>
        <p:spPr>
          <a:xfrm>
            <a:off x="6324448" y="4197096"/>
            <a:ext cx="82296" cy="82296"/>
          </a:xfrm>
          <a:prstGeom prst="ellipse">
            <a:avLst/>
          </a:prstGeom>
          <a:solidFill>
            <a:srgbClr val="2657A8"/>
          </a:solidFill>
          <a:ln/>
        </p:spPr>
      </p:sp>
      <p:sp>
        <p:nvSpPr>
          <p:cNvPr id="17" name="Text 15"/>
          <p:cNvSpPr/>
          <p:nvPr/>
        </p:nvSpPr>
        <p:spPr>
          <a:xfrm>
            <a:off x="6553048" y="4078224"/>
            <a:ext cx="5090008" cy="2048256"/>
          </a:xfrm>
          <a:prstGeom prst="rect">
            <a:avLst/>
          </a:prstGeom>
          <a:noFill/>
          <a:ln/>
        </p:spPr>
        <p:txBody>
          <a:bodyPr wrap="square" rtlCol="0" anchor="t"/>
          <a:lstStyle/>
          <a:p>
            <a:pPr indent="0" marL="0">
              <a:lnSpc>
                <a:spcPct val="108000"/>
              </a:lnSpc>
              <a:buNone/>
            </a:pPr>
            <a:r>
              <a:rPr lang="en-US" sz="1250" b="1" dirty="0">
                <a:solidFill>
                  <a:srgbClr val="1A2035"/>
                </a:solidFill>
                <a:latin typeface="Calibri" pitchFamily="34" charset="0"/>
                <a:ea typeface="Calibri" pitchFamily="34" charset="-122"/>
                <a:cs typeface="Calibri" pitchFamily="34" charset="-120"/>
              </a:rPr>
              <a:t>Investors. </a:t>
            </a:r>
            <a:endParaRPr lang="en-US" sz="1250" dirty="0"/>
          </a:p>
          <a:p>
            <a:pPr indent="0" marL="0">
              <a:lnSpc>
                <a:spcPct val="108000"/>
              </a:lnSpc>
              <a:buNone/>
            </a:pPr>
            <a:r>
              <a:rPr lang="en-US" sz="1150" dirty="0">
                <a:solidFill>
                  <a:srgbClr val="586080"/>
                </a:solidFill>
                <a:latin typeface="Calibri" pitchFamily="34" charset="0"/>
                <a:ea typeface="Calibri" pitchFamily="34" charset="-122"/>
                <a:cs typeface="Calibri" pitchFamily="34" charset="-120"/>
              </a:rPr>
              <a:t>Evidence of a disciplined, honestly self-audited engineering culture — a team that names its own gaps precisely (Section 15) is a stronger signal than one that only shows finished features.</a:t>
            </a:r>
            <a:endParaRPr lang="en-US" sz="1250" dirty="0"/>
          </a:p>
        </p:txBody>
      </p:sp>
      <p:sp>
        <p:nvSpPr>
          <p:cNvPr id="18" name="Text 16"/>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9" name="Text 17"/>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115</a:t>
            </a:r>
            <a:endParaRPr lang="en-US" sz="8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SECTION 20 — FINAL PRODUCT VISION</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Future expansion beyond Saudi banking</a:t>
            </a:r>
            <a:endParaRPr lang="en-US" sz="2600" dirty="0"/>
          </a:p>
        </p:txBody>
      </p:sp>
      <p:sp>
        <p:nvSpPr>
          <p:cNvPr id="4" name="Shape 2"/>
          <p:cNvSpPr/>
          <p:nvPr/>
        </p:nvSpPr>
        <p:spPr>
          <a:xfrm>
            <a:off x="502920" y="1499616"/>
            <a:ext cx="100584" cy="100584"/>
          </a:xfrm>
          <a:prstGeom prst="ellipse">
            <a:avLst/>
          </a:prstGeom>
          <a:solidFill>
            <a:srgbClr val="C9A227"/>
          </a:solidFill>
          <a:ln/>
        </p:spPr>
      </p:sp>
      <p:sp>
        <p:nvSpPr>
          <p:cNvPr id="5" name="Text 3"/>
          <p:cNvSpPr/>
          <p:nvPr/>
        </p:nvSpPr>
        <p:spPr>
          <a:xfrm>
            <a:off x="777240" y="1362456"/>
            <a:ext cx="10911535" cy="161544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The engine is not actually bank-specific — the data model is.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CRM, marketing, AI, and workflow engines underneath are general-purpose; only the taxonomy (Bank/NBFI/Ecosystem) and the KSA calendar awareness are tailored to this vertical.</a:t>
            </a:r>
            <a:endParaRPr lang="en-US" sz="1350" dirty="0"/>
          </a:p>
        </p:txBody>
      </p:sp>
      <p:sp>
        <p:nvSpPr>
          <p:cNvPr id="6" name="Shape 4"/>
          <p:cNvSpPr/>
          <p:nvPr/>
        </p:nvSpPr>
        <p:spPr>
          <a:xfrm>
            <a:off x="502920" y="3115056"/>
            <a:ext cx="100584" cy="100584"/>
          </a:xfrm>
          <a:prstGeom prst="ellipse">
            <a:avLst/>
          </a:prstGeom>
          <a:solidFill>
            <a:srgbClr val="C9A227"/>
          </a:solidFill>
          <a:ln/>
        </p:spPr>
      </p:sp>
      <p:sp>
        <p:nvSpPr>
          <p:cNvPr id="7" name="Text 5"/>
          <p:cNvSpPr/>
          <p:nvPr/>
        </p:nvSpPr>
        <p:spPr>
          <a:xfrm>
            <a:off x="777240" y="2977896"/>
            <a:ext cx="10911535" cy="161544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Re-pointing at a new vertical or market is a configuration exercise, not a rewrite.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A new organisation taxonomy, a new business calendar, and a new set of signal sources would let the same platform serve a different industry or a different country.</a:t>
            </a:r>
            <a:endParaRPr lang="en-US" sz="1350" dirty="0"/>
          </a:p>
        </p:txBody>
      </p:sp>
      <p:sp>
        <p:nvSpPr>
          <p:cNvPr id="8" name="Shape 6"/>
          <p:cNvSpPr/>
          <p:nvPr/>
        </p:nvSpPr>
        <p:spPr>
          <a:xfrm>
            <a:off x="502920" y="4730496"/>
            <a:ext cx="100584" cy="100584"/>
          </a:xfrm>
          <a:prstGeom prst="ellipse">
            <a:avLst/>
          </a:prstGeom>
          <a:solidFill>
            <a:srgbClr val="C9A227"/>
          </a:solidFill>
          <a:ln/>
        </p:spPr>
      </p:sp>
      <p:sp>
        <p:nvSpPr>
          <p:cNvPr id="9" name="Text 7"/>
          <p:cNvSpPr/>
          <p:nvPr/>
        </p:nvSpPr>
        <p:spPr>
          <a:xfrm>
            <a:off x="777240" y="4593336"/>
            <a:ext cx="10911535" cy="1615440"/>
          </a:xfrm>
          <a:prstGeom prst="rect">
            <a:avLst/>
          </a:prstGeom>
          <a:noFill/>
          <a:ln/>
        </p:spPr>
        <p:txBody>
          <a:bodyPr wrap="square" rtlCol="0" anchor="t"/>
          <a:lstStyle/>
          <a:p>
            <a:pPr indent="0" marL="0">
              <a:lnSpc>
                <a:spcPct val="110000"/>
              </a:lnSpc>
              <a:buNone/>
            </a:pPr>
            <a:r>
              <a:rPr lang="en-US" sz="1350" b="1" dirty="0">
                <a:solidFill>
                  <a:srgbClr val="1A2035"/>
                </a:solidFill>
                <a:latin typeface="Calibri" pitchFamily="34" charset="0"/>
                <a:ea typeface="Calibri" pitchFamily="34" charset="-122"/>
                <a:cs typeface="Calibri" pitchFamily="34" charset="-120"/>
              </a:rPr>
              <a:t>The same is true for a new business unit inside Decimal. </a:t>
            </a:r>
            <a:endParaRPr lang="en-US" sz="1350" dirty="0"/>
          </a:p>
          <a:p>
            <a:pPr indent="0" marL="0">
              <a:lnSpc>
                <a:spcPct val="110000"/>
              </a:lnSpc>
              <a:buNone/>
            </a:pPr>
            <a:r>
              <a:rPr lang="en-US" sz="1250" dirty="0">
                <a:solidFill>
                  <a:srgbClr val="586080"/>
                </a:solidFill>
                <a:latin typeface="Calibri" pitchFamily="34" charset="0"/>
                <a:ea typeface="Calibri" pitchFamily="34" charset="-122"/>
                <a:cs typeface="Calibri" pitchFamily="34" charset="-120"/>
              </a:rPr>
              <a:t>The multi-tenancy work in Section 4 exists specifically so this platform could serve more than one team or client without one seeing the other's data.</a:t>
            </a:r>
            <a:endParaRPr lang="en-US" sz="1350" dirty="0"/>
          </a:p>
        </p:txBody>
      </p:sp>
      <p:sp>
        <p:nvSpPr>
          <p:cNvPr id="10" name="Text 8"/>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OS — Product &amp; Engineering Handbook</a:t>
            </a:r>
            <a:endParaRPr lang="en-US" sz="850" dirty="0"/>
          </a:p>
        </p:txBody>
      </p:sp>
      <p:sp>
        <p:nvSpPr>
          <p:cNvPr id="11" name="Text 9"/>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116</a:t>
            </a:r>
            <a:endParaRPr lang="en-US" sz="8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730088" y="1371600"/>
            <a:ext cx="731520" cy="731520"/>
          </a:xfrm>
          <a:prstGeom prst="rect">
            <a:avLst/>
          </a:prstGeom>
          <a:noFill/>
          <a:ln/>
        </p:spPr>
        <p:txBody>
          <a:bodyPr wrap="square" rtlCol="0" anchor="ctr"/>
          <a:lstStyle/>
          <a:p>
            <a:pPr algn="ctr" indent="0" marL="0">
              <a:buNone/>
            </a:pPr>
            <a:r>
              <a:rPr lang="en-US" sz="4000" dirty="0">
                <a:solidFill>
                  <a:srgbClr val="C9A227"/>
                </a:solidFill>
                <a:latin typeface="Cambria" pitchFamily="34" charset="0"/>
                <a:ea typeface="Cambria" pitchFamily="34" charset="-122"/>
                <a:cs typeface="Cambria" pitchFamily="34" charset="-120"/>
              </a:rPr>
              <a:t>◆</a:t>
            </a:r>
            <a:endParaRPr lang="en-US" sz="4000" dirty="0"/>
          </a:p>
        </p:txBody>
      </p:sp>
      <p:sp>
        <p:nvSpPr>
          <p:cNvPr id="3" name="Text 1"/>
          <p:cNvSpPr/>
          <p:nvPr/>
        </p:nvSpPr>
        <p:spPr>
          <a:xfrm>
            <a:off x="502920" y="2468880"/>
            <a:ext cx="11185855" cy="91440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This document is the official record.</a:t>
            </a:r>
            <a:endParaRPr lang="en-US" sz="2800" dirty="0"/>
          </a:p>
        </p:txBody>
      </p:sp>
      <p:sp>
        <p:nvSpPr>
          <p:cNvPr id="4" name="Text 2"/>
          <p:cNvSpPr/>
          <p:nvPr/>
        </p:nvSpPr>
        <p:spPr>
          <a:xfrm>
            <a:off x="1600200" y="3383280"/>
            <a:ext cx="8991295" cy="1097280"/>
          </a:xfrm>
          <a:prstGeom prst="rect">
            <a:avLst/>
          </a:prstGeom>
          <a:noFill/>
          <a:ln/>
        </p:spPr>
        <p:txBody>
          <a:bodyPr wrap="square" rtlCol="0" anchor="ctr"/>
          <a:lstStyle/>
          <a:p>
            <a:pPr algn="ctr" indent="0" marL="0">
              <a:lnSpc>
                <a:spcPct val="130000"/>
              </a:lnSpc>
              <a:buNone/>
            </a:pPr>
            <a:r>
              <a:rPr lang="en-US" sz="1400" dirty="0">
                <a:solidFill>
                  <a:srgbClr val="D7E1F2"/>
                </a:solidFill>
                <a:latin typeface="Calibri" pitchFamily="34" charset="0"/>
                <a:ea typeface="Calibri" pitchFamily="34" charset="-122"/>
                <a:cs typeface="Calibri" pitchFamily="34" charset="-120"/>
              </a:rPr>
              <a:t>Every status label, every score, and every named gap in these twenty sections traces back to the running codebase and the project's own honest engineering audits — not to a sales narrative. Keep it that way as the platform grows.</a:t>
            </a:r>
            <a:endParaRPr lang="en-US" sz="1400" dirty="0"/>
          </a:p>
        </p:txBody>
      </p:sp>
      <p:sp>
        <p:nvSpPr>
          <p:cNvPr id="5" name="Text 3"/>
          <p:cNvSpPr/>
          <p:nvPr/>
        </p:nvSpPr>
        <p:spPr>
          <a:xfrm>
            <a:off x="502920" y="6126480"/>
            <a:ext cx="11185855" cy="365760"/>
          </a:xfrm>
          <a:prstGeom prst="rect">
            <a:avLst/>
          </a:prstGeom>
          <a:noFill/>
          <a:ln/>
        </p:spPr>
        <p:txBody>
          <a:bodyPr wrap="square" rtlCol="0" anchor="ctr"/>
          <a:lstStyle/>
          <a:p>
            <a:pPr algn="ctr" indent="0" marL="0">
              <a:buNone/>
            </a:pPr>
            <a:r>
              <a:rPr lang="en-US" sz="1100" dirty="0">
                <a:solidFill>
                  <a:srgbClr val="8FA3C7"/>
                </a:solidFill>
                <a:latin typeface="Calibri" pitchFamily="34" charset="0"/>
                <a:ea typeface="Calibri" pitchFamily="34" charset="-122"/>
                <a:cs typeface="Calibri" pitchFamily="34" charset="-120"/>
              </a:rPr>
              <a:t>DRIP OS — Product &amp; Engineering Handbook · Version 1.0 · July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138</Slides>
  <Notes>138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138</vt:i4>
      </vt:variant>
    </vt:vector>
  </HeadingPairs>
  <TitlesOfParts>
    <vt:vector size="1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vector>
  </TitlesOfParts>
  <Company>Decimal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DRIP OS — The Complete Implementation Handbook</dc:title>
  <dc:subject>PptxGenJS Presentation</dc:subject>
  <dc:creator>DRIP Platform Engineering</dc:creator>
  <cp:lastModifiedBy>DRIP Platform Engineering</cp:lastModifiedBy>
  <cp:revision>1</cp:revision>
  <dcterms:created xsi:type="dcterms:W3CDTF">2026-07-18T19:49:57Z</dcterms:created>
  <dcterms:modified xsi:type="dcterms:W3CDTF">2026-07-18T19:49:57Z</dcterms:modified>
</cp:coreProperties>
</file>