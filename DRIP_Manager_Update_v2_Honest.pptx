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talking points: Be explicit about the three levels. Level A was literally re-verified this week by probing the running system — login, core data screens, upload/export, pipeline, campaigns, collectors, search all answered correctly. Level B is honest about the difference between passing tests and surviving real use. Level C is the dry-run category — say plainly that if you ask the AI something today, it returns a labelled placeholder, not a real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talking points: This is the lived experience, not the theory. Walk through the laptop dependency, the silent sign-in failures (~30 spots in the app, 1 fixed so far), the localhost/127.0.0.1 trap, the restart+refresh requirement, single-user testing, and the test-vs-real database gap. Land the closing band: deployment plus two weeks of real team usage cures most of this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talking points: Every row here cites the actual evidence it's real — mostly things that happened this month. The silent-failure sweep is first on purpose: it's the bug class that made the system look broken this week. Stress the last band: no purchases needed for any of this — it's disciplined engineering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talking points: Everything here must be bought or registered with an outside company. Two honesty anchors from this week's audit: the AI placeholder response was directly verified (it literally says DRY-RUN), and our own data flags most contact emails as unverified. In each case the engineering is done — the purchase is the whole remaining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talking points: Finish with the four-part definition of done in the gold band — server, two weeks of daily team use, one real measured campaign, zero silent failures. This gives your manager a concrete, checkable finish line instead of a vague 'almost done', and it makes every earlier claim in this deck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HONEST STATUS · 1 OF 5</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What Is Actually Built — Claimed at Three Honest Levels</a:t>
            </a:r>
            <a:endParaRPr lang="en-US" sz="2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5855" cy="914400"/>
        </p:xfrm>
        <a:graphic>
          <a:graphicData uri="http://schemas.openxmlformats.org/drawingml/2006/table">
            <a:tbl>
              <a:tblPr/>
              <a:tblGrid>
                <a:gridCol w="2237171"/>
                <a:gridCol w="3355757"/>
                <a:gridCol w="5592928"/>
              </a:tblGrid>
              <a:tr h="960120">
                <a:tc>
                  <a:txBody>
                    <a:bodyPr/>
                    <a:lstStyle/>
                    <a:p>
                      <a:pPr algn="l" indent="0" marL="0">
                        <a:buNone/>
                      </a:pPr>
                      <a:r>
                        <a:rPr lang="en-US" sz="1120" b="1" dirty="0">
                          <a:solidFill>
                            <a:srgbClr val="FFFFFF"/>
                          </a:solidFill>
                          <a:latin typeface="Calibri" pitchFamily="34" charset="0"/>
                          <a:ea typeface="Calibri" pitchFamily="34" charset="-122"/>
                          <a:cs typeface="Calibri" pitchFamily="34" charset="-120"/>
                        </a:rPr>
                        <a:t>Confidence level</a:t>
                      </a:r>
                      <a:endParaRPr lang="en-US" sz="11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20" b="1" dirty="0">
                          <a:solidFill>
                            <a:srgbClr val="FFFFFF"/>
                          </a:solidFill>
                          <a:latin typeface="Calibri" pitchFamily="34" charset="0"/>
                          <a:ea typeface="Calibri" pitchFamily="34" charset="-122"/>
                          <a:cs typeface="Calibri" pitchFamily="34" charset="-120"/>
                        </a:rPr>
                        <a:t>What it means</a:t>
                      </a:r>
                      <a:endParaRPr lang="en-US" sz="11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20" b="1" dirty="0">
                          <a:solidFill>
                            <a:srgbClr val="FFFFFF"/>
                          </a:solidFill>
                          <a:latin typeface="Calibri" pitchFamily="34" charset="0"/>
                          <a:ea typeface="Calibri" pitchFamily="34" charset="-122"/>
                          <a:cs typeface="Calibri" pitchFamily="34" charset="-120"/>
                        </a:rPr>
                        <a:t>What falls in this level</a:t>
                      </a:r>
                      <a:endParaRPr lang="en-US" sz="11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960120">
                <a:tc>
                  <a:txBody>
                    <a:bodyPr/>
                    <a:lstStyle/>
                    <a:p>
                      <a:pPr algn="l" indent="0" marL="0">
                        <a:buNone/>
                      </a:pPr>
                      <a:r>
                        <a:rPr lang="en-US" sz="1020" b="1" dirty="0">
                          <a:solidFill>
                            <a:srgbClr val="1A2035"/>
                          </a:solidFill>
                          <a:latin typeface="Calibri" pitchFamily="34" charset="0"/>
                          <a:ea typeface="Calibri" pitchFamily="34" charset="-122"/>
                          <a:cs typeface="Calibri" pitchFamily="34" charset="-120"/>
                        </a:rPr>
                        <a:t>LEVEL A — Verified working this week</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Checked live against the running system in the last few days — not assumed, not remembered</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Login &amp; security; the bank/contact database (8,000+ contacts loaded); bank pages with contact upload &amp; export; the deal pipeline board; campaign audience creation with live counts; the news-collector engine; global search; the dashboard numbers. All 12 core data services answered correctly when signed in.</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960120">
                <a:tc>
                  <a:txBody>
                    <a:bodyPr/>
                    <a:lstStyle/>
                    <a:p>
                      <a:pPr algn="l" indent="0" marL="0">
                        <a:buNone/>
                      </a:pPr>
                      <a:r>
                        <a:rPr lang="en-US" sz="1020" b="1" dirty="0">
                          <a:solidFill>
                            <a:srgbClr val="1A2035"/>
                          </a:solidFill>
                          <a:latin typeface="Calibri" pitchFamily="34" charset="0"/>
                          <a:ea typeface="Calibri" pitchFamily="34" charset="-122"/>
                          <a:cs typeface="Calibri" pitchFamily="34" charset="-120"/>
                        </a:rPr>
                        <a:t>LEVEL B — Built &amp; passes automated tests, but NOT proven in daily use</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The code works when a test program exercises it. It has not survived weeks of a real team clicking on it — and real use keeps finding issues tests missed</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Most of the wider platform: journeys, sequences, workflow engine, quotes, custom objects, meetings, reports, compliance tools. Real, but should be treated as 'needs shakedown', not 'done'.</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960120">
                <a:tc>
                  <a:txBody>
                    <a:bodyPr/>
                    <a:lstStyle/>
                    <a:p>
                      <a:pPr algn="l" indent="0" marL="0">
                        <a:buNone/>
                      </a:pPr>
                      <a:r>
                        <a:rPr lang="en-US" sz="1020" b="1" dirty="0">
                          <a:solidFill>
                            <a:srgbClr val="1A2035"/>
                          </a:solidFill>
                          <a:latin typeface="Calibri" pitchFamily="34" charset="0"/>
                          <a:ea typeface="Calibri" pitchFamily="34" charset="-122"/>
                          <a:cs typeface="Calibri" pitchFamily="34" charset="-120"/>
                        </a:rPr>
                        <a:t>LEVEL C — Deliberately switched off / inert</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The wiring exists and is tested, but the feature does nothing real until an outside service is connected</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AI answers (currently returns a labelled 'DRY-RUN' placeholder — verified this week); real email sending (safety-locked); contact-data verification (no provider connected); calendar sync; WhatsApp sending.</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5303520"/>
            <a:ext cx="11185855" cy="1051560"/>
          </a:xfrm>
          <a:prstGeom prst="rect">
            <a:avLst/>
          </a:prstGeom>
          <a:solidFill>
            <a:srgbClr val="0B1220"/>
          </a:solidFill>
          <a:ln/>
        </p:spPr>
      </p:sp>
      <p:sp>
        <p:nvSpPr>
          <p:cNvPr id="6" name="Text 3"/>
          <p:cNvSpPr/>
          <p:nvPr/>
        </p:nvSpPr>
        <p:spPr>
          <a:xfrm>
            <a:off x="777240" y="5394960"/>
            <a:ext cx="10637215" cy="320040"/>
          </a:xfrm>
          <a:prstGeom prst="rect">
            <a:avLst/>
          </a:prstGeom>
          <a:noFill/>
          <a:ln/>
        </p:spPr>
        <p:txBody>
          <a:bodyPr wrap="square" rtlCol="0" anchor="ctr"/>
          <a:lstStyle/>
          <a:p>
            <a:pPr indent="0" marL="0">
              <a:buNone/>
            </a:pPr>
            <a:r>
              <a:rPr lang="en-US" sz="1400" b="1" dirty="0">
                <a:solidFill>
                  <a:srgbClr val="C9A227"/>
                </a:solidFill>
                <a:latin typeface="Cambria" pitchFamily="34" charset="0"/>
                <a:ea typeface="Cambria" pitchFamily="34" charset="-122"/>
                <a:cs typeface="Cambria" pitchFamily="34" charset="-120"/>
              </a:rPr>
              <a:t>The one honest headline:</a:t>
            </a:r>
            <a:endParaRPr lang="en-US" sz="1400" dirty="0"/>
          </a:p>
        </p:txBody>
      </p:sp>
      <p:sp>
        <p:nvSpPr>
          <p:cNvPr id="7" name="Text 4"/>
          <p:cNvSpPr/>
          <p:nvPr/>
        </p:nvSpPr>
        <p:spPr>
          <a:xfrm>
            <a:off x="777240" y="5724144"/>
            <a:ext cx="10637215" cy="548640"/>
          </a:xfrm>
          <a:prstGeom prst="rect">
            <a:avLst/>
          </a:prstGeom>
          <a:noFill/>
          <a:ln/>
        </p:spPr>
        <p:txBody>
          <a:bodyPr wrap="square" rtlCol="0" anchor="t"/>
          <a:lstStyle/>
          <a:p>
            <a:pPr indent="0" marL="0">
              <a:lnSpc>
                <a:spcPct val="118000"/>
              </a:lnSpc>
              <a:buNone/>
            </a:pPr>
            <a:r>
              <a:rPr lang="en-US" sz="1080" dirty="0">
                <a:solidFill>
                  <a:srgbClr val="D7E1F2"/>
                </a:solidFill>
                <a:latin typeface="Calibri" pitchFamily="34" charset="0"/>
                <a:ea typeface="Calibri" pitchFamily="34" charset="-122"/>
                <a:cs typeface="Calibri" pitchFamily="34" charset="-120"/>
              </a:rPr>
              <a:t>The foundation and the core screens are real and verified. But 'the platform works' would be an overclaim today: much of it has passed tests, not real daily use — and the features a manager would call 'the exciting parts' (AI answers, real emails) are deliberately inert until outside services are purchased and connected.</a:t>
            </a:r>
            <a:endParaRPr lang="en-US" sz="1080" dirty="0"/>
          </a:p>
        </p:txBody>
      </p:sp>
      <p:sp>
        <p:nvSpPr>
          <p:cNvPr id="8" name="Text 5"/>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Honest Status for Management</a:t>
            </a:r>
            <a:endParaRPr lang="en-US" sz="850" dirty="0"/>
          </a:p>
        </p:txBody>
      </p:sp>
      <p:sp>
        <p:nvSpPr>
          <p:cNvPr id="9" name="Text 6"/>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HONEST STATUS · 2 OF 5</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The Practical Reality of Using It Today</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5855" cy="914400"/>
        </p:xfrm>
        <a:graphic>
          <a:graphicData uri="http://schemas.openxmlformats.org/drawingml/2006/table">
            <a:tbl>
              <a:tblPr/>
              <a:tblGrid>
                <a:gridCol w="3803191"/>
                <a:gridCol w="7382664"/>
              </a:tblGrid>
              <a:tr h="548640">
                <a:tc>
                  <a:txBody>
                    <a:bodyPr/>
                    <a:lstStyle/>
                    <a:p>
                      <a:pPr algn="l" indent="0" marL="0">
                        <a:buNone/>
                      </a:pPr>
                      <a:r>
                        <a:rPr lang="en-US" sz="1120" b="1" dirty="0">
                          <a:solidFill>
                            <a:srgbClr val="FFFFFF"/>
                          </a:solidFill>
                          <a:latin typeface="Calibri" pitchFamily="34" charset="0"/>
                          <a:ea typeface="Calibri" pitchFamily="34" charset="-122"/>
                          <a:cs typeface="Calibri" pitchFamily="34" charset="-120"/>
                        </a:rPr>
                        <a:t>Reality</a:t>
                      </a:r>
                      <a:endParaRPr lang="en-US" sz="11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20" b="1" dirty="0">
                          <a:solidFill>
                            <a:srgbClr val="FFFFFF"/>
                          </a:solidFill>
                          <a:latin typeface="Calibri" pitchFamily="34" charset="0"/>
                          <a:ea typeface="Calibri" pitchFamily="34" charset="-122"/>
                          <a:cs typeface="Calibri" pitchFamily="34" charset="-120"/>
                        </a:rPr>
                        <a:t>What that means day-to-day</a:t>
                      </a:r>
                      <a:endParaRPr lang="en-US" sz="11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548640">
                <a:tc>
                  <a:txBody>
                    <a:bodyPr/>
                    <a:lstStyle/>
                    <a:p>
                      <a:pPr algn="l" indent="0" marL="0">
                        <a:buNone/>
                      </a:pPr>
                      <a:r>
                        <a:rPr lang="en-US" sz="1020" b="1" dirty="0">
                          <a:solidFill>
                            <a:srgbClr val="1A2035"/>
                          </a:solidFill>
                          <a:latin typeface="Calibri" pitchFamily="34" charset="0"/>
                          <a:ea typeface="Calibri" pitchFamily="34" charset="-122"/>
                          <a:cs typeface="Calibri" pitchFamily="34" charset="-120"/>
                        </a:rPr>
                        <a:t>It runs on one laptop, started by hand</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Someone must run the start script on that specific machine. If the laptop is off, asleep, or elsewhere — the platform is down for everyone.</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48640">
                <a:tc>
                  <a:txBody>
                    <a:bodyPr/>
                    <a:lstStyle/>
                    <a:p>
                      <a:pPr algn="l" indent="0" marL="0">
                        <a:buNone/>
                      </a:pPr>
                      <a:r>
                        <a:rPr lang="en-US" sz="1020" b="1" dirty="0">
                          <a:solidFill>
                            <a:srgbClr val="1A2035"/>
                          </a:solidFill>
                          <a:latin typeface="Calibri" pitchFamily="34" charset="0"/>
                          <a:ea typeface="Calibri" pitchFamily="34" charset="-122"/>
                          <a:cs typeface="Calibri" pitchFamily="34" charset="-120"/>
                        </a:rPr>
                        <a:t>You must be signed in, or screens quietly show nothing</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Every data request requires login. This week's 'banks stuck on loading' was exactly this: not signed in, and the screen failed silently instead of saying so. One screen is fixed; roughly 29 other places in the app still fail silently the same way.</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48640">
                <a:tc>
                  <a:txBody>
                    <a:bodyPr/>
                    <a:lstStyle/>
                    <a:p>
                      <a:pPr algn="l" indent="0" marL="0">
                        <a:buNone/>
                      </a:pPr>
                      <a:r>
                        <a:rPr lang="en-US" sz="1020" b="1" dirty="0">
                          <a:solidFill>
                            <a:srgbClr val="1A2035"/>
                          </a:solidFill>
                          <a:latin typeface="Calibri" pitchFamily="34" charset="0"/>
                          <a:ea typeface="Calibri" pitchFamily="34" charset="-122"/>
                          <a:cs typeface="Calibri" pitchFamily="34" charset="-120"/>
                        </a:rPr>
                        <a:t>Two addresses behave like two different apps</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Signing in at 'localhost' does not carry over to '127.0.0.1' — browsers treat them as separate sites. Easy to hit, confusing when it happens.</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48640">
                <a:tc>
                  <a:txBody>
                    <a:bodyPr/>
                    <a:lstStyle/>
                    <a:p>
                      <a:pPr algn="l" indent="0" marL="0">
                        <a:buNone/>
                      </a:pPr>
                      <a:r>
                        <a:rPr lang="en-US" sz="1020" b="1" dirty="0">
                          <a:solidFill>
                            <a:srgbClr val="1A2035"/>
                          </a:solidFill>
                          <a:latin typeface="Calibri" pitchFamily="34" charset="0"/>
                          <a:ea typeface="Calibri" pitchFamily="34" charset="-122"/>
                          <a:cs typeface="Calibri" pitchFamily="34" charset="-120"/>
                        </a:rPr>
                        <a:t>Every fix needs a restart plus a forced browser refresh</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Code changes only appear after restarting the server AND pressing Ctrl+F5. Skip either step and the old (broken) version keeps showing — which has repeatedly looked like 'the fix didn't work'.</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48640">
                <a:tc>
                  <a:txBody>
                    <a:bodyPr/>
                    <a:lstStyle/>
                    <a:p>
                      <a:pPr algn="l" indent="0" marL="0">
                        <a:buNone/>
                      </a:pPr>
                      <a:r>
                        <a:rPr lang="en-US" sz="1020" b="1" dirty="0">
                          <a:solidFill>
                            <a:srgbClr val="1A2035"/>
                          </a:solidFill>
                          <a:latin typeface="Calibri" pitchFamily="34" charset="0"/>
                          <a:ea typeface="Calibri" pitchFamily="34" charset="-122"/>
                          <a:cs typeface="Calibri" pitchFamily="34" charset="-120"/>
                        </a:rPr>
                        <a:t>Only one real user has ever used it</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Every bug so far was found by one person clicking. There has been no second user, no parallel usage, no load beyond a single browser — the system is genuinely untested as a team tool.</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48640">
                <a:tc>
                  <a:txBody>
                    <a:bodyPr/>
                    <a:lstStyle/>
                    <a:p>
                      <a:pPr algn="l" indent="0" marL="0">
                        <a:buNone/>
                      </a:pPr>
                      <a:r>
                        <a:rPr lang="en-US" sz="1020" b="1" dirty="0">
                          <a:solidFill>
                            <a:srgbClr val="1A2035"/>
                          </a:solidFill>
                          <a:latin typeface="Calibri" pitchFamily="34" charset="0"/>
                          <a:ea typeface="Calibri" pitchFamily="34" charset="-122"/>
                          <a:cs typeface="Calibri" pitchFamily="34" charset="-120"/>
                        </a:rPr>
                        <a:t>Tests run on a different database than the real one</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20" dirty="0">
                          <a:solidFill>
                            <a:srgbClr val="586080"/>
                          </a:solidFill>
                          <a:latin typeface="Calibri" pitchFamily="34" charset="0"/>
                          <a:ea typeface="Calibri" pitchFamily="34" charset="-122"/>
                          <a:cs typeface="Calibri" pitchFamily="34" charset="-120"/>
                        </a:rPr>
                        <a:t>Automated tests largely run on a lightweight test database; the real system runs on PostgreSQL on the laptop. Several real-world bugs (silent loading, broken exports) existed precisely in that gap.</a:t>
                      </a:r>
                      <a:endParaRPr lang="en-US" sz="102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Shape 2"/>
          <p:cNvSpPr/>
          <p:nvPr/>
        </p:nvSpPr>
        <p:spPr>
          <a:xfrm>
            <a:off x="502920" y="5303520"/>
            <a:ext cx="11185855" cy="1051560"/>
          </a:xfrm>
          <a:prstGeom prst="rect">
            <a:avLst/>
          </a:prstGeom>
          <a:solidFill>
            <a:srgbClr val="0B1220"/>
          </a:solidFill>
          <a:ln/>
        </p:spPr>
      </p:sp>
      <p:sp>
        <p:nvSpPr>
          <p:cNvPr id="6" name="Text 3"/>
          <p:cNvSpPr/>
          <p:nvPr/>
        </p:nvSpPr>
        <p:spPr>
          <a:xfrm>
            <a:off x="777240" y="5394960"/>
            <a:ext cx="10637215" cy="320040"/>
          </a:xfrm>
          <a:prstGeom prst="rect">
            <a:avLst/>
          </a:prstGeom>
          <a:noFill/>
          <a:ln/>
        </p:spPr>
        <p:txBody>
          <a:bodyPr wrap="square" rtlCol="0" anchor="ctr"/>
          <a:lstStyle/>
          <a:p>
            <a:pPr indent="0" marL="0">
              <a:buNone/>
            </a:pPr>
            <a:r>
              <a:rPr lang="en-US" sz="1400" b="1" dirty="0">
                <a:solidFill>
                  <a:srgbClr val="C9A227"/>
                </a:solidFill>
                <a:latin typeface="Cambria" pitchFamily="34" charset="0"/>
                <a:ea typeface="Cambria" pitchFamily="34" charset="-122"/>
                <a:cs typeface="Cambria" pitchFamily="34" charset="-120"/>
              </a:rPr>
              <a:t>Why this slide matters:</a:t>
            </a:r>
            <a:endParaRPr lang="en-US" sz="1400" dirty="0"/>
          </a:p>
        </p:txBody>
      </p:sp>
      <p:sp>
        <p:nvSpPr>
          <p:cNvPr id="7" name="Text 4"/>
          <p:cNvSpPr/>
          <p:nvPr/>
        </p:nvSpPr>
        <p:spPr>
          <a:xfrm>
            <a:off x="777240" y="5724144"/>
            <a:ext cx="10637215" cy="548640"/>
          </a:xfrm>
          <a:prstGeom prst="rect">
            <a:avLst/>
          </a:prstGeom>
          <a:noFill/>
          <a:ln/>
        </p:spPr>
        <p:txBody>
          <a:bodyPr wrap="square" rtlCol="0" anchor="t"/>
          <a:lstStyle/>
          <a:p>
            <a:pPr indent="0" marL="0">
              <a:lnSpc>
                <a:spcPct val="118000"/>
              </a:lnSpc>
              <a:buNone/>
            </a:pPr>
            <a:r>
              <a:rPr lang="en-US" sz="1080" dirty="0">
                <a:solidFill>
                  <a:srgbClr val="D7E1F2"/>
                </a:solidFill>
                <a:latin typeface="Calibri" pitchFamily="34" charset="0"/>
                <a:ea typeface="Calibri" pitchFamily="34" charset="-122"/>
                <a:cs typeface="Calibri" pitchFamily="34" charset="-120"/>
              </a:rPr>
              <a:t>None of these are exotic problems — they are exactly what 'built but not yet operationalised' looks like. Almost all of them are cured by one move: putting the system on a proper always-on server and having the whole team use it daily for two weeks.</a:t>
            </a:r>
            <a:endParaRPr lang="en-US" sz="1080" dirty="0"/>
          </a:p>
        </p:txBody>
      </p:sp>
      <p:sp>
        <p:nvSpPr>
          <p:cNvPr id="8" name="Text 5"/>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Honest Status for Management</a:t>
            </a:r>
            <a:endParaRPr lang="en-US" sz="850" dirty="0"/>
          </a:p>
        </p:txBody>
      </p:sp>
      <p:sp>
        <p:nvSpPr>
          <p:cNvPr id="9" name="Text 6"/>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HONEST STATUS · 3 OF 5</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Practical Bottlenecks We Can Fix Ourselves</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5855" cy="914400"/>
        </p:xfrm>
        <a:graphic>
          <a:graphicData uri="http://schemas.openxmlformats.org/drawingml/2006/table">
            <a:tbl>
              <a:tblPr/>
              <a:tblGrid>
                <a:gridCol w="2684605"/>
                <a:gridCol w="3579474"/>
                <a:gridCol w="3355757"/>
                <a:gridCol w="1566020"/>
              </a:tblGrid>
              <a:tr h="5486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Bottleneck</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Evidence it's real</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The fix</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Effort</a:t>
                      </a:r>
                      <a:endParaRPr lang="en-US" sz="11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548640">
                <a:tc>
                  <a:txBody>
                    <a:bodyPr/>
                    <a:lstStyle/>
                    <a:p>
                      <a:pPr algn="l" indent="0" marL="0">
                        <a:buNone/>
                      </a:pPr>
                      <a:r>
                        <a:rPr lang="en-US" sz="1000" b="1" dirty="0">
                          <a:solidFill>
                            <a:srgbClr val="1A2035"/>
                          </a:solidFill>
                          <a:latin typeface="Calibri" pitchFamily="34" charset="0"/>
                          <a:ea typeface="Calibri" pitchFamily="34" charset="-122"/>
                          <a:cs typeface="Calibri" pitchFamily="34" charset="-120"/>
                        </a:rPr>
                        <a:t>Screens fail silently when a data request fails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This week's 'banks loading forever'. Found ~30 code locations with the same pattern; 1 (Accounts) now fixed</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Sweep every screen: replace silent failure with a clear 'sign in required' or 'error — retry' message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2-3 days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48640">
                <a:tc>
                  <a:txBody>
                    <a:bodyPr/>
                    <a:lstStyle/>
                    <a:p>
                      <a:pPr algn="l" indent="0" marL="0">
                        <a:buNone/>
                      </a:pPr>
                      <a:r>
                        <a:rPr lang="en-US" sz="1000" b="1" dirty="0">
                          <a:solidFill>
                            <a:srgbClr val="1A2035"/>
                          </a:solidFill>
                          <a:latin typeface="Calibri" pitchFamily="34" charset="0"/>
                          <a:ea typeface="Calibri" pitchFamily="34" charset="-122"/>
                          <a:cs typeface="Calibri" pitchFamily="34" charset="-120"/>
                        </a:rPr>
                        <a:t>No always-on server</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Platform is down whenever the laptop is off — experienced weekly</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Deploy the prepared package to a hosted server</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Days (plus account setup)</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48640">
                <a:tc>
                  <a:txBody>
                    <a:bodyPr/>
                    <a:lstStyle/>
                    <a:p>
                      <a:pPr algn="l" indent="0" marL="0">
                        <a:buNone/>
                      </a:pPr>
                      <a:r>
                        <a:rPr lang="en-US" sz="1000" b="1" dirty="0">
                          <a:solidFill>
                            <a:srgbClr val="1A2035"/>
                          </a:solidFill>
                          <a:latin typeface="Calibri" pitchFamily="34" charset="0"/>
                          <a:ea typeface="Calibri" pitchFamily="34" charset="-122"/>
                          <a:cs typeface="Calibri" pitchFamily="34" charset="-120"/>
                        </a:rPr>
                        <a:t>Newer engines aren't fully surfaced in screens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Several capabilities work via technical interfaces but lack an obvious button</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Focused UI pass over the everyday screens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1-2 weeks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48640">
                <a:tc>
                  <a:txBody>
                    <a:bodyPr/>
                    <a:lstStyle/>
                    <a:p>
                      <a:pPr algn="l" indent="0" marL="0">
                        <a:buNone/>
                      </a:pPr>
                      <a:r>
                        <a:rPr lang="en-US" sz="1000" b="1" dirty="0">
                          <a:solidFill>
                            <a:srgbClr val="1A2035"/>
                          </a:solidFill>
                          <a:latin typeface="Calibri" pitchFamily="34" charset="0"/>
                          <a:ea typeface="Calibri" pitchFamily="34" charset="-122"/>
                          <a:cs typeface="Calibri" pitchFamily="34" charset="-120"/>
                        </a:rPr>
                        <a:t>Update process is error-prone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Repeated 'fix didn't work' rounds caused by missed restart or browser cache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One-click update script (stop → sync → start), and automatic cache-busting on new versions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1-2 days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48640">
                <a:tc>
                  <a:txBody>
                    <a:bodyPr/>
                    <a:lstStyle/>
                    <a:p>
                      <a:pPr algn="l" indent="0" marL="0">
                        <a:buNone/>
                      </a:pPr>
                      <a:r>
                        <a:rPr lang="en-US" sz="1000" b="1" dirty="0">
                          <a:solidFill>
                            <a:srgbClr val="1A2035"/>
                          </a:solidFill>
                          <a:latin typeface="Calibri" pitchFamily="34" charset="0"/>
                          <a:ea typeface="Calibri" pitchFamily="34" charset="-122"/>
                          <a:cs typeface="Calibri" pitchFamily="34" charset="-120"/>
                        </a:rPr>
                        <a:t>No second-user shakedown has ever happened</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Every fault so far surfaced only when one person clicked it</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After deployment: whole team uses it daily for 2 weeks with a shared fault list</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2 weeks calendar time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48640">
                <a:tc>
                  <a:txBody>
                    <a:bodyPr/>
                    <a:lstStyle/>
                    <a:p>
                      <a:pPr algn="l" indent="0" marL="0">
                        <a:buNone/>
                      </a:pPr>
                      <a:r>
                        <a:rPr lang="en-US" sz="1000" b="1" dirty="0">
                          <a:solidFill>
                            <a:srgbClr val="1A2035"/>
                          </a:solidFill>
                          <a:latin typeface="Calibri" pitchFamily="34" charset="0"/>
                          <a:ea typeface="Calibri" pitchFamily="34" charset="-122"/>
                          <a:cs typeface="Calibri" pitchFamily="34" charset="-120"/>
                        </a:rPr>
                        <a:t>Real-database test gap</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Bugs appeared on real PostgreSQL that test-database runs missed</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Run the full test suite against a real PostgreSQL copy on a schedule</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00" dirty="0">
                          <a:solidFill>
                            <a:srgbClr val="586080"/>
                          </a:solidFill>
                          <a:latin typeface="Calibri" pitchFamily="34" charset="0"/>
                          <a:ea typeface="Calibri" pitchFamily="34" charset="-122"/>
                          <a:cs typeface="Calibri" pitchFamily="34" charset="-120"/>
                        </a:rPr>
                        <a:t>2-3 days</a:t>
                      </a:r>
                      <a:endParaRPr lang="en-US" sz="100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Shape 2"/>
          <p:cNvSpPr/>
          <p:nvPr/>
        </p:nvSpPr>
        <p:spPr>
          <a:xfrm>
            <a:off x="502920" y="5303520"/>
            <a:ext cx="11185855" cy="1051560"/>
          </a:xfrm>
          <a:prstGeom prst="rect">
            <a:avLst/>
          </a:prstGeom>
          <a:solidFill>
            <a:srgbClr val="0B1220"/>
          </a:solidFill>
          <a:ln/>
        </p:spPr>
      </p:sp>
      <p:sp>
        <p:nvSpPr>
          <p:cNvPr id="6" name="Text 3"/>
          <p:cNvSpPr/>
          <p:nvPr/>
        </p:nvSpPr>
        <p:spPr>
          <a:xfrm>
            <a:off x="777240" y="5394960"/>
            <a:ext cx="10637215" cy="320040"/>
          </a:xfrm>
          <a:prstGeom prst="rect">
            <a:avLst/>
          </a:prstGeom>
          <a:noFill/>
          <a:ln/>
        </p:spPr>
        <p:txBody>
          <a:bodyPr wrap="square" rtlCol="0" anchor="ctr"/>
          <a:lstStyle/>
          <a:p>
            <a:pPr indent="0" marL="0">
              <a:buNone/>
            </a:pPr>
            <a:r>
              <a:rPr lang="en-US" sz="1400" b="1" dirty="0">
                <a:solidFill>
                  <a:srgbClr val="C9A227"/>
                </a:solidFill>
                <a:latin typeface="Cambria" pitchFamily="34" charset="0"/>
                <a:ea typeface="Cambria" pitchFamily="34" charset="-122"/>
                <a:cs typeface="Cambria" pitchFamily="34" charset="-120"/>
              </a:rPr>
              <a:t>These are ordinary engineering chores — but they're the real blockers.</a:t>
            </a:r>
            <a:endParaRPr lang="en-US" sz="1400" dirty="0"/>
          </a:p>
        </p:txBody>
      </p:sp>
      <p:sp>
        <p:nvSpPr>
          <p:cNvPr id="7" name="Text 4"/>
          <p:cNvSpPr/>
          <p:nvPr/>
        </p:nvSpPr>
        <p:spPr>
          <a:xfrm>
            <a:off x="777240" y="5724144"/>
            <a:ext cx="10637215" cy="548640"/>
          </a:xfrm>
          <a:prstGeom prst="rect">
            <a:avLst/>
          </a:prstGeom>
          <a:noFill/>
          <a:ln/>
        </p:spPr>
        <p:txBody>
          <a:bodyPr wrap="square" rtlCol="0" anchor="t"/>
          <a:lstStyle/>
          <a:p>
            <a:pPr indent="0" marL="0">
              <a:lnSpc>
                <a:spcPct val="118000"/>
              </a:lnSpc>
              <a:buNone/>
            </a:pPr>
            <a:r>
              <a:rPr lang="en-US" sz="1080" dirty="0">
                <a:solidFill>
                  <a:srgbClr val="D7E1F2"/>
                </a:solidFill>
                <a:latin typeface="Calibri" pitchFamily="34" charset="0"/>
                <a:ea typeface="Calibri" pitchFamily="34" charset="-122"/>
                <a:cs typeface="Calibri" pitchFamily="34" charset="-120"/>
              </a:rPr>
              <a:t>Nothing on this slide needs money or permission. This list, done in order, is what turns 'impressive demo on one laptop' into 'a tool the team quietly relies on'.</a:t>
            </a:r>
            <a:endParaRPr lang="en-US" sz="1080" dirty="0"/>
          </a:p>
        </p:txBody>
      </p:sp>
      <p:sp>
        <p:nvSpPr>
          <p:cNvPr id="8" name="Text 5"/>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Honest Status for Management</a:t>
            </a:r>
            <a:endParaRPr lang="en-US" sz="850" dirty="0"/>
          </a:p>
        </p:txBody>
      </p:sp>
      <p:sp>
        <p:nvSpPr>
          <p:cNvPr id="9" name="Text 6"/>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HONEST STATUS · 4 OF 5</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Bottlenecks No Code Can Solve — Purchases &amp; Subscriptions</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5855" cy="914400"/>
        </p:xfrm>
        <a:graphic>
          <a:graphicData uri="http://schemas.openxmlformats.org/drawingml/2006/table">
            <a:tbl>
              <a:tblPr/>
              <a:tblGrid>
                <a:gridCol w="2237171"/>
                <a:gridCol w="2908322"/>
                <a:gridCol w="3803191"/>
                <a:gridCol w="2237171"/>
              </a:tblGrid>
              <a:tr h="853440">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What we need</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Where it is used in DRIP</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Why we can't do it ourselves / through Claude</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What it takes</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8534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A cloud server account (e.g. AWS / Railway)</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The entire platform — available 24/7 to the whole team, not one laptop</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A server must be rented from a hosting company. A personal laptop switches off, sleeps, and sits behind a home network — no code changes that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Company account + payment; live in days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8534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Our own email domain + an email service (Amazon SES)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Campaigns, follow-up sequences, any real email to a bank contact — all currently safety-locked to dry-run</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Email providers only trust mail from a registered domain with earned reputation, built by gradual sending over ~2 weeks ('warm-up'). Trust is earned with time, not built with code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Domain + AWS approval + 2-week warm-up</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8534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An AI model subscription (Anthropic / OpenAI / Google)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The AI assistant and drafting features — verified this week to return a labelled placeholder, not real answers, until a key exists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The intelligence runs on these companies' paid services. Our wiring is complete and tested — every AI feature goes live the moment a key is added</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Paid API subscription; instant once purchased</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8534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A contact-verification service (Apollo / Lusha / Clay)</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Independently confirming emails &amp; phones of the 8,000+ contacts — most are currently marked 'unverified' in our own data</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Verified contact data is these companies' proprietary product. It can only be bought — not scraped or generated, legally or reliably</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Subscription + ~1 week to connect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8534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Google / Microsoft app credentials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Two-way calendar sync on the Meetings screen</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Google and Microsoft only grant calendar access to credentials issued on a registered company account — an admin action on their side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One-time app registration by IT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Honest Status for Management</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HONEST STATUS · 5 OF 5</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Permissions, Rules &amp; Time — and What 'Actually Working' Will Mean</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5855" cy="914400"/>
        </p:xfrm>
        <a:graphic>
          <a:graphicData uri="http://schemas.openxmlformats.org/drawingml/2006/table">
            <a:tbl>
              <a:tblPr/>
              <a:tblGrid>
                <a:gridCol w="2908322"/>
                <a:gridCol w="5369210"/>
                <a:gridCol w="2908322"/>
              </a:tblGrid>
              <a:tr h="640080">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What we need</a:t>
                      </a:r>
                      <a:endParaRPr lang="en-US" sz="10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Why we can't do it ourselves</a:t>
                      </a:r>
                      <a:endParaRPr lang="en-US" sz="10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80" b="1" dirty="0">
                          <a:solidFill>
                            <a:srgbClr val="FFFFFF"/>
                          </a:solidFill>
                          <a:latin typeface="Calibri" pitchFamily="34" charset="0"/>
                          <a:ea typeface="Calibri" pitchFamily="34" charset="-122"/>
                          <a:cs typeface="Calibri" pitchFamily="34" charset="-120"/>
                        </a:rPr>
                        <a:t>What it takes</a:t>
                      </a:r>
                      <a:endParaRPr lang="en-US" sz="10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640080">
                <a:tc>
                  <a:txBody>
                    <a:bodyPr/>
                    <a:lstStyle/>
                    <a:p>
                      <a:pPr algn="l" indent="0" marL="0">
                        <a:buNone/>
                      </a:pPr>
                      <a:r>
                        <a:rPr lang="en-US" sz="980" b="1" dirty="0">
                          <a:solidFill>
                            <a:srgbClr val="1A2035"/>
                          </a:solidFill>
                          <a:latin typeface="Calibri" pitchFamily="34" charset="0"/>
                          <a:ea typeface="Calibri" pitchFamily="34" charset="-122"/>
                          <a:cs typeface="Calibri" pitchFamily="34" charset="-120"/>
                        </a:rPr>
                        <a:t>PDPL legal sign-off (Saudi data-protection law)</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80" dirty="0">
                          <a:solidFill>
                            <a:srgbClr val="586080"/>
                          </a:solidFill>
                          <a:latin typeface="Calibri" pitchFamily="34" charset="0"/>
                          <a:ea typeface="Calibri" pitchFamily="34" charset="-122"/>
                          <a:cs typeface="Calibri" pitchFamily="34" charset="-120"/>
                        </a:rPr>
                        <a:t>The technical controls (consent, export, delete-on-request) are built; only a qualified lawyer can certify they satisfy the law — a legal opinion, not a technical task</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80" dirty="0">
                          <a:solidFill>
                            <a:srgbClr val="586080"/>
                          </a:solidFill>
                          <a:latin typeface="Calibri" pitchFamily="34" charset="0"/>
                          <a:ea typeface="Calibri" pitchFamily="34" charset="-122"/>
                          <a:cs typeface="Calibri" pitchFamily="34" charset="-120"/>
                        </a:rPr>
                        <a:t>Legal review; lawyer's timeline</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40080">
                <a:tc>
                  <a:txBody>
                    <a:bodyPr/>
                    <a:lstStyle/>
                    <a:p>
                      <a:pPr algn="l" indent="0" marL="0">
                        <a:buNone/>
                      </a:pPr>
                      <a:r>
                        <a:rPr lang="en-US" sz="980" b="1" dirty="0">
                          <a:solidFill>
                            <a:srgbClr val="1A2035"/>
                          </a:solidFill>
                          <a:latin typeface="Calibri" pitchFamily="34" charset="0"/>
                          <a:ea typeface="Calibri" pitchFamily="34" charset="-122"/>
                          <a:cs typeface="Calibri" pitchFamily="34" charset="-120"/>
                        </a:rPr>
                        <a:t>LinkedIn automation — deliberately NOT built</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80" dirty="0">
                          <a:solidFill>
                            <a:srgbClr val="586080"/>
                          </a:solidFill>
                          <a:latin typeface="Calibri" pitchFamily="34" charset="0"/>
                          <a:ea typeface="Calibri" pitchFamily="34" charset="-122"/>
                          <a:cs typeface="Calibri" pitchFamily="34" charset="-120"/>
                        </a:rPr>
                        <a:t>LinkedIn's terms prohibit bots and ban accounts using them. Human sends, system records — a rule we choose to respect, not a gap</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80" dirty="0">
                          <a:solidFill>
                            <a:srgbClr val="586080"/>
                          </a:solidFill>
                          <a:latin typeface="Calibri" pitchFamily="34" charset="0"/>
                          <a:ea typeface="Calibri" pitchFamily="34" charset="-122"/>
                          <a:cs typeface="Calibri" pitchFamily="34" charset="-120"/>
                        </a:rPr>
                        <a:t>No action; correct permanent approach</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640080">
                <a:tc>
                  <a:txBody>
                    <a:bodyPr/>
                    <a:lstStyle/>
                    <a:p>
                      <a:pPr algn="l" indent="0" marL="0">
                        <a:buNone/>
                      </a:pPr>
                      <a:r>
                        <a:rPr lang="en-US" sz="980" b="1" dirty="0">
                          <a:solidFill>
                            <a:srgbClr val="1A2035"/>
                          </a:solidFill>
                          <a:latin typeface="Calibri" pitchFamily="34" charset="0"/>
                          <a:ea typeface="Calibri" pitchFamily="34" charset="-122"/>
                          <a:cs typeface="Calibri" pitchFamily="34" charset="-120"/>
                        </a:rPr>
                        <a:t>WhatsApp official Business API</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80" dirty="0">
                          <a:solidFill>
                            <a:srgbClr val="586080"/>
                          </a:solidFill>
                          <a:latin typeface="Calibri" pitchFamily="34" charset="0"/>
                          <a:ea typeface="Calibri" pitchFamily="34" charset="-122"/>
                          <a:cs typeface="Calibri" pitchFamily="34" charset="-120"/>
                        </a:rPr>
                        <a:t>Business-scale WhatsApp sending requires Meta's approval of a verified business account — their process, their timeline</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80" dirty="0">
                          <a:solidFill>
                            <a:srgbClr val="586080"/>
                          </a:solidFill>
                          <a:latin typeface="Calibri" pitchFamily="34" charset="0"/>
                          <a:ea typeface="Calibri" pitchFamily="34" charset="-122"/>
                          <a:cs typeface="Calibri" pitchFamily="34" charset="-120"/>
                        </a:rPr>
                        <a:t>Meta business verification</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40080">
                <a:tc>
                  <a:txBody>
                    <a:bodyPr/>
                    <a:lstStyle/>
                    <a:p>
                      <a:pPr algn="l" indent="0" marL="0">
                        <a:buNone/>
                      </a:pPr>
                      <a:r>
                        <a:rPr lang="en-US" sz="980" b="1" dirty="0">
                          <a:solidFill>
                            <a:srgbClr val="1A2035"/>
                          </a:solidFill>
                          <a:latin typeface="Calibri" pitchFamily="34" charset="0"/>
                          <a:ea typeface="Calibri" pitchFamily="34" charset="-122"/>
                          <a:cs typeface="Calibri" pitchFamily="34" charset="-120"/>
                        </a:rPr>
                        <a:t>Company logins (SSO / MFA) &amp; security certificates (SOC2 / ISO)</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80" dirty="0">
                          <a:solidFill>
                            <a:srgbClr val="586080"/>
                          </a:solidFill>
                          <a:latin typeface="Calibri" pitchFamily="34" charset="0"/>
                          <a:ea typeface="Calibri" pitchFamily="34" charset="-122"/>
                          <a:cs typeface="Calibri" pitchFamily="34" charset="-120"/>
                        </a:rPr>
                        <a:t>SSO needs an identity provider only company IT can own; certificates can only be granted by external auditors over months of evidence</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80" dirty="0">
                          <a:solidFill>
                            <a:srgbClr val="586080"/>
                          </a:solidFill>
                          <a:latin typeface="Calibri" pitchFamily="34" charset="0"/>
                          <a:ea typeface="Calibri" pitchFamily="34" charset="-122"/>
                          <a:cs typeface="Calibri" pitchFamily="34" charset="-120"/>
                        </a:rPr>
                        <a:t>IT decision; external audit engagement</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640080">
                <a:tc>
                  <a:txBody>
                    <a:bodyPr/>
                    <a:lstStyle/>
                    <a:p>
                      <a:pPr algn="l" indent="0" marL="0">
                        <a:buNone/>
                      </a:pPr>
                      <a:r>
                        <a:rPr lang="en-US" sz="980" b="1" dirty="0">
                          <a:solidFill>
                            <a:srgbClr val="1A2035"/>
                          </a:solidFill>
                          <a:latin typeface="Calibri" pitchFamily="34" charset="0"/>
                          <a:ea typeface="Calibri" pitchFamily="34" charset="-122"/>
                          <a:cs typeface="Calibri" pitchFamily="34" charset="-120"/>
                        </a:rPr>
                        <a:t>A real reliability track record</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80" dirty="0">
                          <a:solidFill>
                            <a:srgbClr val="586080"/>
                          </a:solidFill>
                          <a:latin typeface="Calibri" pitchFamily="34" charset="0"/>
                          <a:ea typeface="Calibri" pitchFamily="34" charset="-122"/>
                          <a:cs typeface="Calibri" pitchFamily="34" charset="-120"/>
                        </a:rPr>
                        <a:t>Passing tests prove the code works as designed; only months of real production running prove uptime. Time cannot be compressed by more engineering</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80" dirty="0">
                          <a:solidFill>
                            <a:srgbClr val="586080"/>
                          </a:solidFill>
                          <a:latin typeface="Calibri" pitchFamily="34" charset="0"/>
                          <a:ea typeface="Calibri" pitchFamily="34" charset="-122"/>
                          <a:cs typeface="Calibri" pitchFamily="34" charset="-120"/>
                        </a:rPr>
                        <a:t>Deploy, then let time accumulate</a:t>
                      </a:r>
                      <a:endParaRPr lang="en-US" sz="98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5303520"/>
            <a:ext cx="11185855" cy="1051560"/>
          </a:xfrm>
          <a:prstGeom prst="rect">
            <a:avLst/>
          </a:prstGeom>
          <a:solidFill>
            <a:srgbClr val="0B1220"/>
          </a:solidFill>
          <a:ln/>
        </p:spPr>
      </p:sp>
      <p:sp>
        <p:nvSpPr>
          <p:cNvPr id="6" name="Text 3"/>
          <p:cNvSpPr/>
          <p:nvPr/>
        </p:nvSpPr>
        <p:spPr>
          <a:xfrm>
            <a:off x="777240" y="5394960"/>
            <a:ext cx="10637215" cy="320040"/>
          </a:xfrm>
          <a:prstGeom prst="rect">
            <a:avLst/>
          </a:prstGeom>
          <a:noFill/>
          <a:ln/>
        </p:spPr>
        <p:txBody>
          <a:bodyPr wrap="square" rtlCol="0" anchor="ctr"/>
          <a:lstStyle/>
          <a:p>
            <a:pPr indent="0" marL="0">
              <a:buNone/>
            </a:pPr>
            <a:r>
              <a:rPr lang="en-US" sz="1400" b="1" dirty="0">
                <a:solidFill>
                  <a:srgbClr val="C9A227"/>
                </a:solidFill>
                <a:latin typeface="Cambria" pitchFamily="34" charset="0"/>
                <a:ea typeface="Cambria" pitchFamily="34" charset="-122"/>
                <a:cs typeface="Cambria" pitchFamily="34" charset="-120"/>
              </a:rPr>
              <a:t>Our definition of 'actually working' — so nobody has to take anyone's word for it:</a:t>
            </a:r>
            <a:endParaRPr lang="en-US" sz="1400" dirty="0"/>
          </a:p>
        </p:txBody>
      </p:sp>
      <p:sp>
        <p:nvSpPr>
          <p:cNvPr id="7" name="Text 4"/>
          <p:cNvSpPr/>
          <p:nvPr/>
        </p:nvSpPr>
        <p:spPr>
          <a:xfrm>
            <a:off x="777240" y="5724144"/>
            <a:ext cx="10637215" cy="548640"/>
          </a:xfrm>
          <a:prstGeom prst="rect">
            <a:avLst/>
          </a:prstGeom>
          <a:noFill/>
          <a:ln/>
        </p:spPr>
        <p:txBody>
          <a:bodyPr wrap="square" rtlCol="0" anchor="t"/>
          <a:lstStyle/>
          <a:p>
            <a:pPr indent="0" marL="0">
              <a:lnSpc>
                <a:spcPct val="118000"/>
              </a:lnSpc>
              <a:buNone/>
            </a:pPr>
            <a:r>
              <a:rPr lang="en-US" sz="1080" dirty="0">
                <a:solidFill>
                  <a:srgbClr val="D7E1F2"/>
                </a:solidFill>
                <a:latin typeface="Calibri" pitchFamily="34" charset="0"/>
                <a:ea typeface="Calibri" pitchFamily="34" charset="-122"/>
                <a:cs typeface="Calibri" pitchFamily="34" charset="-120"/>
              </a:rPr>
              <a:t>(1) Running on an always-on server, not a laptop. (2) The whole team signs in and uses it daily for two straight weeks with faults logged and fixed. (3) At least one real email campaign sent and measured. (4) Zero screens that fail silently. Until all four are true, the honest status is: strong foundation, verified core, not yet an operational tool.</a:t>
            </a:r>
            <a:endParaRPr lang="en-US" sz="1080" dirty="0"/>
          </a:p>
        </p:txBody>
      </p:sp>
      <p:sp>
        <p:nvSpPr>
          <p:cNvPr id="8" name="Text 5"/>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Honest Status for Management</a:t>
            </a:r>
            <a:endParaRPr lang="en-US" sz="850" dirty="0"/>
          </a:p>
        </p:txBody>
      </p:sp>
      <p:sp>
        <p:nvSpPr>
          <p:cNvPr id="9" name="Text 6"/>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DRIP Platform — Honest Status for Management</dc:title>
  <dc:subject>PptxGenJS Presentation</dc:subject>
  <dc:creator>DRIP Platform</dc:creator>
  <cp:lastModifiedBy>DRIP Platform</cp:lastModifiedBy>
  <cp:revision>1</cp:revision>
  <dcterms:created xsi:type="dcterms:W3CDTF">2026-07-21T09:39:36Z</dcterms:created>
  <dcterms:modified xsi:type="dcterms:W3CDTF">2026-07-21T09:39:36Z</dcterms:modified>
</cp:coreProperties>
</file>