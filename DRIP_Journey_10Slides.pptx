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Explain the format: nine steps, laid out like a staircase. Each following slide shows one step, whether it's done, and — if it's stuck — exactly what's holding it up and what fixes it. The little bar at the top of every slide shows all nine steps at once, so it's always clear where we are in the whole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the foundation. This is genuinely finished and verified live this week. No bottleneck to report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data. 8,000+ contacts loaded and organised is real and verified. Flag honestly that they aren't independently verified yet — that's Step 6, not a gap in this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the day-to-day tools. Bank pages, deal board, and news watching are real and verified. This is the 'no more scattered spreadsheets' promise,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this is the clearest 'built but not switched on' example. Say plainly: we tested it this week and it returns a labelled placeholder. The fix is a single purchase away and turns on everything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the biggest and most time-sensitive external dependency. Recommend starting the domain purchase and warm-up as early as possible since it's a fixed two weeks no matter when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explain simply why this can't be solved with more coding — verified contact data is literally a paid product these companies sell, not something we can generate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this is the single highest-leverage next step, since Steps 8 and 9 both depend on it. Frame it as fast and low-risk — days, not weeks, once a hosting account is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connect this directly to the 'banks stuck on loading' incident as concrete proof this step hasn't happened yet. Two clear actions: finish the silent-failure sweep, then run a real two-week team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close by noting this can run in parallel with the other steps and doesn't block day-to-day team usage — but it does block relying on the system for sensitive real client data long-term.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p:spPr>
      </p:sp>
      <p:sp>
        <p:nvSpPr>
          <p:cNvPr id="3" name="Text 1"/>
          <p:cNvSpPr/>
          <p:nvPr/>
        </p:nvSpPr>
        <p:spPr>
          <a:xfrm>
            <a:off x="9265615" y="548640"/>
            <a:ext cx="2377440" cy="2377440"/>
          </a:xfrm>
          <a:prstGeom prst="rect">
            <a:avLst/>
          </a:prstGeom>
          <a:noFill/>
          <a:ln/>
        </p:spPr>
        <p:txBody>
          <a:bodyPr wrap="square" rtlCol="0" anchor="ctr"/>
          <a:lstStyle/>
          <a:p>
            <a:pPr algn="ctr" indent="0" marL="0">
              <a:buNone/>
            </a:pPr>
            <a:r>
              <a:rPr lang="en-US" sz="22000" dirty="0">
                <a:solidFill>
                  <a:srgbClr val="1E2C4F"/>
                </a:solidFill>
                <a:latin typeface="Cambria" pitchFamily="34" charset="0"/>
                <a:ea typeface="Cambria" pitchFamily="34" charset="-122"/>
                <a:cs typeface="Cambria" pitchFamily="34" charset="-120"/>
              </a:rPr>
              <a:t>◆</a:t>
            </a:r>
            <a:endParaRPr lang="en-US" sz="22000" dirty="0"/>
          </a:p>
        </p:txBody>
      </p:sp>
      <p:sp>
        <p:nvSpPr>
          <p:cNvPr id="4" name="Shape 2"/>
          <p:cNvSpPr/>
          <p:nvPr/>
        </p:nvSpPr>
        <p:spPr>
          <a:xfrm>
            <a:off x="502920" y="1965960"/>
            <a:ext cx="502920" cy="502920"/>
          </a:xfrm>
          <a:prstGeom prst="rect">
            <a:avLst/>
          </a:prstGeom>
          <a:solidFill>
            <a:srgbClr val="C9A227"/>
          </a:solidFill>
          <a:ln/>
        </p:spPr>
      </p:sp>
      <p:sp>
        <p:nvSpPr>
          <p:cNvPr id="5" name="Text 3"/>
          <p:cNvSpPr/>
          <p:nvPr/>
        </p:nvSpPr>
        <p:spPr>
          <a:xfrm>
            <a:off x="502920" y="1965960"/>
            <a:ext cx="502920" cy="502920"/>
          </a:xfrm>
          <a:prstGeom prst="rect">
            <a:avLst/>
          </a:prstGeom>
          <a:noFill/>
          <a:ln/>
        </p:spPr>
        <p:txBody>
          <a:bodyPr wrap="square" rtlCol="0" anchor="ctr"/>
          <a:lstStyle/>
          <a:p>
            <a:pPr algn="ctr" indent="0" marL="0">
              <a:buNone/>
            </a:pPr>
            <a:r>
              <a:rPr lang="en-US" sz="2600" b="1" dirty="0">
                <a:solidFill>
                  <a:srgbClr val="0B1220"/>
                </a:solidFill>
                <a:latin typeface="Cambria" pitchFamily="34" charset="0"/>
                <a:ea typeface="Cambria" pitchFamily="34" charset="-122"/>
                <a:cs typeface="Cambria" pitchFamily="34" charset="-120"/>
              </a:rPr>
              <a:t>◆</a:t>
            </a:r>
            <a:endParaRPr lang="en-US" sz="2600" dirty="0"/>
          </a:p>
        </p:txBody>
      </p:sp>
      <p:sp>
        <p:nvSpPr>
          <p:cNvPr id="6" name="Text 4"/>
          <p:cNvSpPr/>
          <p:nvPr/>
        </p:nvSpPr>
        <p:spPr>
          <a:xfrm>
            <a:off x="1188720" y="2029968"/>
            <a:ext cx="8229600" cy="384048"/>
          </a:xfrm>
          <a:prstGeom prst="rect">
            <a:avLst/>
          </a:prstGeom>
          <a:noFill/>
          <a:ln/>
        </p:spPr>
        <p:txBody>
          <a:bodyPr wrap="square" rtlCol="0" anchor="ctr"/>
          <a:lstStyle/>
          <a:p>
            <a:pPr indent="0" marL="0">
              <a:buNone/>
            </a:pPr>
            <a:r>
              <a:rPr lang="en-US" sz="1400" b="1" spc="300" kern="0" dirty="0">
                <a:solidFill>
                  <a:srgbClr val="C9A227"/>
                </a:solidFill>
                <a:latin typeface="Calibri" pitchFamily="34" charset="0"/>
                <a:ea typeface="Calibri" pitchFamily="34" charset="-122"/>
                <a:cs typeface="Calibri" pitchFamily="34" charset="-120"/>
              </a:rPr>
              <a:t>SIMPLE WALKTHROUGH FOR MANAGEMENT</a:t>
            </a:r>
            <a:endParaRPr lang="en-US" sz="1400" dirty="0"/>
          </a:p>
        </p:txBody>
      </p:sp>
      <p:sp>
        <p:nvSpPr>
          <p:cNvPr id="7" name="Text 5"/>
          <p:cNvSpPr/>
          <p:nvPr/>
        </p:nvSpPr>
        <p:spPr>
          <a:xfrm>
            <a:off x="502920" y="2606040"/>
            <a:ext cx="10088575" cy="1737360"/>
          </a:xfrm>
          <a:prstGeom prst="rect">
            <a:avLst/>
          </a:prstGeom>
          <a:noFill/>
          <a:ln/>
        </p:spPr>
        <p:txBody>
          <a:bodyPr wrap="square" rtlCol="0" anchor="t"/>
          <a:lstStyle/>
          <a:p>
            <a:pPr algn="l" indent="0" marL="0">
              <a:lnSpc>
                <a:spcPts val="4400"/>
              </a:lnSpc>
              <a:buNone/>
            </a:pPr>
            <a:r>
              <a:rPr lang="en-US" sz="4000" b="1" dirty="0">
                <a:solidFill>
                  <a:srgbClr val="FFFFFF"/>
                </a:solidFill>
                <a:latin typeface="Cambria" pitchFamily="34" charset="0"/>
                <a:ea typeface="Cambria" pitchFamily="34" charset="-122"/>
                <a:cs typeface="Cambria" pitchFamily="34" charset="-120"/>
              </a:rPr>
              <a:t>Our Journey, Step by Step</a:t>
            </a:r>
            <a:endParaRPr lang="en-US" sz="4000" dirty="0"/>
          </a:p>
        </p:txBody>
      </p:sp>
      <p:sp>
        <p:nvSpPr>
          <p:cNvPr id="8" name="Text 6"/>
          <p:cNvSpPr/>
          <p:nvPr/>
        </p:nvSpPr>
        <p:spPr>
          <a:xfrm>
            <a:off x="502920" y="4160520"/>
            <a:ext cx="9814255" cy="914400"/>
          </a:xfrm>
          <a:prstGeom prst="rect">
            <a:avLst/>
          </a:prstGeom>
          <a:noFill/>
          <a:ln/>
        </p:spPr>
        <p:txBody>
          <a:bodyPr wrap="square" rtlCol="0" anchor="ctr"/>
          <a:lstStyle/>
          <a:p>
            <a:pPr algn="l" indent="0" marL="0">
              <a:lnSpc>
                <a:spcPts val="2200"/>
              </a:lnSpc>
              <a:buNone/>
            </a:pPr>
            <a:r>
              <a:rPr lang="en-US" sz="1600" dirty="0">
                <a:solidFill>
                  <a:srgbClr val="D7E1F2"/>
                </a:solidFill>
                <a:latin typeface="Calibri" pitchFamily="34" charset="0"/>
                <a:ea typeface="Calibri" pitchFamily="34" charset="-122"/>
                <a:cs typeface="Calibri" pitchFamily="34" charset="-120"/>
              </a:rPr>
              <a:t>Nine simple steps from 'no system at all' to 'a tool the whole team relies on every day' — what's done, what's next, and exactly what's holding each step up.</a:t>
            </a:r>
            <a:endParaRPr lang="en-US" sz="1600" dirty="0"/>
          </a:p>
        </p:txBody>
      </p:sp>
      <p:sp>
        <p:nvSpPr>
          <p:cNvPr id="9" name="Shape 7"/>
          <p:cNvSpPr/>
          <p:nvPr/>
        </p:nvSpPr>
        <p:spPr>
          <a:xfrm>
            <a:off x="502920" y="5806440"/>
            <a:ext cx="11185855" cy="0"/>
          </a:xfrm>
          <a:prstGeom prst="line">
            <a:avLst/>
          </a:prstGeom>
          <a:noFill/>
          <a:ln w="12700">
            <a:solidFill>
              <a:srgbClr val="2A3A63"/>
            </a:solidFill>
            <a:prstDash val="solid"/>
          </a:ln>
        </p:spPr>
      </p:sp>
      <p:sp>
        <p:nvSpPr>
          <p:cNvPr id="10" name="Text 8"/>
          <p:cNvSpPr/>
          <p:nvPr/>
        </p:nvSpPr>
        <p:spPr>
          <a:xfrm>
            <a:off x="502920" y="5943600"/>
            <a:ext cx="11185855" cy="457200"/>
          </a:xfrm>
          <a:prstGeom prst="rect">
            <a:avLst/>
          </a:prstGeom>
          <a:noFill/>
          <a:ln/>
        </p:spPr>
        <p:txBody>
          <a:bodyPr wrap="square" rtlCol="0" anchor="ctr"/>
          <a:lstStyle/>
          <a:p>
            <a:pPr indent="0" marL="0">
              <a:buNone/>
            </a:pPr>
            <a:r>
              <a:rPr lang="en-US" sz="1100" dirty="0">
                <a:solidFill>
                  <a:srgbClr val="8FA3C7"/>
                </a:solidFill>
                <a:latin typeface="Calibri" pitchFamily="34" charset="0"/>
                <a:ea typeface="Calibri" pitchFamily="34" charset="-122"/>
                <a:cs typeface="Calibri" pitchFamily="34" charset="-120"/>
              </a:rPr>
              <a:t>DRIP Platform · Prepared for: Manager review · Maximum 10 slides, plain language throughout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177849" cy="118872"/>
          </a:xfrm>
          <a:prstGeom prst="rect">
            <a:avLst/>
          </a:prstGeom>
          <a:solidFill>
            <a:srgbClr val="1F9D55"/>
          </a:solidFill>
          <a:ln/>
        </p:spPr>
      </p:sp>
      <p:sp>
        <p:nvSpPr>
          <p:cNvPr id="3" name="Shape 1"/>
          <p:cNvSpPr/>
          <p:nvPr/>
        </p:nvSpPr>
        <p:spPr>
          <a:xfrm>
            <a:off x="484632" y="338328"/>
            <a:ext cx="1214425" cy="210312"/>
          </a:xfrm>
          <a:prstGeom prst="rect">
            <a:avLst/>
          </a:prstGeom>
          <a:ln w="22225">
            <a:solidFill>
              <a:srgbClr val="0B1220"/>
            </a:solidFill>
            <a:prstDash val="solid"/>
          </a:ln>
        </p:spPr>
      </p:sp>
      <p:sp>
        <p:nvSpPr>
          <p:cNvPr id="4" name="Text 2"/>
          <p:cNvSpPr/>
          <p:nvPr/>
        </p:nvSpPr>
        <p:spPr>
          <a:xfrm>
            <a:off x="502920" y="530352"/>
            <a:ext cx="1177849" cy="201168"/>
          </a:xfrm>
          <a:prstGeom prst="rect">
            <a:avLst/>
          </a:prstGeom>
          <a:noFill/>
          <a:ln/>
        </p:spPr>
        <p:txBody>
          <a:bodyPr wrap="square" rtlCol="0" anchor="ctr"/>
          <a:lstStyle/>
          <a:p>
            <a:pPr algn="ctr" indent="0" marL="0">
              <a:buNone/>
            </a:pPr>
            <a:r>
              <a:rPr lang="en-US" sz="800" b="1" dirty="0">
                <a:solidFill>
                  <a:srgbClr val="1A2035"/>
                </a:solidFill>
                <a:latin typeface="Calibri" pitchFamily="34" charset="0"/>
                <a:ea typeface="Calibri" pitchFamily="34" charset="-122"/>
                <a:cs typeface="Calibri" pitchFamily="34" charset="-120"/>
              </a:rPr>
              <a:t>1</a:t>
            </a:r>
            <a:endParaRPr lang="en-US" sz="800" dirty="0"/>
          </a:p>
        </p:txBody>
      </p:sp>
      <p:sp>
        <p:nvSpPr>
          <p:cNvPr id="5" name="Shape 3"/>
          <p:cNvSpPr/>
          <p:nvPr/>
        </p:nvSpPr>
        <p:spPr>
          <a:xfrm>
            <a:off x="1753921" y="384048"/>
            <a:ext cx="1177849" cy="118872"/>
          </a:xfrm>
          <a:prstGeom prst="rect">
            <a:avLst/>
          </a:prstGeom>
          <a:solidFill>
            <a:srgbClr val="1F9D55"/>
          </a:solidFill>
          <a:ln/>
        </p:spPr>
      </p:sp>
      <p:sp>
        <p:nvSpPr>
          <p:cNvPr id="6" name="Text 4"/>
          <p:cNvSpPr/>
          <p:nvPr/>
        </p:nvSpPr>
        <p:spPr>
          <a:xfrm>
            <a:off x="1753921"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2</a:t>
            </a:r>
            <a:endParaRPr lang="en-US" sz="800" dirty="0"/>
          </a:p>
        </p:txBody>
      </p:sp>
      <p:sp>
        <p:nvSpPr>
          <p:cNvPr id="7" name="Shape 5"/>
          <p:cNvSpPr/>
          <p:nvPr/>
        </p:nvSpPr>
        <p:spPr>
          <a:xfrm>
            <a:off x="3004922" y="384048"/>
            <a:ext cx="1177849" cy="118872"/>
          </a:xfrm>
          <a:prstGeom prst="rect">
            <a:avLst/>
          </a:prstGeom>
          <a:solidFill>
            <a:srgbClr val="1F9D55"/>
          </a:solidFill>
          <a:ln/>
        </p:spPr>
      </p:sp>
      <p:sp>
        <p:nvSpPr>
          <p:cNvPr id="8" name="Text 6"/>
          <p:cNvSpPr/>
          <p:nvPr/>
        </p:nvSpPr>
        <p:spPr>
          <a:xfrm>
            <a:off x="3004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3</a:t>
            </a:r>
            <a:endParaRPr lang="en-US" sz="800" dirty="0"/>
          </a:p>
        </p:txBody>
      </p:sp>
      <p:sp>
        <p:nvSpPr>
          <p:cNvPr id="9" name="Shape 7"/>
          <p:cNvSpPr/>
          <p:nvPr/>
        </p:nvSpPr>
        <p:spPr>
          <a:xfrm>
            <a:off x="4255922" y="384048"/>
            <a:ext cx="1177849" cy="118872"/>
          </a:xfrm>
          <a:prstGeom prst="rect">
            <a:avLst/>
          </a:prstGeom>
          <a:solidFill>
            <a:srgbClr val="C2760C"/>
          </a:solidFill>
          <a:ln/>
        </p:spPr>
      </p:sp>
      <p:sp>
        <p:nvSpPr>
          <p:cNvPr id="10" name="Text 8"/>
          <p:cNvSpPr/>
          <p:nvPr/>
        </p:nvSpPr>
        <p:spPr>
          <a:xfrm>
            <a:off x="4255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4</a:t>
            </a:r>
            <a:endParaRPr lang="en-US" sz="800" dirty="0"/>
          </a:p>
        </p:txBody>
      </p:sp>
      <p:sp>
        <p:nvSpPr>
          <p:cNvPr id="11" name="Shape 9"/>
          <p:cNvSpPr/>
          <p:nvPr/>
        </p:nvSpPr>
        <p:spPr>
          <a:xfrm>
            <a:off x="5506923" y="384048"/>
            <a:ext cx="1177849" cy="118872"/>
          </a:xfrm>
          <a:prstGeom prst="rect">
            <a:avLst/>
          </a:prstGeom>
          <a:solidFill>
            <a:srgbClr val="C2760C"/>
          </a:solidFill>
          <a:ln/>
        </p:spPr>
      </p:sp>
      <p:sp>
        <p:nvSpPr>
          <p:cNvPr id="12" name="Text 10"/>
          <p:cNvSpPr/>
          <p:nvPr/>
        </p:nvSpPr>
        <p:spPr>
          <a:xfrm>
            <a:off x="5506923"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5</a:t>
            </a:r>
            <a:endParaRPr lang="en-US" sz="800" dirty="0"/>
          </a:p>
        </p:txBody>
      </p:sp>
      <p:sp>
        <p:nvSpPr>
          <p:cNvPr id="13" name="Shape 11"/>
          <p:cNvSpPr/>
          <p:nvPr/>
        </p:nvSpPr>
        <p:spPr>
          <a:xfrm>
            <a:off x="6757924" y="384048"/>
            <a:ext cx="1177849" cy="118872"/>
          </a:xfrm>
          <a:prstGeom prst="rect">
            <a:avLst/>
          </a:prstGeom>
          <a:solidFill>
            <a:srgbClr val="8A90A2"/>
          </a:solidFill>
          <a:ln/>
        </p:spPr>
      </p:sp>
      <p:sp>
        <p:nvSpPr>
          <p:cNvPr id="14" name="Text 12"/>
          <p:cNvSpPr/>
          <p:nvPr/>
        </p:nvSpPr>
        <p:spPr>
          <a:xfrm>
            <a:off x="6757924"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6</a:t>
            </a:r>
            <a:endParaRPr lang="en-US" sz="800" dirty="0"/>
          </a:p>
        </p:txBody>
      </p:sp>
      <p:sp>
        <p:nvSpPr>
          <p:cNvPr id="15" name="Shape 13"/>
          <p:cNvSpPr/>
          <p:nvPr/>
        </p:nvSpPr>
        <p:spPr>
          <a:xfrm>
            <a:off x="8008925" y="384048"/>
            <a:ext cx="1177849" cy="118872"/>
          </a:xfrm>
          <a:prstGeom prst="rect">
            <a:avLst/>
          </a:prstGeom>
          <a:solidFill>
            <a:srgbClr val="8A90A2"/>
          </a:solidFill>
          <a:ln/>
        </p:spPr>
      </p:sp>
      <p:sp>
        <p:nvSpPr>
          <p:cNvPr id="16" name="Text 14"/>
          <p:cNvSpPr/>
          <p:nvPr/>
        </p:nvSpPr>
        <p:spPr>
          <a:xfrm>
            <a:off x="8008925"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7</a:t>
            </a:r>
            <a:endParaRPr lang="en-US" sz="800" dirty="0"/>
          </a:p>
        </p:txBody>
      </p:sp>
      <p:sp>
        <p:nvSpPr>
          <p:cNvPr id="17" name="Shape 15"/>
          <p:cNvSpPr/>
          <p:nvPr/>
        </p:nvSpPr>
        <p:spPr>
          <a:xfrm>
            <a:off x="9259926" y="384048"/>
            <a:ext cx="1177849" cy="118872"/>
          </a:xfrm>
          <a:prstGeom prst="rect">
            <a:avLst/>
          </a:prstGeom>
          <a:solidFill>
            <a:srgbClr val="8A90A2"/>
          </a:solidFill>
          <a:ln/>
        </p:spPr>
      </p:sp>
      <p:sp>
        <p:nvSpPr>
          <p:cNvPr id="18" name="Text 16"/>
          <p:cNvSpPr/>
          <p:nvPr/>
        </p:nvSpPr>
        <p:spPr>
          <a:xfrm>
            <a:off x="9259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8</a:t>
            </a:r>
            <a:endParaRPr lang="en-US" sz="800" dirty="0"/>
          </a:p>
        </p:txBody>
      </p:sp>
      <p:sp>
        <p:nvSpPr>
          <p:cNvPr id="19" name="Shape 17"/>
          <p:cNvSpPr/>
          <p:nvPr/>
        </p:nvSpPr>
        <p:spPr>
          <a:xfrm>
            <a:off x="10510926" y="384048"/>
            <a:ext cx="1177849" cy="118872"/>
          </a:xfrm>
          <a:prstGeom prst="rect">
            <a:avLst/>
          </a:prstGeom>
          <a:solidFill>
            <a:srgbClr val="8A90A2"/>
          </a:solidFill>
          <a:ln/>
        </p:spPr>
      </p:sp>
      <p:sp>
        <p:nvSpPr>
          <p:cNvPr id="20" name="Text 18"/>
          <p:cNvSpPr/>
          <p:nvPr/>
        </p:nvSpPr>
        <p:spPr>
          <a:xfrm>
            <a:off x="10510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9</a:t>
            </a:r>
            <a:endParaRPr lang="en-US" sz="800" dirty="0"/>
          </a:p>
        </p:txBody>
      </p:sp>
      <p:sp>
        <p:nvSpPr>
          <p:cNvPr id="21" name="Text 19"/>
          <p:cNvSpPr/>
          <p:nvPr/>
        </p:nvSpPr>
        <p:spPr>
          <a:xfrm>
            <a:off x="502920" y="749808"/>
            <a:ext cx="5486400" cy="274320"/>
          </a:xfrm>
          <a:prstGeom prst="rect">
            <a:avLst/>
          </a:prstGeom>
          <a:noFill/>
          <a:ln/>
        </p:spPr>
        <p:txBody>
          <a:bodyPr wrap="square"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STEP 1 OF 9</a:t>
            </a:r>
            <a:endParaRPr lang="en-US" sz="1100" dirty="0"/>
          </a:p>
        </p:txBody>
      </p:sp>
      <p:sp>
        <p:nvSpPr>
          <p:cNvPr id="22" name="Text 20"/>
          <p:cNvSpPr/>
          <p:nvPr/>
        </p:nvSpPr>
        <p:spPr>
          <a:xfrm>
            <a:off x="502920" y="1005840"/>
            <a:ext cx="8076895" cy="685800"/>
          </a:xfrm>
          <a:prstGeom prst="rect">
            <a:avLst/>
          </a:prstGeom>
          <a:noFill/>
          <a:ln/>
        </p:spPr>
        <p:txBody>
          <a:bodyPr wrap="square" rtlCol="0" anchor="ctr"/>
          <a:lstStyle/>
          <a:p>
            <a:pPr indent="0" marL="0">
              <a:buNone/>
            </a:pPr>
            <a:r>
              <a:rPr lang="en-US" sz="2500" b="1" dirty="0">
                <a:solidFill>
                  <a:srgbClr val="1A2035"/>
                </a:solidFill>
                <a:latin typeface="Cambria" pitchFamily="34" charset="0"/>
                <a:ea typeface="Cambria" pitchFamily="34" charset="-122"/>
                <a:cs typeface="Cambria" pitchFamily="34" charset="-120"/>
              </a:rPr>
              <a:t>Build one system for everything</a:t>
            </a:r>
            <a:endParaRPr lang="en-US" sz="2500" dirty="0"/>
          </a:p>
        </p:txBody>
      </p:sp>
      <p:sp>
        <p:nvSpPr>
          <p:cNvPr id="23" name="Shape 21"/>
          <p:cNvSpPr/>
          <p:nvPr/>
        </p:nvSpPr>
        <p:spPr>
          <a:xfrm>
            <a:off x="8945575" y="1078992"/>
            <a:ext cx="2743200" cy="457200"/>
          </a:xfrm>
          <a:prstGeom prst="rect">
            <a:avLst/>
          </a:prstGeom>
          <a:solidFill>
            <a:srgbClr val="E7F6ED"/>
          </a:solidFill>
          <a:ln/>
        </p:spPr>
      </p:sp>
      <p:sp>
        <p:nvSpPr>
          <p:cNvPr id="24" name="Text 22"/>
          <p:cNvSpPr/>
          <p:nvPr/>
        </p:nvSpPr>
        <p:spPr>
          <a:xfrm>
            <a:off x="8945575" y="1078992"/>
            <a:ext cx="2743200" cy="457200"/>
          </a:xfrm>
          <a:prstGeom prst="rect">
            <a:avLst/>
          </a:prstGeom>
          <a:noFill/>
          <a:ln/>
        </p:spPr>
        <p:txBody>
          <a:bodyPr wrap="square" rtlCol="0" anchor="ctr"/>
          <a:lstStyle/>
          <a:p>
            <a:pPr algn="ctr" indent="0" marL="0">
              <a:buNone/>
            </a:pPr>
            <a:r>
              <a:rPr lang="en-US" sz="1200" b="1" dirty="0">
                <a:solidFill>
                  <a:srgbClr val="1F9D55"/>
                </a:solidFill>
                <a:latin typeface="Calibri" pitchFamily="34" charset="0"/>
                <a:ea typeface="Calibri" pitchFamily="34" charset="-122"/>
                <a:cs typeface="Calibri" pitchFamily="34" charset="-120"/>
              </a:rPr>
              <a:t>DONE</a:t>
            </a:r>
            <a:endParaRPr lang="en-US" sz="1200" dirty="0"/>
          </a:p>
        </p:txBody>
      </p:sp>
      <p:sp>
        <p:nvSpPr>
          <p:cNvPr id="25" name="Text 23"/>
          <p:cNvSpPr/>
          <p:nvPr/>
        </p:nvSpPr>
        <p:spPr>
          <a:xfrm>
            <a:off x="502920" y="1874520"/>
            <a:ext cx="11185855" cy="256032"/>
          </a:xfrm>
          <a:prstGeom prst="rect">
            <a:avLst/>
          </a:prstGeom>
          <a:noFill/>
          <a:ln/>
        </p:spPr>
        <p:txBody>
          <a:bodyPr wrap="square" rtlCol="0" anchor="ctr"/>
          <a:lstStyle/>
          <a:p>
            <a:pPr indent="0" marL="0">
              <a:buNone/>
            </a:pPr>
            <a:r>
              <a:rPr lang="en-US" sz="1050" b="1" spc="100" kern="0" dirty="0">
                <a:solidFill>
                  <a:srgbClr val="7A8399"/>
                </a:solidFill>
                <a:latin typeface="Calibri" pitchFamily="34" charset="0"/>
                <a:ea typeface="Calibri" pitchFamily="34" charset="-122"/>
                <a:cs typeface="Calibri" pitchFamily="34" charset="-120"/>
              </a:rPr>
              <a:t>WHAT THIS STEP MEANS</a:t>
            </a:r>
            <a:endParaRPr lang="en-US" sz="1050" dirty="0"/>
          </a:p>
        </p:txBody>
      </p:sp>
      <p:sp>
        <p:nvSpPr>
          <p:cNvPr id="26" name="Text 24"/>
          <p:cNvSpPr/>
          <p:nvPr/>
        </p:nvSpPr>
        <p:spPr>
          <a:xfrm>
            <a:off x="502920" y="2167128"/>
            <a:ext cx="11185855" cy="685800"/>
          </a:xfrm>
          <a:prstGeom prst="rect">
            <a:avLst/>
          </a:prstGeom>
          <a:noFill/>
          <a:ln/>
        </p:spPr>
        <p:txBody>
          <a:bodyPr wrap="square" rtlCol="0" anchor="t"/>
          <a:lstStyle/>
          <a:p>
            <a:pPr indent="0" marL="0">
              <a:lnSpc>
                <a:spcPct val="120000"/>
              </a:lnSpc>
              <a:buNone/>
            </a:pPr>
            <a:r>
              <a:rPr lang="en-US" sz="1300" dirty="0">
                <a:solidFill>
                  <a:srgbClr val="1A2035"/>
                </a:solidFill>
                <a:latin typeface="Calibri" pitchFamily="34" charset="0"/>
                <a:ea typeface="Calibri" pitchFamily="34" charset="-122"/>
                <a:cs typeface="Calibri" pitchFamily="34" charset="-120"/>
              </a:rPr>
              <a:t>Before this project, information about banks and contacts lived in scattered spreadsheets, emails, and people's memory. Step 1 was building one single system where all of that lives together.</a:t>
            </a:r>
            <a:endParaRPr lang="en-US" sz="1300" dirty="0"/>
          </a:p>
        </p:txBody>
      </p:sp>
      <p:sp>
        <p:nvSpPr>
          <p:cNvPr id="27" name="Shape 25"/>
          <p:cNvSpPr/>
          <p:nvPr/>
        </p:nvSpPr>
        <p:spPr>
          <a:xfrm>
            <a:off x="502920" y="2944368"/>
            <a:ext cx="11185855" cy="3410712"/>
          </a:xfrm>
          <a:prstGeom prst="rect">
            <a:avLst/>
          </a:prstGeom>
          <a:solidFill>
            <a:srgbClr val="E7F6ED"/>
          </a:solidFill>
          <a:ln/>
        </p:spPr>
      </p:sp>
      <p:sp>
        <p:nvSpPr>
          <p:cNvPr id="28" name="Text 26"/>
          <p:cNvSpPr/>
          <p:nvPr/>
        </p:nvSpPr>
        <p:spPr>
          <a:xfrm>
            <a:off x="731520" y="3081528"/>
            <a:ext cx="10728655" cy="256032"/>
          </a:xfrm>
          <a:prstGeom prst="rect">
            <a:avLst/>
          </a:prstGeom>
          <a:noFill/>
          <a:ln/>
        </p:spPr>
        <p:txBody>
          <a:bodyPr wrap="square" rtlCol="0" anchor="ctr"/>
          <a:lstStyle/>
          <a:p>
            <a:pPr indent="0" marL="0">
              <a:buNone/>
            </a:pPr>
            <a:r>
              <a:rPr lang="en-US" sz="1050" b="1" spc="100" kern="0" dirty="0">
                <a:solidFill>
                  <a:srgbClr val="1F9D55"/>
                </a:solidFill>
                <a:latin typeface="Calibri" pitchFamily="34" charset="0"/>
                <a:ea typeface="Calibri" pitchFamily="34" charset="-122"/>
                <a:cs typeface="Calibri" pitchFamily="34" charset="-120"/>
              </a:rPr>
              <a:t>WHY IT'S SAFE TO CALL THIS DONE</a:t>
            </a:r>
            <a:endParaRPr lang="en-US" sz="1050" dirty="0"/>
          </a:p>
        </p:txBody>
      </p:sp>
      <p:sp>
        <p:nvSpPr>
          <p:cNvPr id="29" name="Text 27"/>
          <p:cNvSpPr/>
          <p:nvPr/>
        </p:nvSpPr>
        <p:spPr>
          <a:xfrm>
            <a:off x="731520" y="3419856"/>
            <a:ext cx="10728655" cy="2770632"/>
          </a:xfrm>
          <a:prstGeom prst="rect">
            <a:avLst/>
          </a:prstGeom>
          <a:noFill/>
          <a:ln/>
        </p:spPr>
        <p:txBody>
          <a:bodyPr wrap="square" rtlCol="0" anchor="t"/>
          <a:lstStyle/>
          <a:p>
            <a:pPr indent="0" marL="0">
              <a:lnSpc>
                <a:spcPct val="125000"/>
              </a:lnSpc>
              <a:buNone/>
            </a:pPr>
            <a:r>
              <a:rPr lang="en-US" sz="1200" dirty="0">
                <a:solidFill>
                  <a:srgbClr val="1A2035"/>
                </a:solidFill>
                <a:latin typeface="Calibri" pitchFamily="34" charset="0"/>
                <a:ea typeface="Calibri" pitchFamily="34" charset="-122"/>
                <a:cs typeface="Calibri" pitchFamily="34" charset="-120"/>
              </a:rPr>
              <a:t>This week, we directly checked the running system while signed in: the database, the login, and the main screens all work and hold real information — not a plan, not a mock-up.</a:t>
            </a:r>
            <a:endParaRPr lang="en-US" sz="1200" dirty="0"/>
          </a:p>
        </p:txBody>
      </p:sp>
      <p:sp>
        <p:nvSpPr>
          <p:cNvPr id="30" name="Text 2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Our Journey, Step by Step</a:t>
            </a:r>
            <a:endParaRPr lang="en-US" sz="850" dirty="0"/>
          </a:p>
        </p:txBody>
      </p:sp>
      <p:sp>
        <p:nvSpPr>
          <p:cNvPr id="31" name="Text 2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177849" cy="118872"/>
          </a:xfrm>
          <a:prstGeom prst="rect">
            <a:avLst/>
          </a:prstGeom>
          <a:solidFill>
            <a:srgbClr val="1F9D55"/>
          </a:solidFill>
          <a:ln/>
        </p:spPr>
      </p:sp>
      <p:sp>
        <p:nvSpPr>
          <p:cNvPr id="3" name="Text 1"/>
          <p:cNvSpPr/>
          <p:nvPr/>
        </p:nvSpPr>
        <p:spPr>
          <a:xfrm>
            <a:off x="502920"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1</a:t>
            </a:r>
            <a:endParaRPr lang="en-US" sz="800" dirty="0"/>
          </a:p>
        </p:txBody>
      </p:sp>
      <p:sp>
        <p:nvSpPr>
          <p:cNvPr id="4" name="Shape 2"/>
          <p:cNvSpPr/>
          <p:nvPr/>
        </p:nvSpPr>
        <p:spPr>
          <a:xfrm>
            <a:off x="1753921" y="384048"/>
            <a:ext cx="1177849" cy="118872"/>
          </a:xfrm>
          <a:prstGeom prst="rect">
            <a:avLst/>
          </a:prstGeom>
          <a:solidFill>
            <a:srgbClr val="1F9D55"/>
          </a:solidFill>
          <a:ln/>
        </p:spPr>
      </p:sp>
      <p:sp>
        <p:nvSpPr>
          <p:cNvPr id="5" name="Shape 3"/>
          <p:cNvSpPr/>
          <p:nvPr/>
        </p:nvSpPr>
        <p:spPr>
          <a:xfrm>
            <a:off x="1735633" y="338328"/>
            <a:ext cx="1214425" cy="210312"/>
          </a:xfrm>
          <a:prstGeom prst="rect">
            <a:avLst/>
          </a:prstGeom>
          <a:ln w="22225">
            <a:solidFill>
              <a:srgbClr val="0B1220"/>
            </a:solidFill>
            <a:prstDash val="solid"/>
          </a:ln>
        </p:spPr>
      </p:sp>
      <p:sp>
        <p:nvSpPr>
          <p:cNvPr id="6" name="Text 4"/>
          <p:cNvSpPr/>
          <p:nvPr/>
        </p:nvSpPr>
        <p:spPr>
          <a:xfrm>
            <a:off x="1753921" y="530352"/>
            <a:ext cx="1177849" cy="201168"/>
          </a:xfrm>
          <a:prstGeom prst="rect">
            <a:avLst/>
          </a:prstGeom>
          <a:noFill/>
          <a:ln/>
        </p:spPr>
        <p:txBody>
          <a:bodyPr wrap="square" rtlCol="0" anchor="ctr"/>
          <a:lstStyle/>
          <a:p>
            <a:pPr algn="ctr" indent="0" marL="0">
              <a:buNone/>
            </a:pPr>
            <a:r>
              <a:rPr lang="en-US" sz="800" b="1" dirty="0">
                <a:solidFill>
                  <a:srgbClr val="1A2035"/>
                </a:solidFill>
                <a:latin typeface="Calibri" pitchFamily="34" charset="0"/>
                <a:ea typeface="Calibri" pitchFamily="34" charset="-122"/>
                <a:cs typeface="Calibri" pitchFamily="34" charset="-120"/>
              </a:rPr>
              <a:t>2</a:t>
            </a:r>
            <a:endParaRPr lang="en-US" sz="800" dirty="0"/>
          </a:p>
        </p:txBody>
      </p:sp>
      <p:sp>
        <p:nvSpPr>
          <p:cNvPr id="7" name="Shape 5"/>
          <p:cNvSpPr/>
          <p:nvPr/>
        </p:nvSpPr>
        <p:spPr>
          <a:xfrm>
            <a:off x="3004922" y="384048"/>
            <a:ext cx="1177849" cy="118872"/>
          </a:xfrm>
          <a:prstGeom prst="rect">
            <a:avLst/>
          </a:prstGeom>
          <a:solidFill>
            <a:srgbClr val="1F9D55"/>
          </a:solidFill>
          <a:ln/>
        </p:spPr>
      </p:sp>
      <p:sp>
        <p:nvSpPr>
          <p:cNvPr id="8" name="Text 6"/>
          <p:cNvSpPr/>
          <p:nvPr/>
        </p:nvSpPr>
        <p:spPr>
          <a:xfrm>
            <a:off x="3004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3</a:t>
            </a:r>
            <a:endParaRPr lang="en-US" sz="800" dirty="0"/>
          </a:p>
        </p:txBody>
      </p:sp>
      <p:sp>
        <p:nvSpPr>
          <p:cNvPr id="9" name="Shape 7"/>
          <p:cNvSpPr/>
          <p:nvPr/>
        </p:nvSpPr>
        <p:spPr>
          <a:xfrm>
            <a:off x="4255922" y="384048"/>
            <a:ext cx="1177849" cy="118872"/>
          </a:xfrm>
          <a:prstGeom prst="rect">
            <a:avLst/>
          </a:prstGeom>
          <a:solidFill>
            <a:srgbClr val="C2760C"/>
          </a:solidFill>
          <a:ln/>
        </p:spPr>
      </p:sp>
      <p:sp>
        <p:nvSpPr>
          <p:cNvPr id="10" name="Text 8"/>
          <p:cNvSpPr/>
          <p:nvPr/>
        </p:nvSpPr>
        <p:spPr>
          <a:xfrm>
            <a:off x="4255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4</a:t>
            </a:r>
            <a:endParaRPr lang="en-US" sz="800" dirty="0"/>
          </a:p>
        </p:txBody>
      </p:sp>
      <p:sp>
        <p:nvSpPr>
          <p:cNvPr id="11" name="Shape 9"/>
          <p:cNvSpPr/>
          <p:nvPr/>
        </p:nvSpPr>
        <p:spPr>
          <a:xfrm>
            <a:off x="5506923" y="384048"/>
            <a:ext cx="1177849" cy="118872"/>
          </a:xfrm>
          <a:prstGeom prst="rect">
            <a:avLst/>
          </a:prstGeom>
          <a:solidFill>
            <a:srgbClr val="C2760C"/>
          </a:solidFill>
          <a:ln/>
        </p:spPr>
      </p:sp>
      <p:sp>
        <p:nvSpPr>
          <p:cNvPr id="12" name="Text 10"/>
          <p:cNvSpPr/>
          <p:nvPr/>
        </p:nvSpPr>
        <p:spPr>
          <a:xfrm>
            <a:off x="5506923"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5</a:t>
            </a:r>
            <a:endParaRPr lang="en-US" sz="800" dirty="0"/>
          </a:p>
        </p:txBody>
      </p:sp>
      <p:sp>
        <p:nvSpPr>
          <p:cNvPr id="13" name="Shape 11"/>
          <p:cNvSpPr/>
          <p:nvPr/>
        </p:nvSpPr>
        <p:spPr>
          <a:xfrm>
            <a:off x="6757924" y="384048"/>
            <a:ext cx="1177849" cy="118872"/>
          </a:xfrm>
          <a:prstGeom prst="rect">
            <a:avLst/>
          </a:prstGeom>
          <a:solidFill>
            <a:srgbClr val="8A90A2"/>
          </a:solidFill>
          <a:ln/>
        </p:spPr>
      </p:sp>
      <p:sp>
        <p:nvSpPr>
          <p:cNvPr id="14" name="Text 12"/>
          <p:cNvSpPr/>
          <p:nvPr/>
        </p:nvSpPr>
        <p:spPr>
          <a:xfrm>
            <a:off x="6757924"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6</a:t>
            </a:r>
            <a:endParaRPr lang="en-US" sz="800" dirty="0"/>
          </a:p>
        </p:txBody>
      </p:sp>
      <p:sp>
        <p:nvSpPr>
          <p:cNvPr id="15" name="Shape 13"/>
          <p:cNvSpPr/>
          <p:nvPr/>
        </p:nvSpPr>
        <p:spPr>
          <a:xfrm>
            <a:off x="8008925" y="384048"/>
            <a:ext cx="1177849" cy="118872"/>
          </a:xfrm>
          <a:prstGeom prst="rect">
            <a:avLst/>
          </a:prstGeom>
          <a:solidFill>
            <a:srgbClr val="8A90A2"/>
          </a:solidFill>
          <a:ln/>
        </p:spPr>
      </p:sp>
      <p:sp>
        <p:nvSpPr>
          <p:cNvPr id="16" name="Text 14"/>
          <p:cNvSpPr/>
          <p:nvPr/>
        </p:nvSpPr>
        <p:spPr>
          <a:xfrm>
            <a:off x="8008925"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7</a:t>
            </a:r>
            <a:endParaRPr lang="en-US" sz="800" dirty="0"/>
          </a:p>
        </p:txBody>
      </p:sp>
      <p:sp>
        <p:nvSpPr>
          <p:cNvPr id="17" name="Shape 15"/>
          <p:cNvSpPr/>
          <p:nvPr/>
        </p:nvSpPr>
        <p:spPr>
          <a:xfrm>
            <a:off x="9259926" y="384048"/>
            <a:ext cx="1177849" cy="118872"/>
          </a:xfrm>
          <a:prstGeom prst="rect">
            <a:avLst/>
          </a:prstGeom>
          <a:solidFill>
            <a:srgbClr val="8A90A2"/>
          </a:solidFill>
          <a:ln/>
        </p:spPr>
      </p:sp>
      <p:sp>
        <p:nvSpPr>
          <p:cNvPr id="18" name="Text 16"/>
          <p:cNvSpPr/>
          <p:nvPr/>
        </p:nvSpPr>
        <p:spPr>
          <a:xfrm>
            <a:off x="9259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8</a:t>
            </a:r>
            <a:endParaRPr lang="en-US" sz="800" dirty="0"/>
          </a:p>
        </p:txBody>
      </p:sp>
      <p:sp>
        <p:nvSpPr>
          <p:cNvPr id="19" name="Shape 17"/>
          <p:cNvSpPr/>
          <p:nvPr/>
        </p:nvSpPr>
        <p:spPr>
          <a:xfrm>
            <a:off x="10510926" y="384048"/>
            <a:ext cx="1177849" cy="118872"/>
          </a:xfrm>
          <a:prstGeom prst="rect">
            <a:avLst/>
          </a:prstGeom>
          <a:solidFill>
            <a:srgbClr val="8A90A2"/>
          </a:solidFill>
          <a:ln/>
        </p:spPr>
      </p:sp>
      <p:sp>
        <p:nvSpPr>
          <p:cNvPr id="20" name="Text 18"/>
          <p:cNvSpPr/>
          <p:nvPr/>
        </p:nvSpPr>
        <p:spPr>
          <a:xfrm>
            <a:off x="10510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9</a:t>
            </a:r>
            <a:endParaRPr lang="en-US" sz="800" dirty="0"/>
          </a:p>
        </p:txBody>
      </p:sp>
      <p:sp>
        <p:nvSpPr>
          <p:cNvPr id="21" name="Text 19"/>
          <p:cNvSpPr/>
          <p:nvPr/>
        </p:nvSpPr>
        <p:spPr>
          <a:xfrm>
            <a:off x="502920" y="749808"/>
            <a:ext cx="5486400" cy="274320"/>
          </a:xfrm>
          <a:prstGeom prst="rect">
            <a:avLst/>
          </a:prstGeom>
          <a:noFill/>
          <a:ln/>
        </p:spPr>
        <p:txBody>
          <a:bodyPr wrap="square"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STEP 2 OF 9</a:t>
            </a:r>
            <a:endParaRPr lang="en-US" sz="1100" dirty="0"/>
          </a:p>
        </p:txBody>
      </p:sp>
      <p:sp>
        <p:nvSpPr>
          <p:cNvPr id="22" name="Text 20"/>
          <p:cNvSpPr/>
          <p:nvPr/>
        </p:nvSpPr>
        <p:spPr>
          <a:xfrm>
            <a:off x="502920" y="1005840"/>
            <a:ext cx="8076895" cy="685800"/>
          </a:xfrm>
          <a:prstGeom prst="rect">
            <a:avLst/>
          </a:prstGeom>
          <a:noFill/>
          <a:ln/>
        </p:spPr>
        <p:txBody>
          <a:bodyPr wrap="square" rtlCol="0" anchor="ctr"/>
          <a:lstStyle/>
          <a:p>
            <a:pPr indent="0" marL="0">
              <a:buNone/>
            </a:pPr>
            <a:r>
              <a:rPr lang="en-US" sz="2500" b="1" dirty="0">
                <a:solidFill>
                  <a:srgbClr val="1A2035"/>
                </a:solidFill>
                <a:latin typeface="Cambria" pitchFamily="34" charset="0"/>
                <a:ea typeface="Cambria" pitchFamily="34" charset="-122"/>
                <a:cs typeface="Cambria" pitchFamily="34" charset="-120"/>
              </a:rPr>
              <a:t>Load and organise our real contacts</a:t>
            </a:r>
            <a:endParaRPr lang="en-US" sz="2500" dirty="0"/>
          </a:p>
        </p:txBody>
      </p:sp>
      <p:sp>
        <p:nvSpPr>
          <p:cNvPr id="23" name="Shape 21"/>
          <p:cNvSpPr/>
          <p:nvPr/>
        </p:nvSpPr>
        <p:spPr>
          <a:xfrm>
            <a:off x="8945575" y="1078992"/>
            <a:ext cx="2743200" cy="457200"/>
          </a:xfrm>
          <a:prstGeom prst="rect">
            <a:avLst/>
          </a:prstGeom>
          <a:solidFill>
            <a:srgbClr val="E7F6ED"/>
          </a:solidFill>
          <a:ln/>
        </p:spPr>
      </p:sp>
      <p:sp>
        <p:nvSpPr>
          <p:cNvPr id="24" name="Text 22"/>
          <p:cNvSpPr/>
          <p:nvPr/>
        </p:nvSpPr>
        <p:spPr>
          <a:xfrm>
            <a:off x="8945575" y="1078992"/>
            <a:ext cx="2743200" cy="457200"/>
          </a:xfrm>
          <a:prstGeom prst="rect">
            <a:avLst/>
          </a:prstGeom>
          <a:noFill/>
          <a:ln/>
        </p:spPr>
        <p:txBody>
          <a:bodyPr wrap="square" rtlCol="0" anchor="ctr"/>
          <a:lstStyle/>
          <a:p>
            <a:pPr algn="ctr" indent="0" marL="0">
              <a:buNone/>
            </a:pPr>
            <a:r>
              <a:rPr lang="en-US" sz="1200" b="1" dirty="0">
                <a:solidFill>
                  <a:srgbClr val="1F9D55"/>
                </a:solidFill>
                <a:latin typeface="Calibri" pitchFamily="34" charset="0"/>
                <a:ea typeface="Calibri" pitchFamily="34" charset="-122"/>
                <a:cs typeface="Calibri" pitchFamily="34" charset="-120"/>
              </a:rPr>
              <a:t>DONE</a:t>
            </a:r>
            <a:endParaRPr lang="en-US" sz="1200" dirty="0"/>
          </a:p>
        </p:txBody>
      </p:sp>
      <p:sp>
        <p:nvSpPr>
          <p:cNvPr id="25" name="Text 23"/>
          <p:cNvSpPr/>
          <p:nvPr/>
        </p:nvSpPr>
        <p:spPr>
          <a:xfrm>
            <a:off x="502920" y="1874520"/>
            <a:ext cx="11185855" cy="256032"/>
          </a:xfrm>
          <a:prstGeom prst="rect">
            <a:avLst/>
          </a:prstGeom>
          <a:noFill/>
          <a:ln/>
        </p:spPr>
        <p:txBody>
          <a:bodyPr wrap="square" rtlCol="0" anchor="ctr"/>
          <a:lstStyle/>
          <a:p>
            <a:pPr indent="0" marL="0">
              <a:buNone/>
            </a:pPr>
            <a:r>
              <a:rPr lang="en-US" sz="1050" b="1" spc="100" kern="0" dirty="0">
                <a:solidFill>
                  <a:srgbClr val="7A8399"/>
                </a:solidFill>
                <a:latin typeface="Calibri" pitchFamily="34" charset="0"/>
                <a:ea typeface="Calibri" pitchFamily="34" charset="-122"/>
                <a:cs typeface="Calibri" pitchFamily="34" charset="-120"/>
              </a:rPr>
              <a:t>WHAT THIS STEP MEANS</a:t>
            </a:r>
            <a:endParaRPr lang="en-US" sz="1050" dirty="0"/>
          </a:p>
        </p:txBody>
      </p:sp>
      <p:sp>
        <p:nvSpPr>
          <p:cNvPr id="26" name="Text 24"/>
          <p:cNvSpPr/>
          <p:nvPr/>
        </p:nvSpPr>
        <p:spPr>
          <a:xfrm>
            <a:off x="502920" y="2167128"/>
            <a:ext cx="11185855" cy="685800"/>
          </a:xfrm>
          <a:prstGeom prst="rect">
            <a:avLst/>
          </a:prstGeom>
          <a:noFill/>
          <a:ln/>
        </p:spPr>
        <p:txBody>
          <a:bodyPr wrap="square" rtlCol="0" anchor="t"/>
          <a:lstStyle/>
          <a:p>
            <a:pPr indent="0" marL="0">
              <a:lnSpc>
                <a:spcPct val="120000"/>
              </a:lnSpc>
              <a:buNone/>
            </a:pPr>
            <a:r>
              <a:rPr lang="en-US" sz="1300" dirty="0">
                <a:solidFill>
                  <a:srgbClr val="1A2035"/>
                </a:solidFill>
                <a:latin typeface="Calibri" pitchFamily="34" charset="0"/>
                <a:ea typeface="Calibri" pitchFamily="34" charset="-122"/>
                <a:cs typeface="Calibri" pitchFamily="34" charset="-120"/>
              </a:rPr>
              <a:t>Step 2 was taking every contact we already had — from old spreadsheets and research — and loading them into the new system, organised by bank, with each person's role and importance marked.</a:t>
            </a:r>
            <a:endParaRPr lang="en-US" sz="1300" dirty="0"/>
          </a:p>
        </p:txBody>
      </p:sp>
      <p:sp>
        <p:nvSpPr>
          <p:cNvPr id="27" name="Shape 25"/>
          <p:cNvSpPr/>
          <p:nvPr/>
        </p:nvSpPr>
        <p:spPr>
          <a:xfrm>
            <a:off x="502920" y="2798064"/>
            <a:ext cx="73152" cy="73152"/>
          </a:xfrm>
          <a:prstGeom prst="ellipse">
            <a:avLst/>
          </a:prstGeom>
          <a:solidFill>
            <a:srgbClr val="C9A227"/>
          </a:solidFill>
          <a:ln/>
        </p:spPr>
      </p:sp>
      <p:sp>
        <p:nvSpPr>
          <p:cNvPr id="28" name="Text 26"/>
          <p:cNvSpPr/>
          <p:nvPr/>
        </p:nvSpPr>
        <p:spPr>
          <a:xfrm>
            <a:off x="704088" y="2670048"/>
            <a:ext cx="10911535" cy="292608"/>
          </a:xfrm>
          <a:prstGeom prst="rect">
            <a:avLst/>
          </a:prstGeom>
          <a:noFill/>
          <a:ln/>
        </p:spPr>
        <p:txBody>
          <a:bodyPr wrap="square" rtlCol="0" anchor="t"/>
          <a:lstStyle/>
          <a:p>
            <a:pPr indent="0" marL="0">
              <a:buNone/>
            </a:pPr>
            <a:r>
              <a:rPr lang="en-US" sz="1150" dirty="0">
                <a:solidFill>
                  <a:srgbClr val="586080"/>
                </a:solidFill>
                <a:latin typeface="Calibri" pitchFamily="34" charset="0"/>
                <a:ea typeface="Calibri" pitchFamily="34" charset="-122"/>
                <a:cs typeface="Calibri" pitchFamily="34" charset="-120"/>
              </a:rPr>
              <a:t>One honest caveat: most contact emails are marked 'unverified' — that's covered in Step 6.</a:t>
            </a:r>
            <a:endParaRPr lang="en-US" sz="1150" dirty="0"/>
          </a:p>
        </p:txBody>
      </p:sp>
      <p:sp>
        <p:nvSpPr>
          <p:cNvPr id="29" name="Shape 27"/>
          <p:cNvSpPr/>
          <p:nvPr/>
        </p:nvSpPr>
        <p:spPr>
          <a:xfrm>
            <a:off x="502920" y="3136392"/>
            <a:ext cx="11185855" cy="3218688"/>
          </a:xfrm>
          <a:prstGeom prst="rect">
            <a:avLst/>
          </a:prstGeom>
          <a:solidFill>
            <a:srgbClr val="E7F6ED"/>
          </a:solidFill>
          <a:ln/>
        </p:spPr>
      </p:sp>
      <p:sp>
        <p:nvSpPr>
          <p:cNvPr id="30" name="Text 28"/>
          <p:cNvSpPr/>
          <p:nvPr/>
        </p:nvSpPr>
        <p:spPr>
          <a:xfrm>
            <a:off x="731520" y="3273552"/>
            <a:ext cx="10728655" cy="256032"/>
          </a:xfrm>
          <a:prstGeom prst="rect">
            <a:avLst/>
          </a:prstGeom>
          <a:noFill/>
          <a:ln/>
        </p:spPr>
        <p:txBody>
          <a:bodyPr wrap="square" rtlCol="0" anchor="ctr"/>
          <a:lstStyle/>
          <a:p>
            <a:pPr indent="0" marL="0">
              <a:buNone/>
            </a:pPr>
            <a:r>
              <a:rPr lang="en-US" sz="1050" b="1" spc="100" kern="0" dirty="0">
                <a:solidFill>
                  <a:srgbClr val="1F9D55"/>
                </a:solidFill>
                <a:latin typeface="Calibri" pitchFamily="34" charset="0"/>
                <a:ea typeface="Calibri" pitchFamily="34" charset="-122"/>
                <a:cs typeface="Calibri" pitchFamily="34" charset="-120"/>
              </a:rPr>
              <a:t>WHY IT'S SAFE TO CALL THIS DONE</a:t>
            </a:r>
            <a:endParaRPr lang="en-US" sz="1050" dirty="0"/>
          </a:p>
        </p:txBody>
      </p:sp>
      <p:sp>
        <p:nvSpPr>
          <p:cNvPr id="31" name="Text 29"/>
          <p:cNvSpPr/>
          <p:nvPr/>
        </p:nvSpPr>
        <p:spPr>
          <a:xfrm>
            <a:off x="731520" y="3611880"/>
            <a:ext cx="10728655" cy="2578608"/>
          </a:xfrm>
          <a:prstGeom prst="rect">
            <a:avLst/>
          </a:prstGeom>
          <a:noFill/>
          <a:ln/>
        </p:spPr>
        <p:txBody>
          <a:bodyPr wrap="square" rtlCol="0" anchor="t"/>
          <a:lstStyle/>
          <a:p>
            <a:pPr indent="0" marL="0">
              <a:lnSpc>
                <a:spcPct val="125000"/>
              </a:lnSpc>
              <a:buNone/>
            </a:pPr>
            <a:r>
              <a:rPr lang="en-US" sz="1200" dirty="0">
                <a:solidFill>
                  <a:srgbClr val="1A2035"/>
                </a:solidFill>
                <a:latin typeface="Calibri" pitchFamily="34" charset="0"/>
                <a:ea typeface="Calibri" pitchFamily="34" charset="-122"/>
                <a:cs typeface="Calibri" pitchFamily="34" charset="-120"/>
              </a:rPr>
              <a:t>8,000+ real contacts are loaded and organised today, each linked to their bank, with priority ranking and outreach history. Verified live this week — this is not a placeholder number.</a:t>
            </a:r>
            <a:endParaRPr lang="en-US" sz="1200" dirty="0"/>
          </a:p>
        </p:txBody>
      </p:sp>
      <p:sp>
        <p:nvSpPr>
          <p:cNvPr id="32" name="Text 30"/>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Our Journey, Step by Step</a:t>
            </a:r>
            <a:endParaRPr lang="en-US" sz="850" dirty="0"/>
          </a:p>
        </p:txBody>
      </p:sp>
      <p:sp>
        <p:nvSpPr>
          <p:cNvPr id="33" name="Text 31"/>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177849" cy="118872"/>
          </a:xfrm>
          <a:prstGeom prst="rect">
            <a:avLst/>
          </a:prstGeom>
          <a:solidFill>
            <a:srgbClr val="1F9D55"/>
          </a:solidFill>
          <a:ln/>
        </p:spPr>
      </p:sp>
      <p:sp>
        <p:nvSpPr>
          <p:cNvPr id="3" name="Text 1"/>
          <p:cNvSpPr/>
          <p:nvPr/>
        </p:nvSpPr>
        <p:spPr>
          <a:xfrm>
            <a:off x="502920"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1</a:t>
            </a:r>
            <a:endParaRPr lang="en-US" sz="800" dirty="0"/>
          </a:p>
        </p:txBody>
      </p:sp>
      <p:sp>
        <p:nvSpPr>
          <p:cNvPr id="4" name="Shape 2"/>
          <p:cNvSpPr/>
          <p:nvPr/>
        </p:nvSpPr>
        <p:spPr>
          <a:xfrm>
            <a:off x="1753921" y="384048"/>
            <a:ext cx="1177849" cy="118872"/>
          </a:xfrm>
          <a:prstGeom prst="rect">
            <a:avLst/>
          </a:prstGeom>
          <a:solidFill>
            <a:srgbClr val="1F9D55"/>
          </a:solidFill>
          <a:ln/>
        </p:spPr>
      </p:sp>
      <p:sp>
        <p:nvSpPr>
          <p:cNvPr id="5" name="Text 3"/>
          <p:cNvSpPr/>
          <p:nvPr/>
        </p:nvSpPr>
        <p:spPr>
          <a:xfrm>
            <a:off x="1753921"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2</a:t>
            </a:r>
            <a:endParaRPr lang="en-US" sz="800" dirty="0"/>
          </a:p>
        </p:txBody>
      </p:sp>
      <p:sp>
        <p:nvSpPr>
          <p:cNvPr id="6" name="Shape 4"/>
          <p:cNvSpPr/>
          <p:nvPr/>
        </p:nvSpPr>
        <p:spPr>
          <a:xfrm>
            <a:off x="3004922" y="384048"/>
            <a:ext cx="1177849" cy="118872"/>
          </a:xfrm>
          <a:prstGeom prst="rect">
            <a:avLst/>
          </a:prstGeom>
          <a:solidFill>
            <a:srgbClr val="1F9D55"/>
          </a:solidFill>
          <a:ln/>
        </p:spPr>
      </p:sp>
      <p:sp>
        <p:nvSpPr>
          <p:cNvPr id="7" name="Shape 5"/>
          <p:cNvSpPr/>
          <p:nvPr/>
        </p:nvSpPr>
        <p:spPr>
          <a:xfrm>
            <a:off x="2986634" y="338328"/>
            <a:ext cx="1214425" cy="210312"/>
          </a:xfrm>
          <a:prstGeom prst="rect">
            <a:avLst/>
          </a:prstGeom>
          <a:ln w="22225">
            <a:solidFill>
              <a:srgbClr val="0B1220"/>
            </a:solidFill>
            <a:prstDash val="solid"/>
          </a:ln>
        </p:spPr>
      </p:sp>
      <p:sp>
        <p:nvSpPr>
          <p:cNvPr id="8" name="Text 6"/>
          <p:cNvSpPr/>
          <p:nvPr/>
        </p:nvSpPr>
        <p:spPr>
          <a:xfrm>
            <a:off x="3004922" y="530352"/>
            <a:ext cx="1177849" cy="201168"/>
          </a:xfrm>
          <a:prstGeom prst="rect">
            <a:avLst/>
          </a:prstGeom>
          <a:noFill/>
          <a:ln/>
        </p:spPr>
        <p:txBody>
          <a:bodyPr wrap="square" rtlCol="0" anchor="ctr"/>
          <a:lstStyle/>
          <a:p>
            <a:pPr algn="ctr" indent="0" marL="0">
              <a:buNone/>
            </a:pPr>
            <a:r>
              <a:rPr lang="en-US" sz="800" b="1" dirty="0">
                <a:solidFill>
                  <a:srgbClr val="1A2035"/>
                </a:solidFill>
                <a:latin typeface="Calibri" pitchFamily="34" charset="0"/>
                <a:ea typeface="Calibri" pitchFamily="34" charset="-122"/>
                <a:cs typeface="Calibri" pitchFamily="34" charset="-120"/>
              </a:rPr>
              <a:t>3</a:t>
            </a:r>
            <a:endParaRPr lang="en-US" sz="800" dirty="0"/>
          </a:p>
        </p:txBody>
      </p:sp>
      <p:sp>
        <p:nvSpPr>
          <p:cNvPr id="9" name="Shape 7"/>
          <p:cNvSpPr/>
          <p:nvPr/>
        </p:nvSpPr>
        <p:spPr>
          <a:xfrm>
            <a:off x="4255922" y="384048"/>
            <a:ext cx="1177849" cy="118872"/>
          </a:xfrm>
          <a:prstGeom prst="rect">
            <a:avLst/>
          </a:prstGeom>
          <a:solidFill>
            <a:srgbClr val="C2760C"/>
          </a:solidFill>
          <a:ln/>
        </p:spPr>
      </p:sp>
      <p:sp>
        <p:nvSpPr>
          <p:cNvPr id="10" name="Text 8"/>
          <p:cNvSpPr/>
          <p:nvPr/>
        </p:nvSpPr>
        <p:spPr>
          <a:xfrm>
            <a:off x="4255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4</a:t>
            </a:r>
            <a:endParaRPr lang="en-US" sz="800" dirty="0"/>
          </a:p>
        </p:txBody>
      </p:sp>
      <p:sp>
        <p:nvSpPr>
          <p:cNvPr id="11" name="Shape 9"/>
          <p:cNvSpPr/>
          <p:nvPr/>
        </p:nvSpPr>
        <p:spPr>
          <a:xfrm>
            <a:off x="5506923" y="384048"/>
            <a:ext cx="1177849" cy="118872"/>
          </a:xfrm>
          <a:prstGeom prst="rect">
            <a:avLst/>
          </a:prstGeom>
          <a:solidFill>
            <a:srgbClr val="C2760C"/>
          </a:solidFill>
          <a:ln/>
        </p:spPr>
      </p:sp>
      <p:sp>
        <p:nvSpPr>
          <p:cNvPr id="12" name="Text 10"/>
          <p:cNvSpPr/>
          <p:nvPr/>
        </p:nvSpPr>
        <p:spPr>
          <a:xfrm>
            <a:off x="5506923"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5</a:t>
            </a:r>
            <a:endParaRPr lang="en-US" sz="800" dirty="0"/>
          </a:p>
        </p:txBody>
      </p:sp>
      <p:sp>
        <p:nvSpPr>
          <p:cNvPr id="13" name="Shape 11"/>
          <p:cNvSpPr/>
          <p:nvPr/>
        </p:nvSpPr>
        <p:spPr>
          <a:xfrm>
            <a:off x="6757924" y="384048"/>
            <a:ext cx="1177849" cy="118872"/>
          </a:xfrm>
          <a:prstGeom prst="rect">
            <a:avLst/>
          </a:prstGeom>
          <a:solidFill>
            <a:srgbClr val="8A90A2"/>
          </a:solidFill>
          <a:ln/>
        </p:spPr>
      </p:sp>
      <p:sp>
        <p:nvSpPr>
          <p:cNvPr id="14" name="Text 12"/>
          <p:cNvSpPr/>
          <p:nvPr/>
        </p:nvSpPr>
        <p:spPr>
          <a:xfrm>
            <a:off x="6757924"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6</a:t>
            </a:r>
            <a:endParaRPr lang="en-US" sz="800" dirty="0"/>
          </a:p>
        </p:txBody>
      </p:sp>
      <p:sp>
        <p:nvSpPr>
          <p:cNvPr id="15" name="Shape 13"/>
          <p:cNvSpPr/>
          <p:nvPr/>
        </p:nvSpPr>
        <p:spPr>
          <a:xfrm>
            <a:off x="8008925" y="384048"/>
            <a:ext cx="1177849" cy="118872"/>
          </a:xfrm>
          <a:prstGeom prst="rect">
            <a:avLst/>
          </a:prstGeom>
          <a:solidFill>
            <a:srgbClr val="8A90A2"/>
          </a:solidFill>
          <a:ln/>
        </p:spPr>
      </p:sp>
      <p:sp>
        <p:nvSpPr>
          <p:cNvPr id="16" name="Text 14"/>
          <p:cNvSpPr/>
          <p:nvPr/>
        </p:nvSpPr>
        <p:spPr>
          <a:xfrm>
            <a:off x="8008925"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7</a:t>
            </a:r>
            <a:endParaRPr lang="en-US" sz="800" dirty="0"/>
          </a:p>
        </p:txBody>
      </p:sp>
      <p:sp>
        <p:nvSpPr>
          <p:cNvPr id="17" name="Shape 15"/>
          <p:cNvSpPr/>
          <p:nvPr/>
        </p:nvSpPr>
        <p:spPr>
          <a:xfrm>
            <a:off x="9259926" y="384048"/>
            <a:ext cx="1177849" cy="118872"/>
          </a:xfrm>
          <a:prstGeom prst="rect">
            <a:avLst/>
          </a:prstGeom>
          <a:solidFill>
            <a:srgbClr val="8A90A2"/>
          </a:solidFill>
          <a:ln/>
        </p:spPr>
      </p:sp>
      <p:sp>
        <p:nvSpPr>
          <p:cNvPr id="18" name="Text 16"/>
          <p:cNvSpPr/>
          <p:nvPr/>
        </p:nvSpPr>
        <p:spPr>
          <a:xfrm>
            <a:off x="9259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8</a:t>
            </a:r>
            <a:endParaRPr lang="en-US" sz="800" dirty="0"/>
          </a:p>
        </p:txBody>
      </p:sp>
      <p:sp>
        <p:nvSpPr>
          <p:cNvPr id="19" name="Shape 17"/>
          <p:cNvSpPr/>
          <p:nvPr/>
        </p:nvSpPr>
        <p:spPr>
          <a:xfrm>
            <a:off x="10510926" y="384048"/>
            <a:ext cx="1177849" cy="118872"/>
          </a:xfrm>
          <a:prstGeom prst="rect">
            <a:avLst/>
          </a:prstGeom>
          <a:solidFill>
            <a:srgbClr val="8A90A2"/>
          </a:solidFill>
          <a:ln/>
        </p:spPr>
      </p:sp>
      <p:sp>
        <p:nvSpPr>
          <p:cNvPr id="20" name="Text 18"/>
          <p:cNvSpPr/>
          <p:nvPr/>
        </p:nvSpPr>
        <p:spPr>
          <a:xfrm>
            <a:off x="10510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9</a:t>
            </a:r>
            <a:endParaRPr lang="en-US" sz="800" dirty="0"/>
          </a:p>
        </p:txBody>
      </p:sp>
      <p:sp>
        <p:nvSpPr>
          <p:cNvPr id="21" name="Text 19"/>
          <p:cNvSpPr/>
          <p:nvPr/>
        </p:nvSpPr>
        <p:spPr>
          <a:xfrm>
            <a:off x="502920" y="749808"/>
            <a:ext cx="5486400" cy="274320"/>
          </a:xfrm>
          <a:prstGeom prst="rect">
            <a:avLst/>
          </a:prstGeom>
          <a:noFill/>
          <a:ln/>
        </p:spPr>
        <p:txBody>
          <a:bodyPr wrap="square"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STEP 3 OF 9</a:t>
            </a:r>
            <a:endParaRPr lang="en-US" sz="1100" dirty="0"/>
          </a:p>
        </p:txBody>
      </p:sp>
      <p:sp>
        <p:nvSpPr>
          <p:cNvPr id="22" name="Text 20"/>
          <p:cNvSpPr/>
          <p:nvPr/>
        </p:nvSpPr>
        <p:spPr>
          <a:xfrm>
            <a:off x="502920" y="1005840"/>
            <a:ext cx="8076895" cy="685800"/>
          </a:xfrm>
          <a:prstGeom prst="rect">
            <a:avLst/>
          </a:prstGeom>
          <a:noFill/>
          <a:ln/>
        </p:spPr>
        <p:txBody>
          <a:bodyPr wrap="square" rtlCol="0" anchor="ctr"/>
          <a:lstStyle/>
          <a:p>
            <a:pPr indent="0" marL="0">
              <a:buNone/>
            </a:pPr>
            <a:r>
              <a:rPr lang="en-US" sz="2500" b="1" dirty="0">
                <a:solidFill>
                  <a:srgbClr val="1A2035"/>
                </a:solidFill>
                <a:latin typeface="Cambria" pitchFamily="34" charset="0"/>
                <a:ea typeface="Cambria" pitchFamily="34" charset="-122"/>
                <a:cs typeface="Cambria" pitchFamily="34" charset="-120"/>
              </a:rPr>
              <a:t>Make it track everything automatically</a:t>
            </a:r>
            <a:endParaRPr lang="en-US" sz="2500" dirty="0"/>
          </a:p>
        </p:txBody>
      </p:sp>
      <p:sp>
        <p:nvSpPr>
          <p:cNvPr id="23" name="Shape 21"/>
          <p:cNvSpPr/>
          <p:nvPr/>
        </p:nvSpPr>
        <p:spPr>
          <a:xfrm>
            <a:off x="8945575" y="1078992"/>
            <a:ext cx="2743200" cy="457200"/>
          </a:xfrm>
          <a:prstGeom prst="rect">
            <a:avLst/>
          </a:prstGeom>
          <a:solidFill>
            <a:srgbClr val="E7F6ED"/>
          </a:solidFill>
          <a:ln/>
        </p:spPr>
      </p:sp>
      <p:sp>
        <p:nvSpPr>
          <p:cNvPr id="24" name="Text 22"/>
          <p:cNvSpPr/>
          <p:nvPr/>
        </p:nvSpPr>
        <p:spPr>
          <a:xfrm>
            <a:off x="8945575" y="1078992"/>
            <a:ext cx="2743200" cy="457200"/>
          </a:xfrm>
          <a:prstGeom prst="rect">
            <a:avLst/>
          </a:prstGeom>
          <a:noFill/>
          <a:ln/>
        </p:spPr>
        <p:txBody>
          <a:bodyPr wrap="square" rtlCol="0" anchor="ctr"/>
          <a:lstStyle/>
          <a:p>
            <a:pPr algn="ctr" indent="0" marL="0">
              <a:buNone/>
            </a:pPr>
            <a:r>
              <a:rPr lang="en-US" sz="1200" b="1" dirty="0">
                <a:solidFill>
                  <a:srgbClr val="1F9D55"/>
                </a:solidFill>
                <a:latin typeface="Calibri" pitchFamily="34" charset="0"/>
                <a:ea typeface="Calibri" pitchFamily="34" charset="-122"/>
                <a:cs typeface="Calibri" pitchFamily="34" charset="-120"/>
              </a:rPr>
              <a:t>DONE</a:t>
            </a:r>
            <a:endParaRPr lang="en-US" sz="1200" dirty="0"/>
          </a:p>
        </p:txBody>
      </p:sp>
      <p:sp>
        <p:nvSpPr>
          <p:cNvPr id="25" name="Text 23"/>
          <p:cNvSpPr/>
          <p:nvPr/>
        </p:nvSpPr>
        <p:spPr>
          <a:xfrm>
            <a:off x="502920" y="1874520"/>
            <a:ext cx="11185855" cy="256032"/>
          </a:xfrm>
          <a:prstGeom prst="rect">
            <a:avLst/>
          </a:prstGeom>
          <a:noFill/>
          <a:ln/>
        </p:spPr>
        <p:txBody>
          <a:bodyPr wrap="square" rtlCol="0" anchor="ctr"/>
          <a:lstStyle/>
          <a:p>
            <a:pPr indent="0" marL="0">
              <a:buNone/>
            </a:pPr>
            <a:r>
              <a:rPr lang="en-US" sz="1050" b="1" spc="100" kern="0" dirty="0">
                <a:solidFill>
                  <a:srgbClr val="7A8399"/>
                </a:solidFill>
                <a:latin typeface="Calibri" pitchFamily="34" charset="0"/>
                <a:ea typeface="Calibri" pitchFamily="34" charset="-122"/>
                <a:cs typeface="Calibri" pitchFamily="34" charset="-120"/>
              </a:rPr>
              <a:t>WHAT THIS STEP MEANS</a:t>
            </a:r>
            <a:endParaRPr lang="en-US" sz="1050" dirty="0"/>
          </a:p>
        </p:txBody>
      </p:sp>
      <p:sp>
        <p:nvSpPr>
          <p:cNvPr id="26" name="Text 24"/>
          <p:cNvSpPr/>
          <p:nvPr/>
        </p:nvSpPr>
        <p:spPr>
          <a:xfrm>
            <a:off x="502920" y="2167128"/>
            <a:ext cx="11185855" cy="685800"/>
          </a:xfrm>
          <a:prstGeom prst="rect">
            <a:avLst/>
          </a:prstGeom>
          <a:noFill/>
          <a:ln/>
        </p:spPr>
        <p:txBody>
          <a:bodyPr wrap="square" rtlCol="0" anchor="t"/>
          <a:lstStyle/>
          <a:p>
            <a:pPr indent="0" marL="0">
              <a:lnSpc>
                <a:spcPct val="120000"/>
              </a:lnSpc>
              <a:buNone/>
            </a:pPr>
            <a:r>
              <a:rPr lang="en-US" sz="1300" dirty="0">
                <a:solidFill>
                  <a:srgbClr val="1A2035"/>
                </a:solidFill>
                <a:latin typeface="Calibri" pitchFamily="34" charset="0"/>
                <a:ea typeface="Calibri" pitchFamily="34" charset="-122"/>
                <a:cs typeface="Calibri" pitchFamily="34" charset="-120"/>
              </a:rPr>
              <a:t>Step 3 was making the system do the remembering for us: every bank's page shows its people, its deals, and any relevant news — and the system checks the news on its own, without anyone asking it to.</a:t>
            </a:r>
            <a:endParaRPr lang="en-US" sz="1300" dirty="0"/>
          </a:p>
        </p:txBody>
      </p:sp>
      <p:sp>
        <p:nvSpPr>
          <p:cNvPr id="27" name="Shape 25"/>
          <p:cNvSpPr/>
          <p:nvPr/>
        </p:nvSpPr>
        <p:spPr>
          <a:xfrm>
            <a:off x="502920" y="2944368"/>
            <a:ext cx="11185855" cy="3410712"/>
          </a:xfrm>
          <a:prstGeom prst="rect">
            <a:avLst/>
          </a:prstGeom>
          <a:solidFill>
            <a:srgbClr val="E7F6ED"/>
          </a:solidFill>
          <a:ln/>
        </p:spPr>
      </p:sp>
      <p:sp>
        <p:nvSpPr>
          <p:cNvPr id="28" name="Text 26"/>
          <p:cNvSpPr/>
          <p:nvPr/>
        </p:nvSpPr>
        <p:spPr>
          <a:xfrm>
            <a:off x="731520" y="3081528"/>
            <a:ext cx="10728655" cy="256032"/>
          </a:xfrm>
          <a:prstGeom prst="rect">
            <a:avLst/>
          </a:prstGeom>
          <a:noFill/>
          <a:ln/>
        </p:spPr>
        <p:txBody>
          <a:bodyPr wrap="square" rtlCol="0" anchor="ctr"/>
          <a:lstStyle/>
          <a:p>
            <a:pPr indent="0" marL="0">
              <a:buNone/>
            </a:pPr>
            <a:r>
              <a:rPr lang="en-US" sz="1050" b="1" spc="100" kern="0" dirty="0">
                <a:solidFill>
                  <a:srgbClr val="1F9D55"/>
                </a:solidFill>
                <a:latin typeface="Calibri" pitchFamily="34" charset="0"/>
                <a:ea typeface="Calibri" pitchFamily="34" charset="-122"/>
                <a:cs typeface="Calibri" pitchFamily="34" charset="-120"/>
              </a:rPr>
              <a:t>WHY IT'S SAFE TO CALL THIS DONE</a:t>
            </a:r>
            <a:endParaRPr lang="en-US" sz="1050" dirty="0"/>
          </a:p>
        </p:txBody>
      </p:sp>
      <p:sp>
        <p:nvSpPr>
          <p:cNvPr id="29" name="Text 27"/>
          <p:cNvSpPr/>
          <p:nvPr/>
        </p:nvSpPr>
        <p:spPr>
          <a:xfrm>
            <a:off x="731520" y="3419856"/>
            <a:ext cx="10728655" cy="2770632"/>
          </a:xfrm>
          <a:prstGeom prst="rect">
            <a:avLst/>
          </a:prstGeom>
          <a:noFill/>
          <a:ln/>
        </p:spPr>
        <p:txBody>
          <a:bodyPr wrap="square" rtlCol="0" anchor="t"/>
          <a:lstStyle/>
          <a:p>
            <a:pPr indent="0" marL="0">
              <a:lnSpc>
                <a:spcPct val="125000"/>
              </a:lnSpc>
              <a:buNone/>
            </a:pPr>
            <a:r>
              <a:rPr lang="en-US" sz="1200" dirty="0">
                <a:solidFill>
                  <a:srgbClr val="1A2035"/>
                </a:solidFill>
                <a:latin typeface="Calibri" pitchFamily="34" charset="0"/>
                <a:ea typeface="Calibri" pitchFamily="34" charset="-122"/>
                <a:cs typeface="Calibri" pitchFamily="34" charset="-120"/>
              </a:rPr>
              <a:t>Bank pages, the deal board, and the automatic news-watcher were all checked live this week and work as described. Contact upload and export buttons on bank pages also work.</a:t>
            </a:r>
            <a:endParaRPr lang="en-US" sz="1200" dirty="0"/>
          </a:p>
        </p:txBody>
      </p:sp>
      <p:sp>
        <p:nvSpPr>
          <p:cNvPr id="30" name="Text 28"/>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Our Journey, Step by Step</a:t>
            </a:r>
            <a:endParaRPr lang="en-US" sz="850" dirty="0"/>
          </a:p>
        </p:txBody>
      </p:sp>
      <p:sp>
        <p:nvSpPr>
          <p:cNvPr id="31" name="Text 29"/>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177849" cy="118872"/>
          </a:xfrm>
          <a:prstGeom prst="rect">
            <a:avLst/>
          </a:prstGeom>
          <a:solidFill>
            <a:srgbClr val="1F9D55"/>
          </a:solidFill>
          <a:ln/>
        </p:spPr>
      </p:sp>
      <p:sp>
        <p:nvSpPr>
          <p:cNvPr id="3" name="Text 1"/>
          <p:cNvSpPr/>
          <p:nvPr/>
        </p:nvSpPr>
        <p:spPr>
          <a:xfrm>
            <a:off x="502920"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1</a:t>
            </a:r>
            <a:endParaRPr lang="en-US" sz="800" dirty="0"/>
          </a:p>
        </p:txBody>
      </p:sp>
      <p:sp>
        <p:nvSpPr>
          <p:cNvPr id="4" name="Shape 2"/>
          <p:cNvSpPr/>
          <p:nvPr/>
        </p:nvSpPr>
        <p:spPr>
          <a:xfrm>
            <a:off x="1753921" y="384048"/>
            <a:ext cx="1177849" cy="118872"/>
          </a:xfrm>
          <a:prstGeom prst="rect">
            <a:avLst/>
          </a:prstGeom>
          <a:solidFill>
            <a:srgbClr val="1F9D55"/>
          </a:solidFill>
          <a:ln/>
        </p:spPr>
      </p:sp>
      <p:sp>
        <p:nvSpPr>
          <p:cNvPr id="5" name="Text 3"/>
          <p:cNvSpPr/>
          <p:nvPr/>
        </p:nvSpPr>
        <p:spPr>
          <a:xfrm>
            <a:off x="1753921"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2</a:t>
            </a:r>
            <a:endParaRPr lang="en-US" sz="800" dirty="0"/>
          </a:p>
        </p:txBody>
      </p:sp>
      <p:sp>
        <p:nvSpPr>
          <p:cNvPr id="6" name="Shape 4"/>
          <p:cNvSpPr/>
          <p:nvPr/>
        </p:nvSpPr>
        <p:spPr>
          <a:xfrm>
            <a:off x="3004922" y="384048"/>
            <a:ext cx="1177849" cy="118872"/>
          </a:xfrm>
          <a:prstGeom prst="rect">
            <a:avLst/>
          </a:prstGeom>
          <a:solidFill>
            <a:srgbClr val="1F9D55"/>
          </a:solidFill>
          <a:ln/>
        </p:spPr>
      </p:sp>
      <p:sp>
        <p:nvSpPr>
          <p:cNvPr id="7" name="Text 5"/>
          <p:cNvSpPr/>
          <p:nvPr/>
        </p:nvSpPr>
        <p:spPr>
          <a:xfrm>
            <a:off x="3004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3</a:t>
            </a:r>
            <a:endParaRPr lang="en-US" sz="800" dirty="0"/>
          </a:p>
        </p:txBody>
      </p:sp>
      <p:sp>
        <p:nvSpPr>
          <p:cNvPr id="8" name="Shape 6"/>
          <p:cNvSpPr/>
          <p:nvPr/>
        </p:nvSpPr>
        <p:spPr>
          <a:xfrm>
            <a:off x="4255922" y="384048"/>
            <a:ext cx="1177849" cy="118872"/>
          </a:xfrm>
          <a:prstGeom prst="rect">
            <a:avLst/>
          </a:prstGeom>
          <a:solidFill>
            <a:srgbClr val="C2760C"/>
          </a:solidFill>
          <a:ln/>
        </p:spPr>
      </p:sp>
      <p:sp>
        <p:nvSpPr>
          <p:cNvPr id="9" name="Shape 7"/>
          <p:cNvSpPr/>
          <p:nvPr/>
        </p:nvSpPr>
        <p:spPr>
          <a:xfrm>
            <a:off x="4237634" y="338328"/>
            <a:ext cx="1214425" cy="210312"/>
          </a:xfrm>
          <a:prstGeom prst="rect">
            <a:avLst/>
          </a:prstGeom>
          <a:ln w="22225">
            <a:solidFill>
              <a:srgbClr val="0B1220"/>
            </a:solidFill>
            <a:prstDash val="solid"/>
          </a:ln>
        </p:spPr>
      </p:sp>
      <p:sp>
        <p:nvSpPr>
          <p:cNvPr id="10" name="Text 8"/>
          <p:cNvSpPr/>
          <p:nvPr/>
        </p:nvSpPr>
        <p:spPr>
          <a:xfrm>
            <a:off x="4255922" y="530352"/>
            <a:ext cx="1177849" cy="201168"/>
          </a:xfrm>
          <a:prstGeom prst="rect">
            <a:avLst/>
          </a:prstGeom>
          <a:noFill/>
          <a:ln/>
        </p:spPr>
        <p:txBody>
          <a:bodyPr wrap="square" rtlCol="0" anchor="ctr"/>
          <a:lstStyle/>
          <a:p>
            <a:pPr algn="ctr" indent="0" marL="0">
              <a:buNone/>
            </a:pPr>
            <a:r>
              <a:rPr lang="en-US" sz="800" b="1" dirty="0">
                <a:solidFill>
                  <a:srgbClr val="1A2035"/>
                </a:solidFill>
                <a:latin typeface="Calibri" pitchFamily="34" charset="0"/>
                <a:ea typeface="Calibri" pitchFamily="34" charset="-122"/>
                <a:cs typeface="Calibri" pitchFamily="34" charset="-120"/>
              </a:rPr>
              <a:t>4</a:t>
            </a:r>
            <a:endParaRPr lang="en-US" sz="800" dirty="0"/>
          </a:p>
        </p:txBody>
      </p:sp>
      <p:sp>
        <p:nvSpPr>
          <p:cNvPr id="11" name="Shape 9"/>
          <p:cNvSpPr/>
          <p:nvPr/>
        </p:nvSpPr>
        <p:spPr>
          <a:xfrm>
            <a:off x="5506923" y="384048"/>
            <a:ext cx="1177849" cy="118872"/>
          </a:xfrm>
          <a:prstGeom prst="rect">
            <a:avLst/>
          </a:prstGeom>
          <a:solidFill>
            <a:srgbClr val="C2760C"/>
          </a:solidFill>
          <a:ln/>
        </p:spPr>
      </p:sp>
      <p:sp>
        <p:nvSpPr>
          <p:cNvPr id="12" name="Text 10"/>
          <p:cNvSpPr/>
          <p:nvPr/>
        </p:nvSpPr>
        <p:spPr>
          <a:xfrm>
            <a:off x="5506923"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5</a:t>
            </a:r>
            <a:endParaRPr lang="en-US" sz="800" dirty="0"/>
          </a:p>
        </p:txBody>
      </p:sp>
      <p:sp>
        <p:nvSpPr>
          <p:cNvPr id="13" name="Shape 11"/>
          <p:cNvSpPr/>
          <p:nvPr/>
        </p:nvSpPr>
        <p:spPr>
          <a:xfrm>
            <a:off x="6757924" y="384048"/>
            <a:ext cx="1177849" cy="118872"/>
          </a:xfrm>
          <a:prstGeom prst="rect">
            <a:avLst/>
          </a:prstGeom>
          <a:solidFill>
            <a:srgbClr val="8A90A2"/>
          </a:solidFill>
          <a:ln/>
        </p:spPr>
      </p:sp>
      <p:sp>
        <p:nvSpPr>
          <p:cNvPr id="14" name="Text 12"/>
          <p:cNvSpPr/>
          <p:nvPr/>
        </p:nvSpPr>
        <p:spPr>
          <a:xfrm>
            <a:off x="6757924"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6</a:t>
            </a:r>
            <a:endParaRPr lang="en-US" sz="800" dirty="0"/>
          </a:p>
        </p:txBody>
      </p:sp>
      <p:sp>
        <p:nvSpPr>
          <p:cNvPr id="15" name="Shape 13"/>
          <p:cNvSpPr/>
          <p:nvPr/>
        </p:nvSpPr>
        <p:spPr>
          <a:xfrm>
            <a:off x="8008925" y="384048"/>
            <a:ext cx="1177849" cy="118872"/>
          </a:xfrm>
          <a:prstGeom prst="rect">
            <a:avLst/>
          </a:prstGeom>
          <a:solidFill>
            <a:srgbClr val="8A90A2"/>
          </a:solidFill>
          <a:ln/>
        </p:spPr>
      </p:sp>
      <p:sp>
        <p:nvSpPr>
          <p:cNvPr id="16" name="Text 14"/>
          <p:cNvSpPr/>
          <p:nvPr/>
        </p:nvSpPr>
        <p:spPr>
          <a:xfrm>
            <a:off x="8008925"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7</a:t>
            </a:r>
            <a:endParaRPr lang="en-US" sz="800" dirty="0"/>
          </a:p>
        </p:txBody>
      </p:sp>
      <p:sp>
        <p:nvSpPr>
          <p:cNvPr id="17" name="Shape 15"/>
          <p:cNvSpPr/>
          <p:nvPr/>
        </p:nvSpPr>
        <p:spPr>
          <a:xfrm>
            <a:off x="9259926" y="384048"/>
            <a:ext cx="1177849" cy="118872"/>
          </a:xfrm>
          <a:prstGeom prst="rect">
            <a:avLst/>
          </a:prstGeom>
          <a:solidFill>
            <a:srgbClr val="8A90A2"/>
          </a:solidFill>
          <a:ln/>
        </p:spPr>
      </p:sp>
      <p:sp>
        <p:nvSpPr>
          <p:cNvPr id="18" name="Text 16"/>
          <p:cNvSpPr/>
          <p:nvPr/>
        </p:nvSpPr>
        <p:spPr>
          <a:xfrm>
            <a:off x="9259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8</a:t>
            </a:r>
            <a:endParaRPr lang="en-US" sz="800" dirty="0"/>
          </a:p>
        </p:txBody>
      </p:sp>
      <p:sp>
        <p:nvSpPr>
          <p:cNvPr id="19" name="Shape 17"/>
          <p:cNvSpPr/>
          <p:nvPr/>
        </p:nvSpPr>
        <p:spPr>
          <a:xfrm>
            <a:off x="10510926" y="384048"/>
            <a:ext cx="1177849" cy="118872"/>
          </a:xfrm>
          <a:prstGeom prst="rect">
            <a:avLst/>
          </a:prstGeom>
          <a:solidFill>
            <a:srgbClr val="8A90A2"/>
          </a:solidFill>
          <a:ln/>
        </p:spPr>
      </p:sp>
      <p:sp>
        <p:nvSpPr>
          <p:cNvPr id="20" name="Text 18"/>
          <p:cNvSpPr/>
          <p:nvPr/>
        </p:nvSpPr>
        <p:spPr>
          <a:xfrm>
            <a:off x="10510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9</a:t>
            </a:r>
            <a:endParaRPr lang="en-US" sz="800" dirty="0"/>
          </a:p>
        </p:txBody>
      </p:sp>
      <p:sp>
        <p:nvSpPr>
          <p:cNvPr id="21" name="Text 19"/>
          <p:cNvSpPr/>
          <p:nvPr/>
        </p:nvSpPr>
        <p:spPr>
          <a:xfrm>
            <a:off x="502920" y="749808"/>
            <a:ext cx="5486400" cy="274320"/>
          </a:xfrm>
          <a:prstGeom prst="rect">
            <a:avLst/>
          </a:prstGeom>
          <a:noFill/>
          <a:ln/>
        </p:spPr>
        <p:txBody>
          <a:bodyPr wrap="square"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STEP 4 OF 9</a:t>
            </a:r>
            <a:endParaRPr lang="en-US" sz="1100" dirty="0"/>
          </a:p>
        </p:txBody>
      </p:sp>
      <p:sp>
        <p:nvSpPr>
          <p:cNvPr id="22" name="Text 20"/>
          <p:cNvSpPr/>
          <p:nvPr/>
        </p:nvSpPr>
        <p:spPr>
          <a:xfrm>
            <a:off x="502920" y="1005840"/>
            <a:ext cx="8076895" cy="685800"/>
          </a:xfrm>
          <a:prstGeom prst="rect">
            <a:avLst/>
          </a:prstGeom>
          <a:noFill/>
          <a:ln/>
        </p:spPr>
        <p:txBody>
          <a:bodyPr wrap="square" rtlCol="0" anchor="ctr"/>
          <a:lstStyle/>
          <a:p>
            <a:pPr indent="0" marL="0">
              <a:buNone/>
            </a:pPr>
            <a:r>
              <a:rPr lang="en-US" sz="2500" b="1" dirty="0">
                <a:solidFill>
                  <a:srgbClr val="1A2035"/>
                </a:solidFill>
                <a:latin typeface="Cambria" pitchFamily="34" charset="0"/>
                <a:ea typeface="Cambria" pitchFamily="34" charset="-122"/>
                <a:cs typeface="Cambria" pitchFamily="34" charset="-120"/>
              </a:rPr>
              <a:t>Let AI suggest what to do next</a:t>
            </a:r>
            <a:endParaRPr lang="en-US" sz="2500" dirty="0"/>
          </a:p>
        </p:txBody>
      </p:sp>
      <p:sp>
        <p:nvSpPr>
          <p:cNvPr id="23" name="Shape 21"/>
          <p:cNvSpPr/>
          <p:nvPr/>
        </p:nvSpPr>
        <p:spPr>
          <a:xfrm>
            <a:off x="8945575" y="1078992"/>
            <a:ext cx="2743200" cy="457200"/>
          </a:xfrm>
          <a:prstGeom prst="rect">
            <a:avLst/>
          </a:prstGeom>
          <a:solidFill>
            <a:srgbClr val="FBEEDC"/>
          </a:solidFill>
          <a:ln/>
        </p:spPr>
      </p:sp>
      <p:sp>
        <p:nvSpPr>
          <p:cNvPr id="24" name="Text 22"/>
          <p:cNvSpPr/>
          <p:nvPr/>
        </p:nvSpPr>
        <p:spPr>
          <a:xfrm>
            <a:off x="8945575" y="1078992"/>
            <a:ext cx="2743200" cy="457200"/>
          </a:xfrm>
          <a:prstGeom prst="rect">
            <a:avLst/>
          </a:prstGeom>
          <a:noFill/>
          <a:ln/>
        </p:spPr>
        <p:txBody>
          <a:bodyPr wrap="square" rtlCol="0" anchor="ctr"/>
          <a:lstStyle/>
          <a:p>
            <a:pPr algn="ctr" indent="0" marL="0">
              <a:buNone/>
            </a:pPr>
            <a:r>
              <a:rPr lang="en-US" sz="1200" b="1" dirty="0">
                <a:solidFill>
                  <a:srgbClr val="C2760C"/>
                </a:solidFill>
                <a:latin typeface="Calibri" pitchFamily="34" charset="0"/>
                <a:ea typeface="Calibri" pitchFamily="34" charset="-122"/>
                <a:cs typeface="Calibri" pitchFamily="34" charset="-120"/>
              </a:rPr>
              <a:t>BUILT, NOT SWITCHED ON</a:t>
            </a:r>
            <a:endParaRPr lang="en-US" sz="1200" dirty="0"/>
          </a:p>
        </p:txBody>
      </p:sp>
      <p:sp>
        <p:nvSpPr>
          <p:cNvPr id="25" name="Text 23"/>
          <p:cNvSpPr/>
          <p:nvPr/>
        </p:nvSpPr>
        <p:spPr>
          <a:xfrm>
            <a:off x="502920" y="1874520"/>
            <a:ext cx="11185855" cy="256032"/>
          </a:xfrm>
          <a:prstGeom prst="rect">
            <a:avLst/>
          </a:prstGeom>
          <a:noFill/>
          <a:ln/>
        </p:spPr>
        <p:txBody>
          <a:bodyPr wrap="square" rtlCol="0" anchor="ctr"/>
          <a:lstStyle/>
          <a:p>
            <a:pPr indent="0" marL="0">
              <a:buNone/>
            </a:pPr>
            <a:r>
              <a:rPr lang="en-US" sz="1050" b="1" spc="100" kern="0" dirty="0">
                <a:solidFill>
                  <a:srgbClr val="7A8399"/>
                </a:solidFill>
                <a:latin typeface="Calibri" pitchFamily="34" charset="0"/>
                <a:ea typeface="Calibri" pitchFamily="34" charset="-122"/>
                <a:cs typeface="Calibri" pitchFamily="34" charset="-120"/>
              </a:rPr>
              <a:t>WHAT THIS STEP MEANS</a:t>
            </a:r>
            <a:endParaRPr lang="en-US" sz="1050" dirty="0"/>
          </a:p>
        </p:txBody>
      </p:sp>
      <p:sp>
        <p:nvSpPr>
          <p:cNvPr id="26" name="Text 24"/>
          <p:cNvSpPr/>
          <p:nvPr/>
        </p:nvSpPr>
        <p:spPr>
          <a:xfrm>
            <a:off x="502920" y="2167128"/>
            <a:ext cx="11185855" cy="685800"/>
          </a:xfrm>
          <a:prstGeom prst="rect">
            <a:avLst/>
          </a:prstGeom>
          <a:noFill/>
          <a:ln/>
        </p:spPr>
        <p:txBody>
          <a:bodyPr wrap="square" rtlCol="0" anchor="t"/>
          <a:lstStyle/>
          <a:p>
            <a:pPr indent="0" marL="0">
              <a:lnSpc>
                <a:spcPct val="120000"/>
              </a:lnSpc>
              <a:buNone/>
            </a:pPr>
            <a:r>
              <a:rPr lang="en-US" sz="1300" dirty="0">
                <a:solidFill>
                  <a:srgbClr val="1A2035"/>
                </a:solidFill>
                <a:latin typeface="Calibri" pitchFamily="34" charset="0"/>
                <a:ea typeface="Calibri" pitchFamily="34" charset="-122"/>
                <a:cs typeface="Calibri" pitchFamily="34" charset="-120"/>
              </a:rPr>
              <a:t>Step 4 was building a smart assistant that looks at everything the system knows about a contact and suggests who to reach out to next, and why — instead of the team relying on memory or guesswork.</a:t>
            </a:r>
            <a:endParaRPr lang="en-US" sz="1300" dirty="0"/>
          </a:p>
        </p:txBody>
      </p:sp>
      <p:sp>
        <p:nvSpPr>
          <p:cNvPr id="27" name="Shape 25"/>
          <p:cNvSpPr/>
          <p:nvPr/>
        </p:nvSpPr>
        <p:spPr>
          <a:xfrm>
            <a:off x="502920" y="2944368"/>
            <a:ext cx="5455768" cy="3410712"/>
          </a:xfrm>
          <a:prstGeom prst="rect">
            <a:avLst/>
          </a:prstGeom>
          <a:solidFill>
            <a:srgbClr val="FBEEDC"/>
          </a:solidFill>
          <a:ln/>
        </p:spPr>
      </p:sp>
      <p:sp>
        <p:nvSpPr>
          <p:cNvPr id="28" name="Text 26"/>
          <p:cNvSpPr/>
          <p:nvPr/>
        </p:nvSpPr>
        <p:spPr>
          <a:xfrm>
            <a:off x="685800" y="3054096"/>
            <a:ext cx="5090008" cy="256032"/>
          </a:xfrm>
          <a:prstGeom prst="rect">
            <a:avLst/>
          </a:prstGeom>
          <a:noFill/>
          <a:ln/>
        </p:spPr>
        <p:txBody>
          <a:bodyPr wrap="square" rtlCol="0" anchor="ctr"/>
          <a:lstStyle/>
          <a:p>
            <a:pPr indent="0" marL="0">
              <a:buNone/>
            </a:pPr>
            <a:r>
              <a:rPr lang="en-US" sz="1050" b="1" spc="100" kern="0" dirty="0">
                <a:solidFill>
                  <a:srgbClr val="C2760C"/>
                </a:solidFill>
                <a:latin typeface="Calibri" pitchFamily="34" charset="0"/>
                <a:ea typeface="Calibri" pitchFamily="34" charset="-122"/>
                <a:cs typeface="Calibri" pitchFamily="34" charset="-120"/>
              </a:rPr>
              <a:t>THE HOLD-UP</a:t>
            </a:r>
            <a:endParaRPr lang="en-US" sz="1050" dirty="0"/>
          </a:p>
        </p:txBody>
      </p:sp>
      <p:sp>
        <p:nvSpPr>
          <p:cNvPr id="29" name="Text 27"/>
          <p:cNvSpPr/>
          <p:nvPr/>
        </p:nvSpPr>
        <p:spPr>
          <a:xfrm>
            <a:off x="685800"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The assistant is fully built and wired up, but it needs a paid subscription to a real AI provider (like the technology behind ChatGPT) to actually think. Without it, we verified this week that it returns a clearly labelled placeholder answer, not a real suggestion.</a:t>
            </a:r>
            <a:endParaRPr lang="en-US" sz="1150" dirty="0"/>
          </a:p>
        </p:txBody>
      </p:sp>
      <p:sp>
        <p:nvSpPr>
          <p:cNvPr id="30" name="Shape 28"/>
          <p:cNvSpPr/>
          <p:nvPr/>
        </p:nvSpPr>
        <p:spPr>
          <a:xfrm>
            <a:off x="6233008" y="2944368"/>
            <a:ext cx="5455768" cy="3410712"/>
          </a:xfrm>
          <a:prstGeom prst="rect">
            <a:avLst/>
          </a:prstGeom>
          <a:solidFill>
            <a:srgbClr val="E7F6ED"/>
          </a:solidFill>
          <a:ln/>
        </p:spPr>
      </p:sp>
      <p:sp>
        <p:nvSpPr>
          <p:cNvPr id="31" name="Text 29"/>
          <p:cNvSpPr/>
          <p:nvPr/>
        </p:nvSpPr>
        <p:spPr>
          <a:xfrm>
            <a:off x="6415888" y="3054096"/>
            <a:ext cx="5090008" cy="256032"/>
          </a:xfrm>
          <a:prstGeom prst="rect">
            <a:avLst/>
          </a:prstGeom>
          <a:noFill/>
          <a:ln/>
        </p:spPr>
        <p:txBody>
          <a:bodyPr wrap="square" rtlCol="0" anchor="ctr"/>
          <a:lstStyle/>
          <a:p>
            <a:pPr indent="0" marL="0">
              <a:buNone/>
            </a:pPr>
            <a:r>
              <a:rPr lang="en-US" sz="1050" b="1" spc="100" kern="0" dirty="0">
                <a:solidFill>
                  <a:srgbClr val="1F9D55"/>
                </a:solidFill>
                <a:latin typeface="Calibri" pitchFamily="34" charset="0"/>
                <a:ea typeface="Calibri" pitchFamily="34" charset="-122"/>
                <a:cs typeface="Calibri" pitchFamily="34" charset="-120"/>
              </a:rPr>
              <a:t>THE FIX</a:t>
            </a:r>
            <a:endParaRPr lang="en-US" sz="1050" dirty="0"/>
          </a:p>
        </p:txBody>
      </p:sp>
      <p:sp>
        <p:nvSpPr>
          <p:cNvPr id="32" name="Text 30"/>
          <p:cNvSpPr/>
          <p:nvPr/>
        </p:nvSpPr>
        <p:spPr>
          <a:xfrm>
            <a:off x="6415888"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Buy one AI subscription. Because all the wiring is already done and tested, every AI feature across the whole system switches on at once, immediately, the moment the subscription is active. No further building required.</a:t>
            </a:r>
            <a:endParaRPr lang="en-US" sz="1150" dirty="0"/>
          </a:p>
        </p:txBody>
      </p:sp>
      <p:sp>
        <p:nvSpPr>
          <p:cNvPr id="33" name="Text 31"/>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Our Journey, Step by Step</a:t>
            </a:r>
            <a:endParaRPr lang="en-US" sz="850" dirty="0"/>
          </a:p>
        </p:txBody>
      </p:sp>
      <p:sp>
        <p:nvSpPr>
          <p:cNvPr id="34" name="Text 32"/>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177849" cy="118872"/>
          </a:xfrm>
          <a:prstGeom prst="rect">
            <a:avLst/>
          </a:prstGeom>
          <a:solidFill>
            <a:srgbClr val="1F9D55"/>
          </a:solidFill>
          <a:ln/>
        </p:spPr>
      </p:sp>
      <p:sp>
        <p:nvSpPr>
          <p:cNvPr id="3" name="Text 1"/>
          <p:cNvSpPr/>
          <p:nvPr/>
        </p:nvSpPr>
        <p:spPr>
          <a:xfrm>
            <a:off x="502920"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1</a:t>
            </a:r>
            <a:endParaRPr lang="en-US" sz="800" dirty="0"/>
          </a:p>
        </p:txBody>
      </p:sp>
      <p:sp>
        <p:nvSpPr>
          <p:cNvPr id="4" name="Shape 2"/>
          <p:cNvSpPr/>
          <p:nvPr/>
        </p:nvSpPr>
        <p:spPr>
          <a:xfrm>
            <a:off x="1753921" y="384048"/>
            <a:ext cx="1177849" cy="118872"/>
          </a:xfrm>
          <a:prstGeom prst="rect">
            <a:avLst/>
          </a:prstGeom>
          <a:solidFill>
            <a:srgbClr val="1F9D55"/>
          </a:solidFill>
          <a:ln/>
        </p:spPr>
      </p:sp>
      <p:sp>
        <p:nvSpPr>
          <p:cNvPr id="5" name="Text 3"/>
          <p:cNvSpPr/>
          <p:nvPr/>
        </p:nvSpPr>
        <p:spPr>
          <a:xfrm>
            <a:off x="1753921"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2</a:t>
            </a:r>
            <a:endParaRPr lang="en-US" sz="800" dirty="0"/>
          </a:p>
        </p:txBody>
      </p:sp>
      <p:sp>
        <p:nvSpPr>
          <p:cNvPr id="6" name="Shape 4"/>
          <p:cNvSpPr/>
          <p:nvPr/>
        </p:nvSpPr>
        <p:spPr>
          <a:xfrm>
            <a:off x="3004922" y="384048"/>
            <a:ext cx="1177849" cy="118872"/>
          </a:xfrm>
          <a:prstGeom prst="rect">
            <a:avLst/>
          </a:prstGeom>
          <a:solidFill>
            <a:srgbClr val="1F9D55"/>
          </a:solidFill>
          <a:ln/>
        </p:spPr>
      </p:sp>
      <p:sp>
        <p:nvSpPr>
          <p:cNvPr id="7" name="Text 5"/>
          <p:cNvSpPr/>
          <p:nvPr/>
        </p:nvSpPr>
        <p:spPr>
          <a:xfrm>
            <a:off x="3004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3</a:t>
            </a:r>
            <a:endParaRPr lang="en-US" sz="800" dirty="0"/>
          </a:p>
        </p:txBody>
      </p:sp>
      <p:sp>
        <p:nvSpPr>
          <p:cNvPr id="8" name="Shape 6"/>
          <p:cNvSpPr/>
          <p:nvPr/>
        </p:nvSpPr>
        <p:spPr>
          <a:xfrm>
            <a:off x="4255922" y="384048"/>
            <a:ext cx="1177849" cy="118872"/>
          </a:xfrm>
          <a:prstGeom prst="rect">
            <a:avLst/>
          </a:prstGeom>
          <a:solidFill>
            <a:srgbClr val="C2760C"/>
          </a:solidFill>
          <a:ln/>
        </p:spPr>
      </p:sp>
      <p:sp>
        <p:nvSpPr>
          <p:cNvPr id="9" name="Text 7"/>
          <p:cNvSpPr/>
          <p:nvPr/>
        </p:nvSpPr>
        <p:spPr>
          <a:xfrm>
            <a:off x="4255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4</a:t>
            </a:r>
            <a:endParaRPr lang="en-US" sz="800" dirty="0"/>
          </a:p>
        </p:txBody>
      </p:sp>
      <p:sp>
        <p:nvSpPr>
          <p:cNvPr id="10" name="Shape 8"/>
          <p:cNvSpPr/>
          <p:nvPr/>
        </p:nvSpPr>
        <p:spPr>
          <a:xfrm>
            <a:off x="5506923" y="384048"/>
            <a:ext cx="1177849" cy="118872"/>
          </a:xfrm>
          <a:prstGeom prst="rect">
            <a:avLst/>
          </a:prstGeom>
          <a:solidFill>
            <a:srgbClr val="C2760C"/>
          </a:solidFill>
          <a:ln/>
        </p:spPr>
      </p:sp>
      <p:sp>
        <p:nvSpPr>
          <p:cNvPr id="11" name="Shape 9"/>
          <p:cNvSpPr/>
          <p:nvPr/>
        </p:nvSpPr>
        <p:spPr>
          <a:xfrm>
            <a:off x="5488635" y="338328"/>
            <a:ext cx="1214425" cy="210312"/>
          </a:xfrm>
          <a:prstGeom prst="rect">
            <a:avLst/>
          </a:prstGeom>
          <a:ln w="22225">
            <a:solidFill>
              <a:srgbClr val="0B1220"/>
            </a:solidFill>
            <a:prstDash val="solid"/>
          </a:ln>
        </p:spPr>
      </p:sp>
      <p:sp>
        <p:nvSpPr>
          <p:cNvPr id="12" name="Text 10"/>
          <p:cNvSpPr/>
          <p:nvPr/>
        </p:nvSpPr>
        <p:spPr>
          <a:xfrm>
            <a:off x="5506923" y="530352"/>
            <a:ext cx="1177849" cy="201168"/>
          </a:xfrm>
          <a:prstGeom prst="rect">
            <a:avLst/>
          </a:prstGeom>
          <a:noFill/>
          <a:ln/>
        </p:spPr>
        <p:txBody>
          <a:bodyPr wrap="square" rtlCol="0" anchor="ctr"/>
          <a:lstStyle/>
          <a:p>
            <a:pPr algn="ctr" indent="0" marL="0">
              <a:buNone/>
            </a:pPr>
            <a:r>
              <a:rPr lang="en-US" sz="800" b="1" dirty="0">
                <a:solidFill>
                  <a:srgbClr val="1A2035"/>
                </a:solidFill>
                <a:latin typeface="Calibri" pitchFamily="34" charset="0"/>
                <a:ea typeface="Calibri" pitchFamily="34" charset="-122"/>
                <a:cs typeface="Calibri" pitchFamily="34" charset="-120"/>
              </a:rPr>
              <a:t>5</a:t>
            </a:r>
            <a:endParaRPr lang="en-US" sz="800" dirty="0"/>
          </a:p>
        </p:txBody>
      </p:sp>
      <p:sp>
        <p:nvSpPr>
          <p:cNvPr id="13" name="Shape 11"/>
          <p:cNvSpPr/>
          <p:nvPr/>
        </p:nvSpPr>
        <p:spPr>
          <a:xfrm>
            <a:off x="6757924" y="384048"/>
            <a:ext cx="1177849" cy="118872"/>
          </a:xfrm>
          <a:prstGeom prst="rect">
            <a:avLst/>
          </a:prstGeom>
          <a:solidFill>
            <a:srgbClr val="8A90A2"/>
          </a:solidFill>
          <a:ln/>
        </p:spPr>
      </p:sp>
      <p:sp>
        <p:nvSpPr>
          <p:cNvPr id="14" name="Text 12"/>
          <p:cNvSpPr/>
          <p:nvPr/>
        </p:nvSpPr>
        <p:spPr>
          <a:xfrm>
            <a:off x="6757924"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6</a:t>
            </a:r>
            <a:endParaRPr lang="en-US" sz="800" dirty="0"/>
          </a:p>
        </p:txBody>
      </p:sp>
      <p:sp>
        <p:nvSpPr>
          <p:cNvPr id="15" name="Shape 13"/>
          <p:cNvSpPr/>
          <p:nvPr/>
        </p:nvSpPr>
        <p:spPr>
          <a:xfrm>
            <a:off x="8008925" y="384048"/>
            <a:ext cx="1177849" cy="118872"/>
          </a:xfrm>
          <a:prstGeom prst="rect">
            <a:avLst/>
          </a:prstGeom>
          <a:solidFill>
            <a:srgbClr val="8A90A2"/>
          </a:solidFill>
          <a:ln/>
        </p:spPr>
      </p:sp>
      <p:sp>
        <p:nvSpPr>
          <p:cNvPr id="16" name="Text 14"/>
          <p:cNvSpPr/>
          <p:nvPr/>
        </p:nvSpPr>
        <p:spPr>
          <a:xfrm>
            <a:off x="8008925"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7</a:t>
            </a:r>
            <a:endParaRPr lang="en-US" sz="800" dirty="0"/>
          </a:p>
        </p:txBody>
      </p:sp>
      <p:sp>
        <p:nvSpPr>
          <p:cNvPr id="17" name="Shape 15"/>
          <p:cNvSpPr/>
          <p:nvPr/>
        </p:nvSpPr>
        <p:spPr>
          <a:xfrm>
            <a:off x="9259926" y="384048"/>
            <a:ext cx="1177849" cy="118872"/>
          </a:xfrm>
          <a:prstGeom prst="rect">
            <a:avLst/>
          </a:prstGeom>
          <a:solidFill>
            <a:srgbClr val="8A90A2"/>
          </a:solidFill>
          <a:ln/>
        </p:spPr>
      </p:sp>
      <p:sp>
        <p:nvSpPr>
          <p:cNvPr id="18" name="Text 16"/>
          <p:cNvSpPr/>
          <p:nvPr/>
        </p:nvSpPr>
        <p:spPr>
          <a:xfrm>
            <a:off x="9259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8</a:t>
            </a:r>
            <a:endParaRPr lang="en-US" sz="800" dirty="0"/>
          </a:p>
        </p:txBody>
      </p:sp>
      <p:sp>
        <p:nvSpPr>
          <p:cNvPr id="19" name="Shape 17"/>
          <p:cNvSpPr/>
          <p:nvPr/>
        </p:nvSpPr>
        <p:spPr>
          <a:xfrm>
            <a:off x="10510926" y="384048"/>
            <a:ext cx="1177849" cy="118872"/>
          </a:xfrm>
          <a:prstGeom prst="rect">
            <a:avLst/>
          </a:prstGeom>
          <a:solidFill>
            <a:srgbClr val="8A90A2"/>
          </a:solidFill>
          <a:ln/>
        </p:spPr>
      </p:sp>
      <p:sp>
        <p:nvSpPr>
          <p:cNvPr id="20" name="Text 18"/>
          <p:cNvSpPr/>
          <p:nvPr/>
        </p:nvSpPr>
        <p:spPr>
          <a:xfrm>
            <a:off x="10510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9</a:t>
            </a:r>
            <a:endParaRPr lang="en-US" sz="800" dirty="0"/>
          </a:p>
        </p:txBody>
      </p:sp>
      <p:sp>
        <p:nvSpPr>
          <p:cNvPr id="21" name="Text 19"/>
          <p:cNvSpPr/>
          <p:nvPr/>
        </p:nvSpPr>
        <p:spPr>
          <a:xfrm>
            <a:off x="502920" y="749808"/>
            <a:ext cx="5486400" cy="274320"/>
          </a:xfrm>
          <a:prstGeom prst="rect">
            <a:avLst/>
          </a:prstGeom>
          <a:noFill/>
          <a:ln/>
        </p:spPr>
        <p:txBody>
          <a:bodyPr wrap="square"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STEP 5 OF 9</a:t>
            </a:r>
            <a:endParaRPr lang="en-US" sz="1100" dirty="0"/>
          </a:p>
        </p:txBody>
      </p:sp>
      <p:sp>
        <p:nvSpPr>
          <p:cNvPr id="22" name="Text 20"/>
          <p:cNvSpPr/>
          <p:nvPr/>
        </p:nvSpPr>
        <p:spPr>
          <a:xfrm>
            <a:off x="502920" y="1005840"/>
            <a:ext cx="8076895" cy="685800"/>
          </a:xfrm>
          <a:prstGeom prst="rect">
            <a:avLst/>
          </a:prstGeom>
          <a:noFill/>
          <a:ln/>
        </p:spPr>
        <p:txBody>
          <a:bodyPr wrap="square" rtlCol="0" anchor="ctr"/>
          <a:lstStyle/>
          <a:p>
            <a:pPr indent="0" marL="0">
              <a:buNone/>
            </a:pPr>
            <a:r>
              <a:rPr lang="en-US" sz="2500" b="1" dirty="0">
                <a:solidFill>
                  <a:srgbClr val="1A2035"/>
                </a:solidFill>
                <a:latin typeface="Cambria" pitchFamily="34" charset="0"/>
                <a:ea typeface="Cambria" pitchFamily="34" charset="-122"/>
                <a:cs typeface="Cambria" pitchFamily="34" charset="-120"/>
              </a:rPr>
              <a:t>Send real emails to banks</a:t>
            </a:r>
            <a:endParaRPr lang="en-US" sz="2500" dirty="0"/>
          </a:p>
        </p:txBody>
      </p:sp>
      <p:sp>
        <p:nvSpPr>
          <p:cNvPr id="23" name="Shape 21"/>
          <p:cNvSpPr/>
          <p:nvPr/>
        </p:nvSpPr>
        <p:spPr>
          <a:xfrm>
            <a:off x="8945575" y="1078992"/>
            <a:ext cx="2743200" cy="457200"/>
          </a:xfrm>
          <a:prstGeom prst="rect">
            <a:avLst/>
          </a:prstGeom>
          <a:solidFill>
            <a:srgbClr val="FBEEDC"/>
          </a:solidFill>
          <a:ln/>
        </p:spPr>
      </p:sp>
      <p:sp>
        <p:nvSpPr>
          <p:cNvPr id="24" name="Text 22"/>
          <p:cNvSpPr/>
          <p:nvPr/>
        </p:nvSpPr>
        <p:spPr>
          <a:xfrm>
            <a:off x="8945575" y="1078992"/>
            <a:ext cx="2743200" cy="457200"/>
          </a:xfrm>
          <a:prstGeom prst="rect">
            <a:avLst/>
          </a:prstGeom>
          <a:noFill/>
          <a:ln/>
        </p:spPr>
        <p:txBody>
          <a:bodyPr wrap="square" rtlCol="0" anchor="ctr"/>
          <a:lstStyle/>
          <a:p>
            <a:pPr algn="ctr" indent="0" marL="0">
              <a:buNone/>
            </a:pPr>
            <a:r>
              <a:rPr lang="en-US" sz="1200" b="1" dirty="0">
                <a:solidFill>
                  <a:srgbClr val="C2760C"/>
                </a:solidFill>
                <a:latin typeface="Calibri" pitchFamily="34" charset="0"/>
                <a:ea typeface="Calibri" pitchFamily="34" charset="-122"/>
                <a:cs typeface="Calibri" pitchFamily="34" charset="-120"/>
              </a:rPr>
              <a:t>BLOCKED — WAITING ON A PURCHASE</a:t>
            </a:r>
            <a:endParaRPr lang="en-US" sz="1200" dirty="0"/>
          </a:p>
        </p:txBody>
      </p:sp>
      <p:sp>
        <p:nvSpPr>
          <p:cNvPr id="25" name="Text 23"/>
          <p:cNvSpPr/>
          <p:nvPr/>
        </p:nvSpPr>
        <p:spPr>
          <a:xfrm>
            <a:off x="502920" y="1874520"/>
            <a:ext cx="11185855" cy="256032"/>
          </a:xfrm>
          <a:prstGeom prst="rect">
            <a:avLst/>
          </a:prstGeom>
          <a:noFill/>
          <a:ln/>
        </p:spPr>
        <p:txBody>
          <a:bodyPr wrap="square" rtlCol="0" anchor="ctr"/>
          <a:lstStyle/>
          <a:p>
            <a:pPr indent="0" marL="0">
              <a:buNone/>
            </a:pPr>
            <a:r>
              <a:rPr lang="en-US" sz="1050" b="1" spc="100" kern="0" dirty="0">
                <a:solidFill>
                  <a:srgbClr val="7A8399"/>
                </a:solidFill>
                <a:latin typeface="Calibri" pitchFamily="34" charset="0"/>
                <a:ea typeface="Calibri" pitchFamily="34" charset="-122"/>
                <a:cs typeface="Calibri" pitchFamily="34" charset="-120"/>
              </a:rPr>
              <a:t>WHAT THIS STEP MEANS</a:t>
            </a:r>
            <a:endParaRPr lang="en-US" sz="1050" dirty="0"/>
          </a:p>
        </p:txBody>
      </p:sp>
      <p:sp>
        <p:nvSpPr>
          <p:cNvPr id="26" name="Text 24"/>
          <p:cNvSpPr/>
          <p:nvPr/>
        </p:nvSpPr>
        <p:spPr>
          <a:xfrm>
            <a:off x="502920" y="2167128"/>
            <a:ext cx="11185855" cy="685800"/>
          </a:xfrm>
          <a:prstGeom prst="rect">
            <a:avLst/>
          </a:prstGeom>
          <a:noFill/>
          <a:ln/>
        </p:spPr>
        <p:txBody>
          <a:bodyPr wrap="square" rtlCol="0" anchor="t"/>
          <a:lstStyle/>
          <a:p>
            <a:pPr indent="0" marL="0">
              <a:lnSpc>
                <a:spcPct val="120000"/>
              </a:lnSpc>
              <a:buNone/>
            </a:pPr>
            <a:r>
              <a:rPr lang="en-US" sz="1300" dirty="0">
                <a:solidFill>
                  <a:srgbClr val="1A2035"/>
                </a:solidFill>
                <a:latin typeface="Calibri" pitchFamily="34" charset="0"/>
                <a:ea typeface="Calibri" pitchFamily="34" charset="-122"/>
                <a:cs typeface="Calibri" pitchFamily="34" charset="-120"/>
              </a:rPr>
              <a:t>Step 5 is being able to actually send outreach and campaign emails to real bank contacts, straight from the system, with open and click tracking.</a:t>
            </a:r>
            <a:endParaRPr lang="en-US" sz="1300" dirty="0"/>
          </a:p>
        </p:txBody>
      </p:sp>
      <p:sp>
        <p:nvSpPr>
          <p:cNvPr id="27" name="Shape 25"/>
          <p:cNvSpPr/>
          <p:nvPr/>
        </p:nvSpPr>
        <p:spPr>
          <a:xfrm>
            <a:off x="502920" y="2944368"/>
            <a:ext cx="5455768" cy="3410712"/>
          </a:xfrm>
          <a:prstGeom prst="rect">
            <a:avLst/>
          </a:prstGeom>
          <a:solidFill>
            <a:srgbClr val="FBEEDC"/>
          </a:solidFill>
          <a:ln/>
        </p:spPr>
      </p:sp>
      <p:sp>
        <p:nvSpPr>
          <p:cNvPr id="28" name="Text 26"/>
          <p:cNvSpPr/>
          <p:nvPr/>
        </p:nvSpPr>
        <p:spPr>
          <a:xfrm>
            <a:off x="685800" y="3054096"/>
            <a:ext cx="5090008" cy="256032"/>
          </a:xfrm>
          <a:prstGeom prst="rect">
            <a:avLst/>
          </a:prstGeom>
          <a:noFill/>
          <a:ln/>
        </p:spPr>
        <p:txBody>
          <a:bodyPr wrap="square" rtlCol="0" anchor="ctr"/>
          <a:lstStyle/>
          <a:p>
            <a:pPr indent="0" marL="0">
              <a:buNone/>
            </a:pPr>
            <a:r>
              <a:rPr lang="en-US" sz="1050" b="1" spc="100" kern="0" dirty="0">
                <a:solidFill>
                  <a:srgbClr val="C2760C"/>
                </a:solidFill>
                <a:latin typeface="Calibri" pitchFamily="34" charset="0"/>
                <a:ea typeface="Calibri" pitchFamily="34" charset="-122"/>
                <a:cs typeface="Calibri" pitchFamily="34" charset="-120"/>
              </a:rPr>
              <a:t>THE HOLD-UP</a:t>
            </a:r>
            <a:endParaRPr lang="en-US" sz="1050" dirty="0"/>
          </a:p>
        </p:txBody>
      </p:sp>
      <p:sp>
        <p:nvSpPr>
          <p:cNvPr id="29" name="Text 27"/>
          <p:cNvSpPr/>
          <p:nvPr/>
        </p:nvSpPr>
        <p:spPr>
          <a:xfrm>
            <a:off x="685800"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Sending is intentionally switched off right now, as a safety measure, so nothing goes out by mistake. Even once switched on, email providers like Gmail and Outlook only trust a sending address that has earned a reputation gradually — that trust cannot be built with code, only by sending real mail slowly over about two weeks.</a:t>
            </a:r>
            <a:endParaRPr lang="en-US" sz="1150" dirty="0"/>
          </a:p>
        </p:txBody>
      </p:sp>
      <p:sp>
        <p:nvSpPr>
          <p:cNvPr id="30" name="Shape 28"/>
          <p:cNvSpPr/>
          <p:nvPr/>
        </p:nvSpPr>
        <p:spPr>
          <a:xfrm>
            <a:off x="6233008" y="2944368"/>
            <a:ext cx="5455768" cy="3410712"/>
          </a:xfrm>
          <a:prstGeom prst="rect">
            <a:avLst/>
          </a:prstGeom>
          <a:solidFill>
            <a:srgbClr val="E7F6ED"/>
          </a:solidFill>
          <a:ln/>
        </p:spPr>
      </p:sp>
      <p:sp>
        <p:nvSpPr>
          <p:cNvPr id="31" name="Text 29"/>
          <p:cNvSpPr/>
          <p:nvPr/>
        </p:nvSpPr>
        <p:spPr>
          <a:xfrm>
            <a:off x="6415888" y="3054096"/>
            <a:ext cx="5090008" cy="256032"/>
          </a:xfrm>
          <a:prstGeom prst="rect">
            <a:avLst/>
          </a:prstGeom>
          <a:noFill/>
          <a:ln/>
        </p:spPr>
        <p:txBody>
          <a:bodyPr wrap="square" rtlCol="0" anchor="ctr"/>
          <a:lstStyle/>
          <a:p>
            <a:pPr indent="0" marL="0">
              <a:buNone/>
            </a:pPr>
            <a:r>
              <a:rPr lang="en-US" sz="1050" b="1" spc="100" kern="0" dirty="0">
                <a:solidFill>
                  <a:srgbClr val="1F9D55"/>
                </a:solidFill>
                <a:latin typeface="Calibri" pitchFamily="34" charset="0"/>
                <a:ea typeface="Calibri" pitchFamily="34" charset="-122"/>
                <a:cs typeface="Calibri" pitchFamily="34" charset="-120"/>
              </a:rPr>
              <a:t>THE FIX</a:t>
            </a:r>
            <a:endParaRPr lang="en-US" sz="1050" dirty="0"/>
          </a:p>
        </p:txBody>
      </p:sp>
      <p:sp>
        <p:nvSpPr>
          <p:cNvPr id="32" name="Text 30"/>
          <p:cNvSpPr/>
          <p:nvPr/>
        </p:nvSpPr>
        <p:spPr>
          <a:xfrm>
            <a:off x="6415888"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Buy our own sending domain and an email-sending service, then run the two-week 'warm-up' period before full use. This should be started early, since the two weeks cannot be rushed.</a:t>
            </a:r>
            <a:endParaRPr lang="en-US" sz="1150" dirty="0"/>
          </a:p>
        </p:txBody>
      </p:sp>
      <p:sp>
        <p:nvSpPr>
          <p:cNvPr id="33" name="Text 31"/>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Our Journey, Step by Step</a:t>
            </a:r>
            <a:endParaRPr lang="en-US" sz="850" dirty="0"/>
          </a:p>
        </p:txBody>
      </p:sp>
      <p:sp>
        <p:nvSpPr>
          <p:cNvPr id="34" name="Text 32"/>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177849" cy="118872"/>
          </a:xfrm>
          <a:prstGeom prst="rect">
            <a:avLst/>
          </a:prstGeom>
          <a:solidFill>
            <a:srgbClr val="1F9D55"/>
          </a:solidFill>
          <a:ln/>
        </p:spPr>
      </p:sp>
      <p:sp>
        <p:nvSpPr>
          <p:cNvPr id="3" name="Text 1"/>
          <p:cNvSpPr/>
          <p:nvPr/>
        </p:nvSpPr>
        <p:spPr>
          <a:xfrm>
            <a:off x="502920"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1</a:t>
            </a:r>
            <a:endParaRPr lang="en-US" sz="800" dirty="0"/>
          </a:p>
        </p:txBody>
      </p:sp>
      <p:sp>
        <p:nvSpPr>
          <p:cNvPr id="4" name="Shape 2"/>
          <p:cNvSpPr/>
          <p:nvPr/>
        </p:nvSpPr>
        <p:spPr>
          <a:xfrm>
            <a:off x="1753921" y="384048"/>
            <a:ext cx="1177849" cy="118872"/>
          </a:xfrm>
          <a:prstGeom prst="rect">
            <a:avLst/>
          </a:prstGeom>
          <a:solidFill>
            <a:srgbClr val="1F9D55"/>
          </a:solidFill>
          <a:ln/>
        </p:spPr>
      </p:sp>
      <p:sp>
        <p:nvSpPr>
          <p:cNvPr id="5" name="Text 3"/>
          <p:cNvSpPr/>
          <p:nvPr/>
        </p:nvSpPr>
        <p:spPr>
          <a:xfrm>
            <a:off x="1753921"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2</a:t>
            </a:r>
            <a:endParaRPr lang="en-US" sz="800" dirty="0"/>
          </a:p>
        </p:txBody>
      </p:sp>
      <p:sp>
        <p:nvSpPr>
          <p:cNvPr id="6" name="Shape 4"/>
          <p:cNvSpPr/>
          <p:nvPr/>
        </p:nvSpPr>
        <p:spPr>
          <a:xfrm>
            <a:off x="3004922" y="384048"/>
            <a:ext cx="1177849" cy="118872"/>
          </a:xfrm>
          <a:prstGeom prst="rect">
            <a:avLst/>
          </a:prstGeom>
          <a:solidFill>
            <a:srgbClr val="1F9D55"/>
          </a:solidFill>
          <a:ln/>
        </p:spPr>
      </p:sp>
      <p:sp>
        <p:nvSpPr>
          <p:cNvPr id="7" name="Text 5"/>
          <p:cNvSpPr/>
          <p:nvPr/>
        </p:nvSpPr>
        <p:spPr>
          <a:xfrm>
            <a:off x="3004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3</a:t>
            </a:r>
            <a:endParaRPr lang="en-US" sz="800" dirty="0"/>
          </a:p>
        </p:txBody>
      </p:sp>
      <p:sp>
        <p:nvSpPr>
          <p:cNvPr id="8" name="Shape 6"/>
          <p:cNvSpPr/>
          <p:nvPr/>
        </p:nvSpPr>
        <p:spPr>
          <a:xfrm>
            <a:off x="4255922" y="384048"/>
            <a:ext cx="1177849" cy="118872"/>
          </a:xfrm>
          <a:prstGeom prst="rect">
            <a:avLst/>
          </a:prstGeom>
          <a:solidFill>
            <a:srgbClr val="C2760C"/>
          </a:solidFill>
          <a:ln/>
        </p:spPr>
      </p:sp>
      <p:sp>
        <p:nvSpPr>
          <p:cNvPr id="9" name="Text 7"/>
          <p:cNvSpPr/>
          <p:nvPr/>
        </p:nvSpPr>
        <p:spPr>
          <a:xfrm>
            <a:off x="4255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4</a:t>
            </a:r>
            <a:endParaRPr lang="en-US" sz="800" dirty="0"/>
          </a:p>
        </p:txBody>
      </p:sp>
      <p:sp>
        <p:nvSpPr>
          <p:cNvPr id="10" name="Shape 8"/>
          <p:cNvSpPr/>
          <p:nvPr/>
        </p:nvSpPr>
        <p:spPr>
          <a:xfrm>
            <a:off x="5506923" y="384048"/>
            <a:ext cx="1177849" cy="118872"/>
          </a:xfrm>
          <a:prstGeom prst="rect">
            <a:avLst/>
          </a:prstGeom>
          <a:solidFill>
            <a:srgbClr val="C2760C"/>
          </a:solidFill>
          <a:ln/>
        </p:spPr>
      </p:sp>
      <p:sp>
        <p:nvSpPr>
          <p:cNvPr id="11" name="Text 9"/>
          <p:cNvSpPr/>
          <p:nvPr/>
        </p:nvSpPr>
        <p:spPr>
          <a:xfrm>
            <a:off x="5506923"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5</a:t>
            </a:r>
            <a:endParaRPr lang="en-US" sz="800" dirty="0"/>
          </a:p>
        </p:txBody>
      </p:sp>
      <p:sp>
        <p:nvSpPr>
          <p:cNvPr id="12" name="Shape 10"/>
          <p:cNvSpPr/>
          <p:nvPr/>
        </p:nvSpPr>
        <p:spPr>
          <a:xfrm>
            <a:off x="6757924" y="384048"/>
            <a:ext cx="1177849" cy="118872"/>
          </a:xfrm>
          <a:prstGeom prst="rect">
            <a:avLst/>
          </a:prstGeom>
          <a:solidFill>
            <a:srgbClr val="8A90A2"/>
          </a:solidFill>
          <a:ln/>
        </p:spPr>
      </p:sp>
      <p:sp>
        <p:nvSpPr>
          <p:cNvPr id="13" name="Shape 11"/>
          <p:cNvSpPr/>
          <p:nvPr/>
        </p:nvSpPr>
        <p:spPr>
          <a:xfrm>
            <a:off x="6739636" y="338328"/>
            <a:ext cx="1214425" cy="210312"/>
          </a:xfrm>
          <a:prstGeom prst="rect">
            <a:avLst/>
          </a:prstGeom>
          <a:ln w="22225">
            <a:solidFill>
              <a:srgbClr val="0B1220"/>
            </a:solidFill>
            <a:prstDash val="solid"/>
          </a:ln>
        </p:spPr>
      </p:sp>
      <p:sp>
        <p:nvSpPr>
          <p:cNvPr id="14" name="Text 12"/>
          <p:cNvSpPr/>
          <p:nvPr/>
        </p:nvSpPr>
        <p:spPr>
          <a:xfrm>
            <a:off x="6757924" y="530352"/>
            <a:ext cx="1177849" cy="201168"/>
          </a:xfrm>
          <a:prstGeom prst="rect">
            <a:avLst/>
          </a:prstGeom>
          <a:noFill/>
          <a:ln/>
        </p:spPr>
        <p:txBody>
          <a:bodyPr wrap="square" rtlCol="0" anchor="ctr"/>
          <a:lstStyle/>
          <a:p>
            <a:pPr algn="ctr" indent="0" marL="0">
              <a:buNone/>
            </a:pPr>
            <a:r>
              <a:rPr lang="en-US" sz="800" b="1" dirty="0">
                <a:solidFill>
                  <a:srgbClr val="1A2035"/>
                </a:solidFill>
                <a:latin typeface="Calibri" pitchFamily="34" charset="0"/>
                <a:ea typeface="Calibri" pitchFamily="34" charset="-122"/>
                <a:cs typeface="Calibri" pitchFamily="34" charset="-120"/>
              </a:rPr>
              <a:t>6</a:t>
            </a:r>
            <a:endParaRPr lang="en-US" sz="800" dirty="0"/>
          </a:p>
        </p:txBody>
      </p:sp>
      <p:sp>
        <p:nvSpPr>
          <p:cNvPr id="15" name="Shape 13"/>
          <p:cNvSpPr/>
          <p:nvPr/>
        </p:nvSpPr>
        <p:spPr>
          <a:xfrm>
            <a:off x="8008925" y="384048"/>
            <a:ext cx="1177849" cy="118872"/>
          </a:xfrm>
          <a:prstGeom prst="rect">
            <a:avLst/>
          </a:prstGeom>
          <a:solidFill>
            <a:srgbClr val="8A90A2"/>
          </a:solidFill>
          <a:ln/>
        </p:spPr>
      </p:sp>
      <p:sp>
        <p:nvSpPr>
          <p:cNvPr id="16" name="Text 14"/>
          <p:cNvSpPr/>
          <p:nvPr/>
        </p:nvSpPr>
        <p:spPr>
          <a:xfrm>
            <a:off x="8008925"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7</a:t>
            </a:r>
            <a:endParaRPr lang="en-US" sz="800" dirty="0"/>
          </a:p>
        </p:txBody>
      </p:sp>
      <p:sp>
        <p:nvSpPr>
          <p:cNvPr id="17" name="Shape 15"/>
          <p:cNvSpPr/>
          <p:nvPr/>
        </p:nvSpPr>
        <p:spPr>
          <a:xfrm>
            <a:off x="9259926" y="384048"/>
            <a:ext cx="1177849" cy="118872"/>
          </a:xfrm>
          <a:prstGeom prst="rect">
            <a:avLst/>
          </a:prstGeom>
          <a:solidFill>
            <a:srgbClr val="8A90A2"/>
          </a:solidFill>
          <a:ln/>
        </p:spPr>
      </p:sp>
      <p:sp>
        <p:nvSpPr>
          <p:cNvPr id="18" name="Text 16"/>
          <p:cNvSpPr/>
          <p:nvPr/>
        </p:nvSpPr>
        <p:spPr>
          <a:xfrm>
            <a:off x="9259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8</a:t>
            </a:r>
            <a:endParaRPr lang="en-US" sz="800" dirty="0"/>
          </a:p>
        </p:txBody>
      </p:sp>
      <p:sp>
        <p:nvSpPr>
          <p:cNvPr id="19" name="Shape 17"/>
          <p:cNvSpPr/>
          <p:nvPr/>
        </p:nvSpPr>
        <p:spPr>
          <a:xfrm>
            <a:off x="10510926" y="384048"/>
            <a:ext cx="1177849" cy="118872"/>
          </a:xfrm>
          <a:prstGeom prst="rect">
            <a:avLst/>
          </a:prstGeom>
          <a:solidFill>
            <a:srgbClr val="8A90A2"/>
          </a:solidFill>
          <a:ln/>
        </p:spPr>
      </p:sp>
      <p:sp>
        <p:nvSpPr>
          <p:cNvPr id="20" name="Text 18"/>
          <p:cNvSpPr/>
          <p:nvPr/>
        </p:nvSpPr>
        <p:spPr>
          <a:xfrm>
            <a:off x="10510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9</a:t>
            </a:r>
            <a:endParaRPr lang="en-US" sz="800" dirty="0"/>
          </a:p>
        </p:txBody>
      </p:sp>
      <p:sp>
        <p:nvSpPr>
          <p:cNvPr id="21" name="Text 19"/>
          <p:cNvSpPr/>
          <p:nvPr/>
        </p:nvSpPr>
        <p:spPr>
          <a:xfrm>
            <a:off x="502920" y="749808"/>
            <a:ext cx="5486400" cy="274320"/>
          </a:xfrm>
          <a:prstGeom prst="rect">
            <a:avLst/>
          </a:prstGeom>
          <a:noFill/>
          <a:ln/>
        </p:spPr>
        <p:txBody>
          <a:bodyPr wrap="square"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STEP 6 OF 9</a:t>
            </a:r>
            <a:endParaRPr lang="en-US" sz="1100" dirty="0"/>
          </a:p>
        </p:txBody>
      </p:sp>
      <p:sp>
        <p:nvSpPr>
          <p:cNvPr id="22" name="Text 20"/>
          <p:cNvSpPr/>
          <p:nvPr/>
        </p:nvSpPr>
        <p:spPr>
          <a:xfrm>
            <a:off x="502920" y="1005840"/>
            <a:ext cx="8076895" cy="685800"/>
          </a:xfrm>
          <a:prstGeom prst="rect">
            <a:avLst/>
          </a:prstGeom>
          <a:noFill/>
          <a:ln/>
        </p:spPr>
        <p:txBody>
          <a:bodyPr wrap="square" rtlCol="0" anchor="ctr"/>
          <a:lstStyle/>
          <a:p>
            <a:pPr indent="0" marL="0">
              <a:buNone/>
            </a:pPr>
            <a:r>
              <a:rPr lang="en-US" sz="2500" b="1" dirty="0">
                <a:solidFill>
                  <a:srgbClr val="1A2035"/>
                </a:solidFill>
                <a:latin typeface="Cambria" pitchFamily="34" charset="0"/>
                <a:ea typeface="Cambria" pitchFamily="34" charset="-122"/>
                <a:cs typeface="Cambria" pitchFamily="34" charset="-120"/>
              </a:rPr>
              <a:t>Confirm our contact data is correct</a:t>
            </a:r>
            <a:endParaRPr lang="en-US" sz="2500" dirty="0"/>
          </a:p>
        </p:txBody>
      </p:sp>
      <p:sp>
        <p:nvSpPr>
          <p:cNvPr id="23" name="Shape 21"/>
          <p:cNvSpPr/>
          <p:nvPr/>
        </p:nvSpPr>
        <p:spPr>
          <a:xfrm>
            <a:off x="8945575" y="1078992"/>
            <a:ext cx="2743200" cy="457200"/>
          </a:xfrm>
          <a:prstGeom prst="rect">
            <a:avLst/>
          </a:prstGeom>
          <a:solidFill>
            <a:srgbClr val="EDEEF2"/>
          </a:solidFill>
          <a:ln/>
        </p:spPr>
      </p:sp>
      <p:sp>
        <p:nvSpPr>
          <p:cNvPr id="24" name="Text 22"/>
          <p:cNvSpPr/>
          <p:nvPr/>
        </p:nvSpPr>
        <p:spPr>
          <a:xfrm>
            <a:off x="8945575" y="1078992"/>
            <a:ext cx="2743200" cy="457200"/>
          </a:xfrm>
          <a:prstGeom prst="rect">
            <a:avLst/>
          </a:prstGeom>
          <a:noFill/>
          <a:ln/>
        </p:spPr>
        <p:txBody>
          <a:bodyPr wrap="square" rtlCol="0" anchor="ctr"/>
          <a:lstStyle/>
          <a:p>
            <a:pPr algn="ctr" indent="0" marL="0">
              <a:buNone/>
            </a:pPr>
            <a:r>
              <a:rPr lang="en-US" sz="1200" b="1" dirty="0">
                <a:solidFill>
                  <a:srgbClr val="8A90A2"/>
                </a:solidFill>
                <a:latin typeface="Calibri" pitchFamily="34" charset="0"/>
                <a:ea typeface="Calibri" pitchFamily="34" charset="-122"/>
                <a:cs typeface="Calibri" pitchFamily="34" charset="-120"/>
              </a:rPr>
              <a:t>NOT STARTED YET</a:t>
            </a:r>
            <a:endParaRPr lang="en-US" sz="1200" dirty="0"/>
          </a:p>
        </p:txBody>
      </p:sp>
      <p:sp>
        <p:nvSpPr>
          <p:cNvPr id="25" name="Text 23"/>
          <p:cNvSpPr/>
          <p:nvPr/>
        </p:nvSpPr>
        <p:spPr>
          <a:xfrm>
            <a:off x="502920" y="1874520"/>
            <a:ext cx="11185855" cy="256032"/>
          </a:xfrm>
          <a:prstGeom prst="rect">
            <a:avLst/>
          </a:prstGeom>
          <a:noFill/>
          <a:ln/>
        </p:spPr>
        <p:txBody>
          <a:bodyPr wrap="square" rtlCol="0" anchor="ctr"/>
          <a:lstStyle/>
          <a:p>
            <a:pPr indent="0" marL="0">
              <a:buNone/>
            </a:pPr>
            <a:r>
              <a:rPr lang="en-US" sz="1050" b="1" spc="100" kern="0" dirty="0">
                <a:solidFill>
                  <a:srgbClr val="7A8399"/>
                </a:solidFill>
                <a:latin typeface="Calibri" pitchFamily="34" charset="0"/>
                <a:ea typeface="Calibri" pitchFamily="34" charset="-122"/>
                <a:cs typeface="Calibri" pitchFamily="34" charset="-120"/>
              </a:rPr>
              <a:t>WHAT THIS STEP MEANS</a:t>
            </a:r>
            <a:endParaRPr lang="en-US" sz="1050" dirty="0"/>
          </a:p>
        </p:txBody>
      </p:sp>
      <p:sp>
        <p:nvSpPr>
          <p:cNvPr id="26" name="Text 24"/>
          <p:cNvSpPr/>
          <p:nvPr/>
        </p:nvSpPr>
        <p:spPr>
          <a:xfrm>
            <a:off x="502920" y="2167128"/>
            <a:ext cx="11185855" cy="685800"/>
          </a:xfrm>
          <a:prstGeom prst="rect">
            <a:avLst/>
          </a:prstGeom>
          <a:noFill/>
          <a:ln/>
        </p:spPr>
        <p:txBody>
          <a:bodyPr wrap="square" rtlCol="0" anchor="t"/>
          <a:lstStyle/>
          <a:p>
            <a:pPr indent="0" marL="0">
              <a:lnSpc>
                <a:spcPct val="120000"/>
              </a:lnSpc>
              <a:buNone/>
            </a:pPr>
            <a:r>
              <a:rPr lang="en-US" sz="1300" dirty="0">
                <a:solidFill>
                  <a:srgbClr val="1A2035"/>
                </a:solidFill>
                <a:latin typeface="Calibri" pitchFamily="34" charset="0"/>
                <a:ea typeface="Calibri" pitchFamily="34" charset="-122"/>
                <a:cs typeface="Calibri" pitchFamily="34" charset="-120"/>
              </a:rPr>
              <a:t>Step 6 is independently double-checking that the emails and phone numbers we have for our 8,000+ contacts are actually correct and active, before we rely on them for real outreach.</a:t>
            </a:r>
            <a:endParaRPr lang="en-US" sz="1300" dirty="0"/>
          </a:p>
        </p:txBody>
      </p:sp>
      <p:sp>
        <p:nvSpPr>
          <p:cNvPr id="27" name="Shape 25"/>
          <p:cNvSpPr/>
          <p:nvPr/>
        </p:nvSpPr>
        <p:spPr>
          <a:xfrm>
            <a:off x="502920" y="2944368"/>
            <a:ext cx="5455768" cy="3410712"/>
          </a:xfrm>
          <a:prstGeom prst="rect">
            <a:avLst/>
          </a:prstGeom>
          <a:solidFill>
            <a:srgbClr val="FBEEDC"/>
          </a:solidFill>
          <a:ln/>
        </p:spPr>
      </p:sp>
      <p:sp>
        <p:nvSpPr>
          <p:cNvPr id="28" name="Text 26"/>
          <p:cNvSpPr/>
          <p:nvPr/>
        </p:nvSpPr>
        <p:spPr>
          <a:xfrm>
            <a:off x="685800" y="3054096"/>
            <a:ext cx="5090008" cy="256032"/>
          </a:xfrm>
          <a:prstGeom prst="rect">
            <a:avLst/>
          </a:prstGeom>
          <a:noFill/>
          <a:ln/>
        </p:spPr>
        <p:txBody>
          <a:bodyPr wrap="square" rtlCol="0" anchor="ctr"/>
          <a:lstStyle/>
          <a:p>
            <a:pPr indent="0" marL="0">
              <a:buNone/>
            </a:pPr>
            <a:r>
              <a:rPr lang="en-US" sz="1050" b="1" spc="100" kern="0" dirty="0">
                <a:solidFill>
                  <a:srgbClr val="C2760C"/>
                </a:solidFill>
                <a:latin typeface="Calibri" pitchFamily="34" charset="0"/>
                <a:ea typeface="Calibri" pitchFamily="34" charset="-122"/>
                <a:cs typeface="Calibri" pitchFamily="34" charset="-120"/>
              </a:rPr>
              <a:t>THE HOLD-UP</a:t>
            </a:r>
            <a:endParaRPr lang="en-US" sz="1050" dirty="0"/>
          </a:p>
        </p:txBody>
      </p:sp>
      <p:sp>
        <p:nvSpPr>
          <p:cNvPr id="29" name="Text 27"/>
          <p:cNvSpPr/>
          <p:nvPr/>
        </p:nvSpPr>
        <p:spPr>
          <a:xfrm>
            <a:off x="685800"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Our contact details come from our own research, which is valuable but self-reported. There is no independent, paid verification yet — confirmed emails and phone numbers at this scale are a product only a few specialist companies sell, and they can't be reliably guessed or built in-house.</a:t>
            </a:r>
            <a:endParaRPr lang="en-US" sz="1150" dirty="0"/>
          </a:p>
        </p:txBody>
      </p:sp>
      <p:sp>
        <p:nvSpPr>
          <p:cNvPr id="30" name="Shape 28"/>
          <p:cNvSpPr/>
          <p:nvPr/>
        </p:nvSpPr>
        <p:spPr>
          <a:xfrm>
            <a:off x="6233008" y="2944368"/>
            <a:ext cx="5455768" cy="3410712"/>
          </a:xfrm>
          <a:prstGeom prst="rect">
            <a:avLst/>
          </a:prstGeom>
          <a:solidFill>
            <a:srgbClr val="E7F6ED"/>
          </a:solidFill>
          <a:ln/>
        </p:spPr>
      </p:sp>
      <p:sp>
        <p:nvSpPr>
          <p:cNvPr id="31" name="Text 29"/>
          <p:cNvSpPr/>
          <p:nvPr/>
        </p:nvSpPr>
        <p:spPr>
          <a:xfrm>
            <a:off x="6415888" y="3054096"/>
            <a:ext cx="5090008" cy="256032"/>
          </a:xfrm>
          <a:prstGeom prst="rect">
            <a:avLst/>
          </a:prstGeom>
          <a:noFill/>
          <a:ln/>
        </p:spPr>
        <p:txBody>
          <a:bodyPr wrap="square" rtlCol="0" anchor="ctr"/>
          <a:lstStyle/>
          <a:p>
            <a:pPr indent="0" marL="0">
              <a:buNone/>
            </a:pPr>
            <a:r>
              <a:rPr lang="en-US" sz="1050" b="1" spc="100" kern="0" dirty="0">
                <a:solidFill>
                  <a:srgbClr val="1F9D55"/>
                </a:solidFill>
                <a:latin typeface="Calibri" pitchFamily="34" charset="0"/>
                <a:ea typeface="Calibri" pitchFamily="34" charset="-122"/>
                <a:cs typeface="Calibri" pitchFamily="34" charset="-120"/>
              </a:rPr>
              <a:t>THE FIX</a:t>
            </a:r>
            <a:endParaRPr lang="en-US" sz="1050" dirty="0"/>
          </a:p>
        </p:txBody>
      </p:sp>
      <p:sp>
        <p:nvSpPr>
          <p:cNvPr id="32" name="Text 30"/>
          <p:cNvSpPr/>
          <p:nvPr/>
        </p:nvSpPr>
        <p:spPr>
          <a:xfrm>
            <a:off x="6415888"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Subscribe to one contact-verification service. The technical work to connect it is already built and ready — turning it on takes about a week once the subscription starts.</a:t>
            </a:r>
            <a:endParaRPr lang="en-US" sz="1150" dirty="0"/>
          </a:p>
        </p:txBody>
      </p:sp>
      <p:sp>
        <p:nvSpPr>
          <p:cNvPr id="33" name="Text 31"/>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Our Journey, Step by Step</a:t>
            </a:r>
            <a:endParaRPr lang="en-US" sz="850" dirty="0"/>
          </a:p>
        </p:txBody>
      </p:sp>
      <p:sp>
        <p:nvSpPr>
          <p:cNvPr id="34" name="Text 32"/>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177849" cy="118872"/>
          </a:xfrm>
          <a:prstGeom prst="rect">
            <a:avLst/>
          </a:prstGeom>
          <a:solidFill>
            <a:srgbClr val="1F9D55"/>
          </a:solidFill>
          <a:ln/>
        </p:spPr>
      </p:sp>
      <p:sp>
        <p:nvSpPr>
          <p:cNvPr id="3" name="Text 1"/>
          <p:cNvSpPr/>
          <p:nvPr/>
        </p:nvSpPr>
        <p:spPr>
          <a:xfrm>
            <a:off x="502920"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1</a:t>
            </a:r>
            <a:endParaRPr lang="en-US" sz="800" dirty="0"/>
          </a:p>
        </p:txBody>
      </p:sp>
      <p:sp>
        <p:nvSpPr>
          <p:cNvPr id="4" name="Shape 2"/>
          <p:cNvSpPr/>
          <p:nvPr/>
        </p:nvSpPr>
        <p:spPr>
          <a:xfrm>
            <a:off x="1753921" y="384048"/>
            <a:ext cx="1177849" cy="118872"/>
          </a:xfrm>
          <a:prstGeom prst="rect">
            <a:avLst/>
          </a:prstGeom>
          <a:solidFill>
            <a:srgbClr val="1F9D55"/>
          </a:solidFill>
          <a:ln/>
        </p:spPr>
      </p:sp>
      <p:sp>
        <p:nvSpPr>
          <p:cNvPr id="5" name="Text 3"/>
          <p:cNvSpPr/>
          <p:nvPr/>
        </p:nvSpPr>
        <p:spPr>
          <a:xfrm>
            <a:off x="1753921"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2</a:t>
            </a:r>
            <a:endParaRPr lang="en-US" sz="800" dirty="0"/>
          </a:p>
        </p:txBody>
      </p:sp>
      <p:sp>
        <p:nvSpPr>
          <p:cNvPr id="6" name="Shape 4"/>
          <p:cNvSpPr/>
          <p:nvPr/>
        </p:nvSpPr>
        <p:spPr>
          <a:xfrm>
            <a:off x="3004922" y="384048"/>
            <a:ext cx="1177849" cy="118872"/>
          </a:xfrm>
          <a:prstGeom prst="rect">
            <a:avLst/>
          </a:prstGeom>
          <a:solidFill>
            <a:srgbClr val="1F9D55"/>
          </a:solidFill>
          <a:ln/>
        </p:spPr>
      </p:sp>
      <p:sp>
        <p:nvSpPr>
          <p:cNvPr id="7" name="Text 5"/>
          <p:cNvSpPr/>
          <p:nvPr/>
        </p:nvSpPr>
        <p:spPr>
          <a:xfrm>
            <a:off x="3004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3</a:t>
            </a:r>
            <a:endParaRPr lang="en-US" sz="800" dirty="0"/>
          </a:p>
        </p:txBody>
      </p:sp>
      <p:sp>
        <p:nvSpPr>
          <p:cNvPr id="8" name="Shape 6"/>
          <p:cNvSpPr/>
          <p:nvPr/>
        </p:nvSpPr>
        <p:spPr>
          <a:xfrm>
            <a:off x="4255922" y="384048"/>
            <a:ext cx="1177849" cy="118872"/>
          </a:xfrm>
          <a:prstGeom prst="rect">
            <a:avLst/>
          </a:prstGeom>
          <a:solidFill>
            <a:srgbClr val="C2760C"/>
          </a:solidFill>
          <a:ln/>
        </p:spPr>
      </p:sp>
      <p:sp>
        <p:nvSpPr>
          <p:cNvPr id="9" name="Text 7"/>
          <p:cNvSpPr/>
          <p:nvPr/>
        </p:nvSpPr>
        <p:spPr>
          <a:xfrm>
            <a:off x="4255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4</a:t>
            </a:r>
            <a:endParaRPr lang="en-US" sz="800" dirty="0"/>
          </a:p>
        </p:txBody>
      </p:sp>
      <p:sp>
        <p:nvSpPr>
          <p:cNvPr id="10" name="Shape 8"/>
          <p:cNvSpPr/>
          <p:nvPr/>
        </p:nvSpPr>
        <p:spPr>
          <a:xfrm>
            <a:off x="5506923" y="384048"/>
            <a:ext cx="1177849" cy="118872"/>
          </a:xfrm>
          <a:prstGeom prst="rect">
            <a:avLst/>
          </a:prstGeom>
          <a:solidFill>
            <a:srgbClr val="C2760C"/>
          </a:solidFill>
          <a:ln/>
        </p:spPr>
      </p:sp>
      <p:sp>
        <p:nvSpPr>
          <p:cNvPr id="11" name="Text 9"/>
          <p:cNvSpPr/>
          <p:nvPr/>
        </p:nvSpPr>
        <p:spPr>
          <a:xfrm>
            <a:off x="5506923"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5</a:t>
            </a:r>
            <a:endParaRPr lang="en-US" sz="800" dirty="0"/>
          </a:p>
        </p:txBody>
      </p:sp>
      <p:sp>
        <p:nvSpPr>
          <p:cNvPr id="12" name="Shape 10"/>
          <p:cNvSpPr/>
          <p:nvPr/>
        </p:nvSpPr>
        <p:spPr>
          <a:xfrm>
            <a:off x="6757924" y="384048"/>
            <a:ext cx="1177849" cy="118872"/>
          </a:xfrm>
          <a:prstGeom prst="rect">
            <a:avLst/>
          </a:prstGeom>
          <a:solidFill>
            <a:srgbClr val="8A90A2"/>
          </a:solidFill>
          <a:ln/>
        </p:spPr>
      </p:sp>
      <p:sp>
        <p:nvSpPr>
          <p:cNvPr id="13" name="Text 11"/>
          <p:cNvSpPr/>
          <p:nvPr/>
        </p:nvSpPr>
        <p:spPr>
          <a:xfrm>
            <a:off x="6757924"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6</a:t>
            </a:r>
            <a:endParaRPr lang="en-US" sz="800" dirty="0"/>
          </a:p>
        </p:txBody>
      </p:sp>
      <p:sp>
        <p:nvSpPr>
          <p:cNvPr id="14" name="Shape 12"/>
          <p:cNvSpPr/>
          <p:nvPr/>
        </p:nvSpPr>
        <p:spPr>
          <a:xfrm>
            <a:off x="8008925" y="384048"/>
            <a:ext cx="1177849" cy="118872"/>
          </a:xfrm>
          <a:prstGeom prst="rect">
            <a:avLst/>
          </a:prstGeom>
          <a:solidFill>
            <a:srgbClr val="8A90A2"/>
          </a:solidFill>
          <a:ln/>
        </p:spPr>
      </p:sp>
      <p:sp>
        <p:nvSpPr>
          <p:cNvPr id="15" name="Shape 13"/>
          <p:cNvSpPr/>
          <p:nvPr/>
        </p:nvSpPr>
        <p:spPr>
          <a:xfrm>
            <a:off x="7990637" y="338328"/>
            <a:ext cx="1214425" cy="210312"/>
          </a:xfrm>
          <a:prstGeom prst="rect">
            <a:avLst/>
          </a:prstGeom>
          <a:ln w="22225">
            <a:solidFill>
              <a:srgbClr val="0B1220"/>
            </a:solidFill>
            <a:prstDash val="solid"/>
          </a:ln>
        </p:spPr>
      </p:sp>
      <p:sp>
        <p:nvSpPr>
          <p:cNvPr id="16" name="Text 14"/>
          <p:cNvSpPr/>
          <p:nvPr/>
        </p:nvSpPr>
        <p:spPr>
          <a:xfrm>
            <a:off x="8008925" y="530352"/>
            <a:ext cx="1177849" cy="201168"/>
          </a:xfrm>
          <a:prstGeom prst="rect">
            <a:avLst/>
          </a:prstGeom>
          <a:noFill/>
          <a:ln/>
        </p:spPr>
        <p:txBody>
          <a:bodyPr wrap="square" rtlCol="0" anchor="ctr"/>
          <a:lstStyle/>
          <a:p>
            <a:pPr algn="ctr" indent="0" marL="0">
              <a:buNone/>
            </a:pPr>
            <a:r>
              <a:rPr lang="en-US" sz="800" b="1" dirty="0">
                <a:solidFill>
                  <a:srgbClr val="1A2035"/>
                </a:solidFill>
                <a:latin typeface="Calibri" pitchFamily="34" charset="0"/>
                <a:ea typeface="Calibri" pitchFamily="34" charset="-122"/>
                <a:cs typeface="Calibri" pitchFamily="34" charset="-120"/>
              </a:rPr>
              <a:t>7</a:t>
            </a:r>
            <a:endParaRPr lang="en-US" sz="800" dirty="0"/>
          </a:p>
        </p:txBody>
      </p:sp>
      <p:sp>
        <p:nvSpPr>
          <p:cNvPr id="17" name="Shape 15"/>
          <p:cNvSpPr/>
          <p:nvPr/>
        </p:nvSpPr>
        <p:spPr>
          <a:xfrm>
            <a:off x="9259926" y="384048"/>
            <a:ext cx="1177849" cy="118872"/>
          </a:xfrm>
          <a:prstGeom prst="rect">
            <a:avLst/>
          </a:prstGeom>
          <a:solidFill>
            <a:srgbClr val="8A90A2"/>
          </a:solidFill>
          <a:ln/>
        </p:spPr>
      </p:sp>
      <p:sp>
        <p:nvSpPr>
          <p:cNvPr id="18" name="Text 16"/>
          <p:cNvSpPr/>
          <p:nvPr/>
        </p:nvSpPr>
        <p:spPr>
          <a:xfrm>
            <a:off x="9259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8</a:t>
            </a:r>
            <a:endParaRPr lang="en-US" sz="800" dirty="0"/>
          </a:p>
        </p:txBody>
      </p:sp>
      <p:sp>
        <p:nvSpPr>
          <p:cNvPr id="19" name="Shape 17"/>
          <p:cNvSpPr/>
          <p:nvPr/>
        </p:nvSpPr>
        <p:spPr>
          <a:xfrm>
            <a:off x="10510926" y="384048"/>
            <a:ext cx="1177849" cy="118872"/>
          </a:xfrm>
          <a:prstGeom prst="rect">
            <a:avLst/>
          </a:prstGeom>
          <a:solidFill>
            <a:srgbClr val="8A90A2"/>
          </a:solidFill>
          <a:ln/>
        </p:spPr>
      </p:sp>
      <p:sp>
        <p:nvSpPr>
          <p:cNvPr id="20" name="Text 18"/>
          <p:cNvSpPr/>
          <p:nvPr/>
        </p:nvSpPr>
        <p:spPr>
          <a:xfrm>
            <a:off x="10510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9</a:t>
            </a:r>
            <a:endParaRPr lang="en-US" sz="800" dirty="0"/>
          </a:p>
        </p:txBody>
      </p:sp>
      <p:sp>
        <p:nvSpPr>
          <p:cNvPr id="21" name="Text 19"/>
          <p:cNvSpPr/>
          <p:nvPr/>
        </p:nvSpPr>
        <p:spPr>
          <a:xfrm>
            <a:off x="502920" y="749808"/>
            <a:ext cx="5486400" cy="274320"/>
          </a:xfrm>
          <a:prstGeom prst="rect">
            <a:avLst/>
          </a:prstGeom>
          <a:noFill/>
          <a:ln/>
        </p:spPr>
        <p:txBody>
          <a:bodyPr wrap="square"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STEP 7 OF 9</a:t>
            </a:r>
            <a:endParaRPr lang="en-US" sz="1100" dirty="0"/>
          </a:p>
        </p:txBody>
      </p:sp>
      <p:sp>
        <p:nvSpPr>
          <p:cNvPr id="22" name="Text 20"/>
          <p:cNvSpPr/>
          <p:nvPr/>
        </p:nvSpPr>
        <p:spPr>
          <a:xfrm>
            <a:off x="502920" y="1005840"/>
            <a:ext cx="8076895" cy="685800"/>
          </a:xfrm>
          <a:prstGeom prst="rect">
            <a:avLst/>
          </a:prstGeom>
          <a:noFill/>
          <a:ln/>
        </p:spPr>
        <p:txBody>
          <a:bodyPr wrap="square" rtlCol="0" anchor="ctr"/>
          <a:lstStyle/>
          <a:p>
            <a:pPr indent="0" marL="0">
              <a:buNone/>
            </a:pPr>
            <a:r>
              <a:rPr lang="en-US" sz="2500" b="1" dirty="0">
                <a:solidFill>
                  <a:srgbClr val="1A2035"/>
                </a:solidFill>
                <a:latin typeface="Cambria" pitchFamily="34" charset="0"/>
                <a:ea typeface="Cambria" pitchFamily="34" charset="-122"/>
                <a:cs typeface="Cambria" pitchFamily="34" charset="-120"/>
              </a:rPr>
              <a:t>Move off one laptop, onto a real server</a:t>
            </a:r>
            <a:endParaRPr lang="en-US" sz="2500" dirty="0"/>
          </a:p>
        </p:txBody>
      </p:sp>
      <p:sp>
        <p:nvSpPr>
          <p:cNvPr id="23" name="Shape 21"/>
          <p:cNvSpPr/>
          <p:nvPr/>
        </p:nvSpPr>
        <p:spPr>
          <a:xfrm>
            <a:off x="8945575" y="1078992"/>
            <a:ext cx="2743200" cy="457200"/>
          </a:xfrm>
          <a:prstGeom prst="rect">
            <a:avLst/>
          </a:prstGeom>
          <a:solidFill>
            <a:srgbClr val="EDEEF2"/>
          </a:solidFill>
          <a:ln/>
        </p:spPr>
      </p:sp>
      <p:sp>
        <p:nvSpPr>
          <p:cNvPr id="24" name="Text 22"/>
          <p:cNvSpPr/>
          <p:nvPr/>
        </p:nvSpPr>
        <p:spPr>
          <a:xfrm>
            <a:off x="8945575" y="1078992"/>
            <a:ext cx="2743200" cy="457200"/>
          </a:xfrm>
          <a:prstGeom prst="rect">
            <a:avLst/>
          </a:prstGeom>
          <a:noFill/>
          <a:ln/>
        </p:spPr>
        <p:txBody>
          <a:bodyPr wrap="square" rtlCol="0" anchor="ctr"/>
          <a:lstStyle/>
          <a:p>
            <a:pPr algn="ctr" indent="0" marL="0">
              <a:buNone/>
            </a:pPr>
            <a:r>
              <a:rPr lang="en-US" sz="1200" b="1" dirty="0">
                <a:solidFill>
                  <a:srgbClr val="8A90A2"/>
                </a:solidFill>
                <a:latin typeface="Calibri" pitchFamily="34" charset="0"/>
                <a:ea typeface="Calibri" pitchFamily="34" charset="-122"/>
                <a:cs typeface="Calibri" pitchFamily="34" charset="-120"/>
              </a:rPr>
              <a:t>NOT STARTED YET</a:t>
            </a:r>
            <a:endParaRPr lang="en-US" sz="1200" dirty="0"/>
          </a:p>
        </p:txBody>
      </p:sp>
      <p:sp>
        <p:nvSpPr>
          <p:cNvPr id="25" name="Text 23"/>
          <p:cNvSpPr/>
          <p:nvPr/>
        </p:nvSpPr>
        <p:spPr>
          <a:xfrm>
            <a:off x="502920" y="1874520"/>
            <a:ext cx="11185855" cy="256032"/>
          </a:xfrm>
          <a:prstGeom prst="rect">
            <a:avLst/>
          </a:prstGeom>
          <a:noFill/>
          <a:ln/>
        </p:spPr>
        <p:txBody>
          <a:bodyPr wrap="square" rtlCol="0" anchor="ctr"/>
          <a:lstStyle/>
          <a:p>
            <a:pPr indent="0" marL="0">
              <a:buNone/>
            </a:pPr>
            <a:r>
              <a:rPr lang="en-US" sz="1050" b="1" spc="100" kern="0" dirty="0">
                <a:solidFill>
                  <a:srgbClr val="7A8399"/>
                </a:solidFill>
                <a:latin typeface="Calibri" pitchFamily="34" charset="0"/>
                <a:ea typeface="Calibri" pitchFamily="34" charset="-122"/>
                <a:cs typeface="Calibri" pitchFamily="34" charset="-120"/>
              </a:rPr>
              <a:t>WHAT THIS STEP MEANS</a:t>
            </a:r>
            <a:endParaRPr lang="en-US" sz="1050" dirty="0"/>
          </a:p>
        </p:txBody>
      </p:sp>
      <p:sp>
        <p:nvSpPr>
          <p:cNvPr id="26" name="Text 24"/>
          <p:cNvSpPr/>
          <p:nvPr/>
        </p:nvSpPr>
        <p:spPr>
          <a:xfrm>
            <a:off x="502920" y="2167128"/>
            <a:ext cx="11185855" cy="685800"/>
          </a:xfrm>
          <a:prstGeom prst="rect">
            <a:avLst/>
          </a:prstGeom>
          <a:noFill/>
          <a:ln/>
        </p:spPr>
        <p:txBody>
          <a:bodyPr wrap="square" rtlCol="0" anchor="t"/>
          <a:lstStyle/>
          <a:p>
            <a:pPr indent="0" marL="0">
              <a:lnSpc>
                <a:spcPct val="120000"/>
              </a:lnSpc>
              <a:buNone/>
            </a:pPr>
            <a:r>
              <a:rPr lang="en-US" sz="1300" dirty="0">
                <a:solidFill>
                  <a:srgbClr val="1A2035"/>
                </a:solidFill>
                <a:latin typeface="Calibri" pitchFamily="34" charset="0"/>
                <a:ea typeface="Calibri" pitchFamily="34" charset="-122"/>
                <a:cs typeface="Calibri" pitchFamily="34" charset="-120"/>
              </a:rPr>
              <a:t>Step 7 is moving the system from running on one person's laptop to running on a proper always-on server, so the whole team can reach it any time, from anywhere — not just when one specific laptop happens to be on.</a:t>
            </a:r>
            <a:endParaRPr lang="en-US" sz="1300" dirty="0"/>
          </a:p>
        </p:txBody>
      </p:sp>
      <p:sp>
        <p:nvSpPr>
          <p:cNvPr id="27" name="Shape 25"/>
          <p:cNvSpPr/>
          <p:nvPr/>
        </p:nvSpPr>
        <p:spPr>
          <a:xfrm>
            <a:off x="502920" y="2944368"/>
            <a:ext cx="5455768" cy="3410712"/>
          </a:xfrm>
          <a:prstGeom prst="rect">
            <a:avLst/>
          </a:prstGeom>
          <a:solidFill>
            <a:srgbClr val="FBEEDC"/>
          </a:solidFill>
          <a:ln/>
        </p:spPr>
      </p:sp>
      <p:sp>
        <p:nvSpPr>
          <p:cNvPr id="28" name="Text 26"/>
          <p:cNvSpPr/>
          <p:nvPr/>
        </p:nvSpPr>
        <p:spPr>
          <a:xfrm>
            <a:off x="685800" y="3054096"/>
            <a:ext cx="5090008" cy="256032"/>
          </a:xfrm>
          <a:prstGeom prst="rect">
            <a:avLst/>
          </a:prstGeom>
          <a:noFill/>
          <a:ln/>
        </p:spPr>
        <p:txBody>
          <a:bodyPr wrap="square" rtlCol="0" anchor="ctr"/>
          <a:lstStyle/>
          <a:p>
            <a:pPr indent="0" marL="0">
              <a:buNone/>
            </a:pPr>
            <a:r>
              <a:rPr lang="en-US" sz="1050" b="1" spc="100" kern="0" dirty="0">
                <a:solidFill>
                  <a:srgbClr val="C2760C"/>
                </a:solidFill>
                <a:latin typeface="Calibri" pitchFamily="34" charset="0"/>
                <a:ea typeface="Calibri" pitchFamily="34" charset="-122"/>
                <a:cs typeface="Calibri" pitchFamily="34" charset="-120"/>
              </a:rPr>
              <a:t>THE HOLD-UP</a:t>
            </a:r>
            <a:endParaRPr lang="en-US" sz="1050" dirty="0"/>
          </a:p>
        </p:txBody>
      </p:sp>
      <p:sp>
        <p:nvSpPr>
          <p:cNvPr id="29" name="Text 27"/>
          <p:cNvSpPr/>
          <p:nvPr/>
        </p:nvSpPr>
        <p:spPr>
          <a:xfrm>
            <a:off x="685800"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Right now, if that one laptop is off, asleep, or somewhere else, the system is simply unreachable for everyone. A personal laptop cannot be turned into a 24/7 server by writing more code — it needs to be rented from a hosting company.</a:t>
            </a:r>
            <a:endParaRPr lang="en-US" sz="1150" dirty="0"/>
          </a:p>
        </p:txBody>
      </p:sp>
      <p:sp>
        <p:nvSpPr>
          <p:cNvPr id="30" name="Shape 28"/>
          <p:cNvSpPr/>
          <p:nvPr/>
        </p:nvSpPr>
        <p:spPr>
          <a:xfrm>
            <a:off x="6233008" y="2944368"/>
            <a:ext cx="5455768" cy="3410712"/>
          </a:xfrm>
          <a:prstGeom prst="rect">
            <a:avLst/>
          </a:prstGeom>
          <a:solidFill>
            <a:srgbClr val="E7F6ED"/>
          </a:solidFill>
          <a:ln/>
        </p:spPr>
      </p:sp>
      <p:sp>
        <p:nvSpPr>
          <p:cNvPr id="31" name="Text 29"/>
          <p:cNvSpPr/>
          <p:nvPr/>
        </p:nvSpPr>
        <p:spPr>
          <a:xfrm>
            <a:off x="6415888" y="3054096"/>
            <a:ext cx="5090008" cy="256032"/>
          </a:xfrm>
          <a:prstGeom prst="rect">
            <a:avLst/>
          </a:prstGeom>
          <a:noFill/>
          <a:ln/>
        </p:spPr>
        <p:txBody>
          <a:bodyPr wrap="square" rtlCol="0" anchor="ctr"/>
          <a:lstStyle/>
          <a:p>
            <a:pPr indent="0" marL="0">
              <a:buNone/>
            </a:pPr>
            <a:r>
              <a:rPr lang="en-US" sz="1050" b="1" spc="100" kern="0" dirty="0">
                <a:solidFill>
                  <a:srgbClr val="1F9D55"/>
                </a:solidFill>
                <a:latin typeface="Calibri" pitchFamily="34" charset="0"/>
                <a:ea typeface="Calibri" pitchFamily="34" charset="-122"/>
                <a:cs typeface="Calibri" pitchFamily="34" charset="-120"/>
              </a:rPr>
              <a:t>THE FIX</a:t>
            </a:r>
            <a:endParaRPr lang="en-US" sz="1050" dirty="0"/>
          </a:p>
        </p:txBody>
      </p:sp>
      <p:sp>
        <p:nvSpPr>
          <p:cNvPr id="32" name="Text 30"/>
          <p:cNvSpPr/>
          <p:nvPr/>
        </p:nvSpPr>
        <p:spPr>
          <a:xfrm>
            <a:off x="6415888"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Set up one hosting account (a company decision, not a technical one) and move the already-prepared system onto it. This is expected to take only a few days once the account exists.</a:t>
            </a:r>
            <a:endParaRPr lang="en-US" sz="1150" dirty="0"/>
          </a:p>
        </p:txBody>
      </p:sp>
      <p:sp>
        <p:nvSpPr>
          <p:cNvPr id="33" name="Text 31"/>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Our Journey, Step by Step</a:t>
            </a:r>
            <a:endParaRPr lang="en-US" sz="850" dirty="0"/>
          </a:p>
        </p:txBody>
      </p:sp>
      <p:sp>
        <p:nvSpPr>
          <p:cNvPr id="34" name="Text 32"/>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177849" cy="118872"/>
          </a:xfrm>
          <a:prstGeom prst="rect">
            <a:avLst/>
          </a:prstGeom>
          <a:solidFill>
            <a:srgbClr val="1F9D55"/>
          </a:solidFill>
          <a:ln/>
        </p:spPr>
      </p:sp>
      <p:sp>
        <p:nvSpPr>
          <p:cNvPr id="3" name="Text 1"/>
          <p:cNvSpPr/>
          <p:nvPr/>
        </p:nvSpPr>
        <p:spPr>
          <a:xfrm>
            <a:off x="502920"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1</a:t>
            </a:r>
            <a:endParaRPr lang="en-US" sz="800" dirty="0"/>
          </a:p>
        </p:txBody>
      </p:sp>
      <p:sp>
        <p:nvSpPr>
          <p:cNvPr id="4" name="Shape 2"/>
          <p:cNvSpPr/>
          <p:nvPr/>
        </p:nvSpPr>
        <p:spPr>
          <a:xfrm>
            <a:off x="1753921" y="384048"/>
            <a:ext cx="1177849" cy="118872"/>
          </a:xfrm>
          <a:prstGeom prst="rect">
            <a:avLst/>
          </a:prstGeom>
          <a:solidFill>
            <a:srgbClr val="1F9D55"/>
          </a:solidFill>
          <a:ln/>
        </p:spPr>
      </p:sp>
      <p:sp>
        <p:nvSpPr>
          <p:cNvPr id="5" name="Text 3"/>
          <p:cNvSpPr/>
          <p:nvPr/>
        </p:nvSpPr>
        <p:spPr>
          <a:xfrm>
            <a:off x="1753921"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2</a:t>
            </a:r>
            <a:endParaRPr lang="en-US" sz="800" dirty="0"/>
          </a:p>
        </p:txBody>
      </p:sp>
      <p:sp>
        <p:nvSpPr>
          <p:cNvPr id="6" name="Shape 4"/>
          <p:cNvSpPr/>
          <p:nvPr/>
        </p:nvSpPr>
        <p:spPr>
          <a:xfrm>
            <a:off x="3004922" y="384048"/>
            <a:ext cx="1177849" cy="118872"/>
          </a:xfrm>
          <a:prstGeom prst="rect">
            <a:avLst/>
          </a:prstGeom>
          <a:solidFill>
            <a:srgbClr val="1F9D55"/>
          </a:solidFill>
          <a:ln/>
        </p:spPr>
      </p:sp>
      <p:sp>
        <p:nvSpPr>
          <p:cNvPr id="7" name="Text 5"/>
          <p:cNvSpPr/>
          <p:nvPr/>
        </p:nvSpPr>
        <p:spPr>
          <a:xfrm>
            <a:off x="3004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3</a:t>
            </a:r>
            <a:endParaRPr lang="en-US" sz="800" dirty="0"/>
          </a:p>
        </p:txBody>
      </p:sp>
      <p:sp>
        <p:nvSpPr>
          <p:cNvPr id="8" name="Shape 6"/>
          <p:cNvSpPr/>
          <p:nvPr/>
        </p:nvSpPr>
        <p:spPr>
          <a:xfrm>
            <a:off x="4255922" y="384048"/>
            <a:ext cx="1177849" cy="118872"/>
          </a:xfrm>
          <a:prstGeom prst="rect">
            <a:avLst/>
          </a:prstGeom>
          <a:solidFill>
            <a:srgbClr val="C2760C"/>
          </a:solidFill>
          <a:ln/>
        </p:spPr>
      </p:sp>
      <p:sp>
        <p:nvSpPr>
          <p:cNvPr id="9" name="Text 7"/>
          <p:cNvSpPr/>
          <p:nvPr/>
        </p:nvSpPr>
        <p:spPr>
          <a:xfrm>
            <a:off x="4255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4</a:t>
            </a:r>
            <a:endParaRPr lang="en-US" sz="800" dirty="0"/>
          </a:p>
        </p:txBody>
      </p:sp>
      <p:sp>
        <p:nvSpPr>
          <p:cNvPr id="10" name="Shape 8"/>
          <p:cNvSpPr/>
          <p:nvPr/>
        </p:nvSpPr>
        <p:spPr>
          <a:xfrm>
            <a:off x="5506923" y="384048"/>
            <a:ext cx="1177849" cy="118872"/>
          </a:xfrm>
          <a:prstGeom prst="rect">
            <a:avLst/>
          </a:prstGeom>
          <a:solidFill>
            <a:srgbClr val="C2760C"/>
          </a:solidFill>
          <a:ln/>
        </p:spPr>
      </p:sp>
      <p:sp>
        <p:nvSpPr>
          <p:cNvPr id="11" name="Text 9"/>
          <p:cNvSpPr/>
          <p:nvPr/>
        </p:nvSpPr>
        <p:spPr>
          <a:xfrm>
            <a:off x="5506923"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5</a:t>
            </a:r>
            <a:endParaRPr lang="en-US" sz="800" dirty="0"/>
          </a:p>
        </p:txBody>
      </p:sp>
      <p:sp>
        <p:nvSpPr>
          <p:cNvPr id="12" name="Shape 10"/>
          <p:cNvSpPr/>
          <p:nvPr/>
        </p:nvSpPr>
        <p:spPr>
          <a:xfrm>
            <a:off x="6757924" y="384048"/>
            <a:ext cx="1177849" cy="118872"/>
          </a:xfrm>
          <a:prstGeom prst="rect">
            <a:avLst/>
          </a:prstGeom>
          <a:solidFill>
            <a:srgbClr val="8A90A2"/>
          </a:solidFill>
          <a:ln/>
        </p:spPr>
      </p:sp>
      <p:sp>
        <p:nvSpPr>
          <p:cNvPr id="13" name="Text 11"/>
          <p:cNvSpPr/>
          <p:nvPr/>
        </p:nvSpPr>
        <p:spPr>
          <a:xfrm>
            <a:off x="6757924"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6</a:t>
            </a:r>
            <a:endParaRPr lang="en-US" sz="800" dirty="0"/>
          </a:p>
        </p:txBody>
      </p:sp>
      <p:sp>
        <p:nvSpPr>
          <p:cNvPr id="14" name="Shape 12"/>
          <p:cNvSpPr/>
          <p:nvPr/>
        </p:nvSpPr>
        <p:spPr>
          <a:xfrm>
            <a:off x="8008925" y="384048"/>
            <a:ext cx="1177849" cy="118872"/>
          </a:xfrm>
          <a:prstGeom prst="rect">
            <a:avLst/>
          </a:prstGeom>
          <a:solidFill>
            <a:srgbClr val="8A90A2"/>
          </a:solidFill>
          <a:ln/>
        </p:spPr>
      </p:sp>
      <p:sp>
        <p:nvSpPr>
          <p:cNvPr id="15" name="Text 13"/>
          <p:cNvSpPr/>
          <p:nvPr/>
        </p:nvSpPr>
        <p:spPr>
          <a:xfrm>
            <a:off x="8008925"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7</a:t>
            </a:r>
            <a:endParaRPr lang="en-US" sz="800" dirty="0"/>
          </a:p>
        </p:txBody>
      </p:sp>
      <p:sp>
        <p:nvSpPr>
          <p:cNvPr id="16" name="Shape 14"/>
          <p:cNvSpPr/>
          <p:nvPr/>
        </p:nvSpPr>
        <p:spPr>
          <a:xfrm>
            <a:off x="9259926" y="384048"/>
            <a:ext cx="1177849" cy="118872"/>
          </a:xfrm>
          <a:prstGeom prst="rect">
            <a:avLst/>
          </a:prstGeom>
          <a:solidFill>
            <a:srgbClr val="8A90A2"/>
          </a:solidFill>
          <a:ln/>
        </p:spPr>
      </p:sp>
      <p:sp>
        <p:nvSpPr>
          <p:cNvPr id="17" name="Shape 15"/>
          <p:cNvSpPr/>
          <p:nvPr/>
        </p:nvSpPr>
        <p:spPr>
          <a:xfrm>
            <a:off x="9241638" y="338328"/>
            <a:ext cx="1214425" cy="210312"/>
          </a:xfrm>
          <a:prstGeom prst="rect">
            <a:avLst/>
          </a:prstGeom>
          <a:ln w="22225">
            <a:solidFill>
              <a:srgbClr val="0B1220"/>
            </a:solidFill>
            <a:prstDash val="solid"/>
          </a:ln>
        </p:spPr>
      </p:sp>
      <p:sp>
        <p:nvSpPr>
          <p:cNvPr id="18" name="Text 16"/>
          <p:cNvSpPr/>
          <p:nvPr/>
        </p:nvSpPr>
        <p:spPr>
          <a:xfrm>
            <a:off x="9259926" y="530352"/>
            <a:ext cx="1177849" cy="201168"/>
          </a:xfrm>
          <a:prstGeom prst="rect">
            <a:avLst/>
          </a:prstGeom>
          <a:noFill/>
          <a:ln/>
        </p:spPr>
        <p:txBody>
          <a:bodyPr wrap="square" rtlCol="0" anchor="ctr"/>
          <a:lstStyle/>
          <a:p>
            <a:pPr algn="ctr" indent="0" marL="0">
              <a:buNone/>
            </a:pPr>
            <a:r>
              <a:rPr lang="en-US" sz="800" b="1" dirty="0">
                <a:solidFill>
                  <a:srgbClr val="1A2035"/>
                </a:solidFill>
                <a:latin typeface="Calibri" pitchFamily="34" charset="0"/>
                <a:ea typeface="Calibri" pitchFamily="34" charset="-122"/>
                <a:cs typeface="Calibri" pitchFamily="34" charset="-120"/>
              </a:rPr>
              <a:t>8</a:t>
            </a:r>
            <a:endParaRPr lang="en-US" sz="800" dirty="0"/>
          </a:p>
        </p:txBody>
      </p:sp>
      <p:sp>
        <p:nvSpPr>
          <p:cNvPr id="19" name="Shape 17"/>
          <p:cNvSpPr/>
          <p:nvPr/>
        </p:nvSpPr>
        <p:spPr>
          <a:xfrm>
            <a:off x="10510926" y="384048"/>
            <a:ext cx="1177849" cy="118872"/>
          </a:xfrm>
          <a:prstGeom prst="rect">
            <a:avLst/>
          </a:prstGeom>
          <a:solidFill>
            <a:srgbClr val="8A90A2"/>
          </a:solidFill>
          <a:ln/>
        </p:spPr>
      </p:sp>
      <p:sp>
        <p:nvSpPr>
          <p:cNvPr id="20" name="Text 18"/>
          <p:cNvSpPr/>
          <p:nvPr/>
        </p:nvSpPr>
        <p:spPr>
          <a:xfrm>
            <a:off x="10510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9</a:t>
            </a:r>
            <a:endParaRPr lang="en-US" sz="800" dirty="0"/>
          </a:p>
        </p:txBody>
      </p:sp>
      <p:sp>
        <p:nvSpPr>
          <p:cNvPr id="21" name="Text 19"/>
          <p:cNvSpPr/>
          <p:nvPr/>
        </p:nvSpPr>
        <p:spPr>
          <a:xfrm>
            <a:off x="502920" y="749808"/>
            <a:ext cx="5486400" cy="274320"/>
          </a:xfrm>
          <a:prstGeom prst="rect">
            <a:avLst/>
          </a:prstGeom>
          <a:noFill/>
          <a:ln/>
        </p:spPr>
        <p:txBody>
          <a:bodyPr wrap="square"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STEP 8 OF 9</a:t>
            </a:r>
            <a:endParaRPr lang="en-US" sz="1100" dirty="0"/>
          </a:p>
        </p:txBody>
      </p:sp>
      <p:sp>
        <p:nvSpPr>
          <p:cNvPr id="22" name="Text 20"/>
          <p:cNvSpPr/>
          <p:nvPr/>
        </p:nvSpPr>
        <p:spPr>
          <a:xfrm>
            <a:off x="502920" y="1005840"/>
            <a:ext cx="8076895" cy="685800"/>
          </a:xfrm>
          <a:prstGeom prst="rect">
            <a:avLst/>
          </a:prstGeom>
          <a:noFill/>
          <a:ln/>
        </p:spPr>
        <p:txBody>
          <a:bodyPr wrap="square" rtlCol="0" anchor="ctr"/>
          <a:lstStyle/>
          <a:p>
            <a:pPr indent="0" marL="0">
              <a:buNone/>
            </a:pPr>
            <a:r>
              <a:rPr lang="en-US" sz="2500" b="1" dirty="0">
                <a:solidFill>
                  <a:srgbClr val="1A2035"/>
                </a:solidFill>
                <a:latin typeface="Cambria" pitchFamily="34" charset="0"/>
                <a:ea typeface="Cambria" pitchFamily="34" charset="-122"/>
                <a:cs typeface="Cambria" pitchFamily="34" charset="-120"/>
              </a:rPr>
              <a:t>Get the whole team using it, every day</a:t>
            </a:r>
            <a:endParaRPr lang="en-US" sz="2500" dirty="0"/>
          </a:p>
        </p:txBody>
      </p:sp>
      <p:sp>
        <p:nvSpPr>
          <p:cNvPr id="23" name="Shape 21"/>
          <p:cNvSpPr/>
          <p:nvPr/>
        </p:nvSpPr>
        <p:spPr>
          <a:xfrm>
            <a:off x="8945575" y="1078992"/>
            <a:ext cx="2743200" cy="457200"/>
          </a:xfrm>
          <a:prstGeom prst="rect">
            <a:avLst/>
          </a:prstGeom>
          <a:solidFill>
            <a:srgbClr val="EDEEF2"/>
          </a:solidFill>
          <a:ln/>
        </p:spPr>
      </p:sp>
      <p:sp>
        <p:nvSpPr>
          <p:cNvPr id="24" name="Text 22"/>
          <p:cNvSpPr/>
          <p:nvPr/>
        </p:nvSpPr>
        <p:spPr>
          <a:xfrm>
            <a:off x="8945575" y="1078992"/>
            <a:ext cx="2743200" cy="457200"/>
          </a:xfrm>
          <a:prstGeom prst="rect">
            <a:avLst/>
          </a:prstGeom>
          <a:noFill/>
          <a:ln/>
        </p:spPr>
        <p:txBody>
          <a:bodyPr wrap="square" rtlCol="0" anchor="ctr"/>
          <a:lstStyle/>
          <a:p>
            <a:pPr algn="ctr" indent="0" marL="0">
              <a:buNone/>
            </a:pPr>
            <a:r>
              <a:rPr lang="en-US" sz="1200" b="1" dirty="0">
                <a:solidFill>
                  <a:srgbClr val="8A90A2"/>
                </a:solidFill>
                <a:latin typeface="Calibri" pitchFamily="34" charset="0"/>
                <a:ea typeface="Calibri" pitchFamily="34" charset="-122"/>
                <a:cs typeface="Calibri" pitchFamily="34" charset="-120"/>
              </a:rPr>
              <a:t>NOT STARTED YET</a:t>
            </a:r>
            <a:endParaRPr lang="en-US" sz="1200" dirty="0"/>
          </a:p>
        </p:txBody>
      </p:sp>
      <p:sp>
        <p:nvSpPr>
          <p:cNvPr id="25" name="Text 23"/>
          <p:cNvSpPr/>
          <p:nvPr/>
        </p:nvSpPr>
        <p:spPr>
          <a:xfrm>
            <a:off x="502920" y="1874520"/>
            <a:ext cx="11185855" cy="256032"/>
          </a:xfrm>
          <a:prstGeom prst="rect">
            <a:avLst/>
          </a:prstGeom>
          <a:noFill/>
          <a:ln/>
        </p:spPr>
        <p:txBody>
          <a:bodyPr wrap="square" rtlCol="0" anchor="ctr"/>
          <a:lstStyle/>
          <a:p>
            <a:pPr indent="0" marL="0">
              <a:buNone/>
            </a:pPr>
            <a:r>
              <a:rPr lang="en-US" sz="1050" b="1" spc="100" kern="0" dirty="0">
                <a:solidFill>
                  <a:srgbClr val="7A8399"/>
                </a:solidFill>
                <a:latin typeface="Calibri" pitchFamily="34" charset="0"/>
                <a:ea typeface="Calibri" pitchFamily="34" charset="-122"/>
                <a:cs typeface="Calibri" pitchFamily="34" charset="-120"/>
              </a:rPr>
              <a:t>WHAT THIS STEP MEANS</a:t>
            </a:r>
            <a:endParaRPr lang="en-US" sz="1050" dirty="0"/>
          </a:p>
        </p:txBody>
      </p:sp>
      <p:sp>
        <p:nvSpPr>
          <p:cNvPr id="26" name="Text 24"/>
          <p:cNvSpPr/>
          <p:nvPr/>
        </p:nvSpPr>
        <p:spPr>
          <a:xfrm>
            <a:off x="502920" y="2167128"/>
            <a:ext cx="11185855" cy="685800"/>
          </a:xfrm>
          <a:prstGeom prst="rect">
            <a:avLst/>
          </a:prstGeom>
          <a:noFill/>
          <a:ln/>
        </p:spPr>
        <p:txBody>
          <a:bodyPr wrap="square" rtlCol="0" anchor="t"/>
          <a:lstStyle/>
          <a:p>
            <a:pPr indent="0" marL="0">
              <a:lnSpc>
                <a:spcPct val="120000"/>
              </a:lnSpc>
              <a:buNone/>
            </a:pPr>
            <a:r>
              <a:rPr lang="en-US" sz="1300" dirty="0">
                <a:solidFill>
                  <a:srgbClr val="1A2035"/>
                </a:solidFill>
                <a:latin typeface="Calibri" pitchFamily="34" charset="0"/>
                <a:ea typeface="Calibri" pitchFamily="34" charset="-122"/>
                <a:cs typeface="Calibri" pitchFamily="34" charset="-120"/>
              </a:rPr>
              <a:t>Step 8 is the real test: the whole team signing in and using the system for their actual daily work, for two straight weeks, with every problem they hit written down and fixed.</a:t>
            </a:r>
            <a:endParaRPr lang="en-US" sz="1300" dirty="0"/>
          </a:p>
        </p:txBody>
      </p:sp>
      <p:sp>
        <p:nvSpPr>
          <p:cNvPr id="27" name="Shape 25"/>
          <p:cNvSpPr/>
          <p:nvPr/>
        </p:nvSpPr>
        <p:spPr>
          <a:xfrm>
            <a:off x="502920" y="2944368"/>
            <a:ext cx="5455768" cy="3410712"/>
          </a:xfrm>
          <a:prstGeom prst="rect">
            <a:avLst/>
          </a:prstGeom>
          <a:solidFill>
            <a:srgbClr val="FBEEDC"/>
          </a:solidFill>
          <a:ln/>
        </p:spPr>
      </p:sp>
      <p:sp>
        <p:nvSpPr>
          <p:cNvPr id="28" name="Text 26"/>
          <p:cNvSpPr/>
          <p:nvPr/>
        </p:nvSpPr>
        <p:spPr>
          <a:xfrm>
            <a:off x="685800" y="3054096"/>
            <a:ext cx="5090008" cy="256032"/>
          </a:xfrm>
          <a:prstGeom prst="rect">
            <a:avLst/>
          </a:prstGeom>
          <a:noFill/>
          <a:ln/>
        </p:spPr>
        <p:txBody>
          <a:bodyPr wrap="square" rtlCol="0" anchor="ctr"/>
          <a:lstStyle/>
          <a:p>
            <a:pPr indent="0" marL="0">
              <a:buNone/>
            </a:pPr>
            <a:r>
              <a:rPr lang="en-US" sz="1050" b="1" spc="100" kern="0" dirty="0">
                <a:solidFill>
                  <a:srgbClr val="C2760C"/>
                </a:solidFill>
                <a:latin typeface="Calibri" pitchFamily="34" charset="0"/>
                <a:ea typeface="Calibri" pitchFamily="34" charset="-122"/>
                <a:cs typeface="Calibri" pitchFamily="34" charset="-120"/>
              </a:rPr>
              <a:t>THE HOLD-UP</a:t>
            </a:r>
            <a:endParaRPr lang="en-US" sz="1050" dirty="0"/>
          </a:p>
        </p:txBody>
      </p:sp>
      <p:sp>
        <p:nvSpPr>
          <p:cNvPr id="29" name="Text 27"/>
          <p:cNvSpPr/>
          <p:nvPr/>
        </p:nvSpPr>
        <p:spPr>
          <a:xfrm>
            <a:off x="685800"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So far, only one person has ever used the system. Every issue found — including this month's 'banks stuck on loading' — was found by one person clicking around. We also know of about 30 places in the app where a failed request shows nothing instead of a clear message, and only one of them has been fixed so far.</a:t>
            </a:r>
            <a:endParaRPr lang="en-US" sz="1150" dirty="0"/>
          </a:p>
        </p:txBody>
      </p:sp>
      <p:sp>
        <p:nvSpPr>
          <p:cNvPr id="30" name="Shape 28"/>
          <p:cNvSpPr/>
          <p:nvPr/>
        </p:nvSpPr>
        <p:spPr>
          <a:xfrm>
            <a:off x="6233008" y="2944368"/>
            <a:ext cx="5455768" cy="3410712"/>
          </a:xfrm>
          <a:prstGeom prst="rect">
            <a:avLst/>
          </a:prstGeom>
          <a:solidFill>
            <a:srgbClr val="E7F6ED"/>
          </a:solidFill>
          <a:ln/>
        </p:spPr>
      </p:sp>
      <p:sp>
        <p:nvSpPr>
          <p:cNvPr id="31" name="Text 29"/>
          <p:cNvSpPr/>
          <p:nvPr/>
        </p:nvSpPr>
        <p:spPr>
          <a:xfrm>
            <a:off x="6415888" y="3054096"/>
            <a:ext cx="5090008" cy="256032"/>
          </a:xfrm>
          <a:prstGeom prst="rect">
            <a:avLst/>
          </a:prstGeom>
          <a:noFill/>
          <a:ln/>
        </p:spPr>
        <p:txBody>
          <a:bodyPr wrap="square" rtlCol="0" anchor="ctr"/>
          <a:lstStyle/>
          <a:p>
            <a:pPr indent="0" marL="0">
              <a:buNone/>
            </a:pPr>
            <a:r>
              <a:rPr lang="en-US" sz="1050" b="1" spc="100" kern="0" dirty="0">
                <a:solidFill>
                  <a:srgbClr val="1F9D55"/>
                </a:solidFill>
                <a:latin typeface="Calibri" pitchFamily="34" charset="0"/>
                <a:ea typeface="Calibri" pitchFamily="34" charset="-122"/>
                <a:cs typeface="Calibri" pitchFamily="34" charset="-120"/>
              </a:rPr>
              <a:t>THE FIX</a:t>
            </a:r>
            <a:endParaRPr lang="en-US" sz="1050" dirty="0"/>
          </a:p>
        </p:txBody>
      </p:sp>
      <p:sp>
        <p:nvSpPr>
          <p:cNvPr id="32" name="Text 30"/>
          <p:cNvSpPr/>
          <p:nvPr/>
        </p:nvSpPr>
        <p:spPr>
          <a:xfrm>
            <a:off x="6415888"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First, fix the remaining silent-failure spots (a few days of focused work). Then, once Step 7's server is live, have the whole team use the system daily for two weeks with a shared list of issues — this is the only way to really prove it works as a team tool, not just in testing.</a:t>
            </a:r>
            <a:endParaRPr lang="en-US" sz="1150" dirty="0"/>
          </a:p>
        </p:txBody>
      </p:sp>
      <p:sp>
        <p:nvSpPr>
          <p:cNvPr id="33" name="Text 31"/>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Our Journey, Step by Step</a:t>
            </a:r>
            <a:endParaRPr lang="en-US" sz="850" dirty="0"/>
          </a:p>
        </p:txBody>
      </p:sp>
      <p:sp>
        <p:nvSpPr>
          <p:cNvPr id="34" name="Text 32"/>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84048"/>
            <a:ext cx="1177849" cy="118872"/>
          </a:xfrm>
          <a:prstGeom prst="rect">
            <a:avLst/>
          </a:prstGeom>
          <a:solidFill>
            <a:srgbClr val="1F9D55"/>
          </a:solidFill>
          <a:ln/>
        </p:spPr>
      </p:sp>
      <p:sp>
        <p:nvSpPr>
          <p:cNvPr id="3" name="Text 1"/>
          <p:cNvSpPr/>
          <p:nvPr/>
        </p:nvSpPr>
        <p:spPr>
          <a:xfrm>
            <a:off x="502920"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1</a:t>
            </a:r>
            <a:endParaRPr lang="en-US" sz="800" dirty="0"/>
          </a:p>
        </p:txBody>
      </p:sp>
      <p:sp>
        <p:nvSpPr>
          <p:cNvPr id="4" name="Shape 2"/>
          <p:cNvSpPr/>
          <p:nvPr/>
        </p:nvSpPr>
        <p:spPr>
          <a:xfrm>
            <a:off x="1753921" y="384048"/>
            <a:ext cx="1177849" cy="118872"/>
          </a:xfrm>
          <a:prstGeom prst="rect">
            <a:avLst/>
          </a:prstGeom>
          <a:solidFill>
            <a:srgbClr val="1F9D55"/>
          </a:solidFill>
          <a:ln/>
        </p:spPr>
      </p:sp>
      <p:sp>
        <p:nvSpPr>
          <p:cNvPr id="5" name="Text 3"/>
          <p:cNvSpPr/>
          <p:nvPr/>
        </p:nvSpPr>
        <p:spPr>
          <a:xfrm>
            <a:off x="1753921"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2</a:t>
            </a:r>
            <a:endParaRPr lang="en-US" sz="800" dirty="0"/>
          </a:p>
        </p:txBody>
      </p:sp>
      <p:sp>
        <p:nvSpPr>
          <p:cNvPr id="6" name="Shape 4"/>
          <p:cNvSpPr/>
          <p:nvPr/>
        </p:nvSpPr>
        <p:spPr>
          <a:xfrm>
            <a:off x="3004922" y="384048"/>
            <a:ext cx="1177849" cy="118872"/>
          </a:xfrm>
          <a:prstGeom prst="rect">
            <a:avLst/>
          </a:prstGeom>
          <a:solidFill>
            <a:srgbClr val="1F9D55"/>
          </a:solidFill>
          <a:ln/>
        </p:spPr>
      </p:sp>
      <p:sp>
        <p:nvSpPr>
          <p:cNvPr id="7" name="Text 5"/>
          <p:cNvSpPr/>
          <p:nvPr/>
        </p:nvSpPr>
        <p:spPr>
          <a:xfrm>
            <a:off x="3004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3</a:t>
            </a:r>
            <a:endParaRPr lang="en-US" sz="800" dirty="0"/>
          </a:p>
        </p:txBody>
      </p:sp>
      <p:sp>
        <p:nvSpPr>
          <p:cNvPr id="8" name="Shape 6"/>
          <p:cNvSpPr/>
          <p:nvPr/>
        </p:nvSpPr>
        <p:spPr>
          <a:xfrm>
            <a:off x="4255922" y="384048"/>
            <a:ext cx="1177849" cy="118872"/>
          </a:xfrm>
          <a:prstGeom prst="rect">
            <a:avLst/>
          </a:prstGeom>
          <a:solidFill>
            <a:srgbClr val="C2760C"/>
          </a:solidFill>
          <a:ln/>
        </p:spPr>
      </p:sp>
      <p:sp>
        <p:nvSpPr>
          <p:cNvPr id="9" name="Text 7"/>
          <p:cNvSpPr/>
          <p:nvPr/>
        </p:nvSpPr>
        <p:spPr>
          <a:xfrm>
            <a:off x="4255922"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4</a:t>
            </a:r>
            <a:endParaRPr lang="en-US" sz="800" dirty="0"/>
          </a:p>
        </p:txBody>
      </p:sp>
      <p:sp>
        <p:nvSpPr>
          <p:cNvPr id="10" name="Shape 8"/>
          <p:cNvSpPr/>
          <p:nvPr/>
        </p:nvSpPr>
        <p:spPr>
          <a:xfrm>
            <a:off x="5506923" y="384048"/>
            <a:ext cx="1177849" cy="118872"/>
          </a:xfrm>
          <a:prstGeom prst="rect">
            <a:avLst/>
          </a:prstGeom>
          <a:solidFill>
            <a:srgbClr val="C2760C"/>
          </a:solidFill>
          <a:ln/>
        </p:spPr>
      </p:sp>
      <p:sp>
        <p:nvSpPr>
          <p:cNvPr id="11" name="Text 9"/>
          <p:cNvSpPr/>
          <p:nvPr/>
        </p:nvSpPr>
        <p:spPr>
          <a:xfrm>
            <a:off x="5506923"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5</a:t>
            </a:r>
            <a:endParaRPr lang="en-US" sz="800" dirty="0"/>
          </a:p>
        </p:txBody>
      </p:sp>
      <p:sp>
        <p:nvSpPr>
          <p:cNvPr id="12" name="Shape 10"/>
          <p:cNvSpPr/>
          <p:nvPr/>
        </p:nvSpPr>
        <p:spPr>
          <a:xfrm>
            <a:off x="6757924" y="384048"/>
            <a:ext cx="1177849" cy="118872"/>
          </a:xfrm>
          <a:prstGeom prst="rect">
            <a:avLst/>
          </a:prstGeom>
          <a:solidFill>
            <a:srgbClr val="8A90A2"/>
          </a:solidFill>
          <a:ln/>
        </p:spPr>
      </p:sp>
      <p:sp>
        <p:nvSpPr>
          <p:cNvPr id="13" name="Text 11"/>
          <p:cNvSpPr/>
          <p:nvPr/>
        </p:nvSpPr>
        <p:spPr>
          <a:xfrm>
            <a:off x="6757924"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6</a:t>
            </a:r>
            <a:endParaRPr lang="en-US" sz="800" dirty="0"/>
          </a:p>
        </p:txBody>
      </p:sp>
      <p:sp>
        <p:nvSpPr>
          <p:cNvPr id="14" name="Shape 12"/>
          <p:cNvSpPr/>
          <p:nvPr/>
        </p:nvSpPr>
        <p:spPr>
          <a:xfrm>
            <a:off x="8008925" y="384048"/>
            <a:ext cx="1177849" cy="118872"/>
          </a:xfrm>
          <a:prstGeom prst="rect">
            <a:avLst/>
          </a:prstGeom>
          <a:solidFill>
            <a:srgbClr val="8A90A2"/>
          </a:solidFill>
          <a:ln/>
        </p:spPr>
      </p:sp>
      <p:sp>
        <p:nvSpPr>
          <p:cNvPr id="15" name="Text 13"/>
          <p:cNvSpPr/>
          <p:nvPr/>
        </p:nvSpPr>
        <p:spPr>
          <a:xfrm>
            <a:off x="8008925"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7</a:t>
            </a:r>
            <a:endParaRPr lang="en-US" sz="800" dirty="0"/>
          </a:p>
        </p:txBody>
      </p:sp>
      <p:sp>
        <p:nvSpPr>
          <p:cNvPr id="16" name="Shape 14"/>
          <p:cNvSpPr/>
          <p:nvPr/>
        </p:nvSpPr>
        <p:spPr>
          <a:xfrm>
            <a:off x="9259926" y="384048"/>
            <a:ext cx="1177849" cy="118872"/>
          </a:xfrm>
          <a:prstGeom prst="rect">
            <a:avLst/>
          </a:prstGeom>
          <a:solidFill>
            <a:srgbClr val="8A90A2"/>
          </a:solidFill>
          <a:ln/>
        </p:spPr>
      </p:sp>
      <p:sp>
        <p:nvSpPr>
          <p:cNvPr id="17" name="Text 15"/>
          <p:cNvSpPr/>
          <p:nvPr/>
        </p:nvSpPr>
        <p:spPr>
          <a:xfrm>
            <a:off x="9259926" y="530352"/>
            <a:ext cx="1177849" cy="201168"/>
          </a:xfrm>
          <a:prstGeom prst="rect">
            <a:avLst/>
          </a:prstGeom>
          <a:noFill/>
          <a:ln/>
        </p:spPr>
        <p:txBody>
          <a:bodyPr wrap="square" rtlCol="0" anchor="ctr"/>
          <a:lstStyle/>
          <a:p>
            <a:pPr algn="ctr" indent="0" marL="0">
              <a:buNone/>
            </a:pPr>
            <a:r>
              <a:rPr lang="en-US" sz="800" dirty="0">
                <a:solidFill>
                  <a:srgbClr val="7A8399"/>
                </a:solidFill>
                <a:latin typeface="Calibri" pitchFamily="34" charset="0"/>
                <a:ea typeface="Calibri" pitchFamily="34" charset="-122"/>
                <a:cs typeface="Calibri" pitchFamily="34" charset="-120"/>
              </a:rPr>
              <a:t>8</a:t>
            </a:r>
            <a:endParaRPr lang="en-US" sz="800" dirty="0"/>
          </a:p>
        </p:txBody>
      </p:sp>
      <p:sp>
        <p:nvSpPr>
          <p:cNvPr id="18" name="Shape 16"/>
          <p:cNvSpPr/>
          <p:nvPr/>
        </p:nvSpPr>
        <p:spPr>
          <a:xfrm>
            <a:off x="10510926" y="384048"/>
            <a:ext cx="1177849" cy="118872"/>
          </a:xfrm>
          <a:prstGeom prst="rect">
            <a:avLst/>
          </a:prstGeom>
          <a:solidFill>
            <a:srgbClr val="8A90A2"/>
          </a:solidFill>
          <a:ln/>
        </p:spPr>
      </p:sp>
      <p:sp>
        <p:nvSpPr>
          <p:cNvPr id="19" name="Shape 17"/>
          <p:cNvSpPr/>
          <p:nvPr/>
        </p:nvSpPr>
        <p:spPr>
          <a:xfrm>
            <a:off x="10492638" y="338328"/>
            <a:ext cx="1214425" cy="210312"/>
          </a:xfrm>
          <a:prstGeom prst="rect">
            <a:avLst/>
          </a:prstGeom>
          <a:ln w="22225">
            <a:solidFill>
              <a:srgbClr val="0B1220"/>
            </a:solidFill>
            <a:prstDash val="solid"/>
          </a:ln>
        </p:spPr>
      </p:sp>
      <p:sp>
        <p:nvSpPr>
          <p:cNvPr id="20" name="Text 18"/>
          <p:cNvSpPr/>
          <p:nvPr/>
        </p:nvSpPr>
        <p:spPr>
          <a:xfrm>
            <a:off x="10510926" y="530352"/>
            <a:ext cx="1177849" cy="201168"/>
          </a:xfrm>
          <a:prstGeom prst="rect">
            <a:avLst/>
          </a:prstGeom>
          <a:noFill/>
          <a:ln/>
        </p:spPr>
        <p:txBody>
          <a:bodyPr wrap="square" rtlCol="0" anchor="ctr"/>
          <a:lstStyle/>
          <a:p>
            <a:pPr algn="ctr" indent="0" marL="0">
              <a:buNone/>
            </a:pPr>
            <a:r>
              <a:rPr lang="en-US" sz="800" b="1" dirty="0">
                <a:solidFill>
                  <a:srgbClr val="1A2035"/>
                </a:solidFill>
                <a:latin typeface="Calibri" pitchFamily="34" charset="0"/>
                <a:ea typeface="Calibri" pitchFamily="34" charset="-122"/>
                <a:cs typeface="Calibri" pitchFamily="34" charset="-120"/>
              </a:rPr>
              <a:t>9</a:t>
            </a:r>
            <a:endParaRPr lang="en-US" sz="800" dirty="0"/>
          </a:p>
        </p:txBody>
      </p:sp>
      <p:sp>
        <p:nvSpPr>
          <p:cNvPr id="21" name="Text 19"/>
          <p:cNvSpPr/>
          <p:nvPr/>
        </p:nvSpPr>
        <p:spPr>
          <a:xfrm>
            <a:off x="502920" y="749808"/>
            <a:ext cx="5486400" cy="274320"/>
          </a:xfrm>
          <a:prstGeom prst="rect">
            <a:avLst/>
          </a:prstGeom>
          <a:noFill/>
          <a:ln/>
        </p:spPr>
        <p:txBody>
          <a:bodyPr wrap="square" rtlCol="0" anchor="ctr"/>
          <a:lstStyle/>
          <a:p>
            <a:pPr indent="0" marL="0">
              <a:buNone/>
            </a:pPr>
            <a:r>
              <a:rPr lang="en-US" sz="1100" b="1" spc="150" kern="0" dirty="0">
                <a:solidFill>
                  <a:srgbClr val="C9A227"/>
                </a:solidFill>
                <a:latin typeface="Calibri" pitchFamily="34" charset="0"/>
                <a:ea typeface="Calibri" pitchFamily="34" charset="-122"/>
                <a:cs typeface="Calibri" pitchFamily="34" charset="-120"/>
              </a:rPr>
              <a:t>STEP 9 OF 9</a:t>
            </a:r>
            <a:endParaRPr lang="en-US" sz="1100" dirty="0"/>
          </a:p>
        </p:txBody>
      </p:sp>
      <p:sp>
        <p:nvSpPr>
          <p:cNvPr id="22" name="Text 20"/>
          <p:cNvSpPr/>
          <p:nvPr/>
        </p:nvSpPr>
        <p:spPr>
          <a:xfrm>
            <a:off x="502920" y="1005840"/>
            <a:ext cx="8076895" cy="685800"/>
          </a:xfrm>
          <a:prstGeom prst="rect">
            <a:avLst/>
          </a:prstGeom>
          <a:noFill/>
          <a:ln/>
        </p:spPr>
        <p:txBody>
          <a:bodyPr wrap="square" rtlCol="0" anchor="ctr"/>
          <a:lstStyle/>
          <a:p>
            <a:pPr indent="0" marL="0">
              <a:buNone/>
            </a:pPr>
            <a:r>
              <a:rPr lang="en-US" sz="2500" b="1" dirty="0">
                <a:solidFill>
                  <a:srgbClr val="1A2035"/>
                </a:solidFill>
                <a:latin typeface="Cambria" pitchFamily="34" charset="0"/>
                <a:ea typeface="Cambria" pitchFamily="34" charset="-122"/>
                <a:cs typeface="Cambria" pitchFamily="34" charset="-120"/>
              </a:rPr>
              <a:t>Get legal sign-off for data privacy</a:t>
            </a:r>
            <a:endParaRPr lang="en-US" sz="2500" dirty="0"/>
          </a:p>
        </p:txBody>
      </p:sp>
      <p:sp>
        <p:nvSpPr>
          <p:cNvPr id="23" name="Shape 21"/>
          <p:cNvSpPr/>
          <p:nvPr/>
        </p:nvSpPr>
        <p:spPr>
          <a:xfrm>
            <a:off x="8945575" y="1078992"/>
            <a:ext cx="2743200" cy="457200"/>
          </a:xfrm>
          <a:prstGeom prst="rect">
            <a:avLst/>
          </a:prstGeom>
          <a:solidFill>
            <a:srgbClr val="EDEEF2"/>
          </a:solidFill>
          <a:ln/>
        </p:spPr>
      </p:sp>
      <p:sp>
        <p:nvSpPr>
          <p:cNvPr id="24" name="Text 22"/>
          <p:cNvSpPr/>
          <p:nvPr/>
        </p:nvSpPr>
        <p:spPr>
          <a:xfrm>
            <a:off x="8945575" y="1078992"/>
            <a:ext cx="2743200" cy="457200"/>
          </a:xfrm>
          <a:prstGeom prst="rect">
            <a:avLst/>
          </a:prstGeom>
          <a:noFill/>
          <a:ln/>
        </p:spPr>
        <p:txBody>
          <a:bodyPr wrap="square" rtlCol="0" anchor="ctr"/>
          <a:lstStyle/>
          <a:p>
            <a:pPr algn="ctr" indent="0" marL="0">
              <a:buNone/>
            </a:pPr>
            <a:r>
              <a:rPr lang="en-US" sz="1200" b="1" dirty="0">
                <a:solidFill>
                  <a:srgbClr val="8A90A2"/>
                </a:solidFill>
                <a:latin typeface="Calibri" pitchFamily="34" charset="0"/>
                <a:ea typeface="Calibri" pitchFamily="34" charset="-122"/>
                <a:cs typeface="Calibri" pitchFamily="34" charset="-120"/>
              </a:rPr>
              <a:t>NOT STARTED YET</a:t>
            </a:r>
            <a:endParaRPr lang="en-US" sz="1200" dirty="0"/>
          </a:p>
        </p:txBody>
      </p:sp>
      <p:sp>
        <p:nvSpPr>
          <p:cNvPr id="25" name="Text 23"/>
          <p:cNvSpPr/>
          <p:nvPr/>
        </p:nvSpPr>
        <p:spPr>
          <a:xfrm>
            <a:off x="502920" y="1874520"/>
            <a:ext cx="11185855" cy="256032"/>
          </a:xfrm>
          <a:prstGeom prst="rect">
            <a:avLst/>
          </a:prstGeom>
          <a:noFill/>
          <a:ln/>
        </p:spPr>
        <p:txBody>
          <a:bodyPr wrap="square" rtlCol="0" anchor="ctr"/>
          <a:lstStyle/>
          <a:p>
            <a:pPr indent="0" marL="0">
              <a:buNone/>
            </a:pPr>
            <a:r>
              <a:rPr lang="en-US" sz="1050" b="1" spc="100" kern="0" dirty="0">
                <a:solidFill>
                  <a:srgbClr val="7A8399"/>
                </a:solidFill>
                <a:latin typeface="Calibri" pitchFamily="34" charset="0"/>
                <a:ea typeface="Calibri" pitchFamily="34" charset="-122"/>
                <a:cs typeface="Calibri" pitchFamily="34" charset="-120"/>
              </a:rPr>
              <a:t>WHAT THIS STEP MEANS</a:t>
            </a:r>
            <a:endParaRPr lang="en-US" sz="1050" dirty="0"/>
          </a:p>
        </p:txBody>
      </p:sp>
      <p:sp>
        <p:nvSpPr>
          <p:cNvPr id="26" name="Text 24"/>
          <p:cNvSpPr/>
          <p:nvPr/>
        </p:nvSpPr>
        <p:spPr>
          <a:xfrm>
            <a:off x="502920" y="2167128"/>
            <a:ext cx="11185855" cy="685800"/>
          </a:xfrm>
          <a:prstGeom prst="rect">
            <a:avLst/>
          </a:prstGeom>
          <a:noFill/>
          <a:ln/>
        </p:spPr>
        <p:txBody>
          <a:bodyPr wrap="square" rtlCol="0" anchor="t"/>
          <a:lstStyle/>
          <a:p>
            <a:pPr indent="0" marL="0">
              <a:lnSpc>
                <a:spcPct val="120000"/>
              </a:lnSpc>
              <a:buNone/>
            </a:pPr>
            <a:r>
              <a:rPr lang="en-US" sz="1300" dirty="0">
                <a:solidFill>
                  <a:srgbClr val="1A2035"/>
                </a:solidFill>
                <a:latin typeface="Calibri" pitchFamily="34" charset="0"/>
                <a:ea typeface="Calibri" pitchFamily="34" charset="-122"/>
                <a:cs typeface="Calibri" pitchFamily="34" charset="-120"/>
              </a:rPr>
              <a:t>Step 9 is having a qualified lawyer formally confirm that how we store and use bank contacts' personal information follows Saudi Arabia's data-protection law (PDPL), before we rely on this system for real client data long-term.</a:t>
            </a:r>
            <a:endParaRPr lang="en-US" sz="1300" dirty="0"/>
          </a:p>
        </p:txBody>
      </p:sp>
      <p:sp>
        <p:nvSpPr>
          <p:cNvPr id="27" name="Shape 25"/>
          <p:cNvSpPr/>
          <p:nvPr/>
        </p:nvSpPr>
        <p:spPr>
          <a:xfrm>
            <a:off x="502920" y="2944368"/>
            <a:ext cx="5455768" cy="3410712"/>
          </a:xfrm>
          <a:prstGeom prst="rect">
            <a:avLst/>
          </a:prstGeom>
          <a:solidFill>
            <a:srgbClr val="FBEEDC"/>
          </a:solidFill>
          <a:ln/>
        </p:spPr>
      </p:sp>
      <p:sp>
        <p:nvSpPr>
          <p:cNvPr id="28" name="Text 26"/>
          <p:cNvSpPr/>
          <p:nvPr/>
        </p:nvSpPr>
        <p:spPr>
          <a:xfrm>
            <a:off x="685800" y="3054096"/>
            <a:ext cx="5090008" cy="256032"/>
          </a:xfrm>
          <a:prstGeom prst="rect">
            <a:avLst/>
          </a:prstGeom>
          <a:noFill/>
          <a:ln/>
        </p:spPr>
        <p:txBody>
          <a:bodyPr wrap="square" rtlCol="0" anchor="ctr"/>
          <a:lstStyle/>
          <a:p>
            <a:pPr indent="0" marL="0">
              <a:buNone/>
            </a:pPr>
            <a:r>
              <a:rPr lang="en-US" sz="1050" b="1" spc="100" kern="0" dirty="0">
                <a:solidFill>
                  <a:srgbClr val="C2760C"/>
                </a:solidFill>
                <a:latin typeface="Calibri" pitchFamily="34" charset="0"/>
                <a:ea typeface="Calibri" pitchFamily="34" charset="-122"/>
                <a:cs typeface="Calibri" pitchFamily="34" charset="-120"/>
              </a:rPr>
              <a:t>THE HOLD-UP</a:t>
            </a:r>
            <a:endParaRPr lang="en-US" sz="1050" dirty="0"/>
          </a:p>
        </p:txBody>
      </p:sp>
      <p:sp>
        <p:nvSpPr>
          <p:cNvPr id="29" name="Text 27"/>
          <p:cNvSpPr/>
          <p:nvPr/>
        </p:nvSpPr>
        <p:spPr>
          <a:xfrm>
            <a:off x="685800"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The technical safeguards are already built — the system can already show what data it holds on someone, and delete it on request. But only a qualified lawyer can certify that this satisfies the law. That is a legal judgement, not something engineering can decide on its own.</a:t>
            </a:r>
            <a:endParaRPr lang="en-US" sz="1150" dirty="0"/>
          </a:p>
        </p:txBody>
      </p:sp>
      <p:sp>
        <p:nvSpPr>
          <p:cNvPr id="30" name="Shape 28"/>
          <p:cNvSpPr/>
          <p:nvPr/>
        </p:nvSpPr>
        <p:spPr>
          <a:xfrm>
            <a:off x="6233008" y="2944368"/>
            <a:ext cx="5455768" cy="3410712"/>
          </a:xfrm>
          <a:prstGeom prst="rect">
            <a:avLst/>
          </a:prstGeom>
          <a:solidFill>
            <a:srgbClr val="E7F6ED"/>
          </a:solidFill>
          <a:ln/>
        </p:spPr>
      </p:sp>
      <p:sp>
        <p:nvSpPr>
          <p:cNvPr id="31" name="Text 29"/>
          <p:cNvSpPr/>
          <p:nvPr/>
        </p:nvSpPr>
        <p:spPr>
          <a:xfrm>
            <a:off x="6415888" y="3054096"/>
            <a:ext cx="5090008" cy="256032"/>
          </a:xfrm>
          <a:prstGeom prst="rect">
            <a:avLst/>
          </a:prstGeom>
          <a:noFill/>
          <a:ln/>
        </p:spPr>
        <p:txBody>
          <a:bodyPr wrap="square" rtlCol="0" anchor="ctr"/>
          <a:lstStyle/>
          <a:p>
            <a:pPr indent="0" marL="0">
              <a:buNone/>
            </a:pPr>
            <a:r>
              <a:rPr lang="en-US" sz="1050" b="1" spc="100" kern="0" dirty="0">
                <a:solidFill>
                  <a:srgbClr val="1F9D55"/>
                </a:solidFill>
                <a:latin typeface="Calibri" pitchFamily="34" charset="0"/>
                <a:ea typeface="Calibri" pitchFamily="34" charset="-122"/>
                <a:cs typeface="Calibri" pitchFamily="34" charset="-120"/>
              </a:rPr>
              <a:t>THE FIX</a:t>
            </a:r>
            <a:endParaRPr lang="en-US" sz="1050" dirty="0"/>
          </a:p>
        </p:txBody>
      </p:sp>
      <p:sp>
        <p:nvSpPr>
          <p:cNvPr id="32" name="Text 30"/>
          <p:cNvSpPr/>
          <p:nvPr/>
        </p:nvSpPr>
        <p:spPr>
          <a:xfrm>
            <a:off x="6415888" y="3364992"/>
            <a:ext cx="5090008" cy="2862072"/>
          </a:xfrm>
          <a:prstGeom prst="rect">
            <a:avLst/>
          </a:prstGeom>
          <a:noFill/>
          <a:ln/>
        </p:spPr>
        <p:txBody>
          <a:bodyPr wrap="square" rtlCol="0" anchor="t"/>
          <a:lstStyle/>
          <a:p>
            <a:pPr indent="0" marL="0">
              <a:lnSpc>
                <a:spcPct val="120000"/>
              </a:lnSpc>
              <a:buNone/>
            </a:pPr>
            <a:r>
              <a:rPr lang="en-US" sz="1150" dirty="0">
                <a:solidFill>
                  <a:srgbClr val="1A2035"/>
                </a:solidFill>
                <a:latin typeface="Calibri" pitchFamily="34" charset="0"/>
                <a:ea typeface="Calibri" pitchFamily="34" charset="-122"/>
                <a:cs typeface="Calibri" pitchFamily="34" charset="-120"/>
              </a:rPr>
              <a:t>Send the system for a formal legal review. This step depends entirely on legal team availability, not on any further building — it can run in parallel with Steps 5 to 8.</a:t>
            </a:r>
            <a:endParaRPr lang="en-US" sz="1150" dirty="0"/>
          </a:p>
        </p:txBody>
      </p:sp>
      <p:sp>
        <p:nvSpPr>
          <p:cNvPr id="33" name="Text 31"/>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Our Journey, Step by Step</a:t>
            </a:r>
            <a:endParaRPr lang="en-US" sz="850" dirty="0"/>
          </a:p>
        </p:txBody>
      </p:sp>
      <p:sp>
        <p:nvSpPr>
          <p:cNvPr id="34" name="Text 32"/>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DRIP Platform — Our Journey, Step by Step</dc:title>
  <dc:subject>PptxGenJS Presentation</dc:subject>
  <dc:creator>DRIP Platform</dc:creator>
  <cp:lastModifiedBy>DRIP Platform</cp:lastModifiedBy>
  <cp:revision>1</cp:revision>
  <dcterms:created xsi:type="dcterms:W3CDTF">2026-07-21T11:19:45Z</dcterms:created>
  <dcterms:modified xsi:type="dcterms:W3CDTF">2026-07-21T11:19:45Z</dcterms:modified>
</cp:coreProperties>
</file>