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presentation covers all signal sources the ABM engine monitors, with reasoning for why each source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all 15 signal streams. 3 new streams identified as gaps: SIG-HIRE (critical), SIG-TENDER (critical), SIG-PARTNER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SIG-NEWS captures market events. Key insight: Argaam breaks Saudi banking news 4-12 hours before English outlets. Arabic NLP pipeline is a prerequisite. Bank newsrooms are the authoritative source — source trust 0.85 per ICS-SOURCE-001.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SIG-REG is the highest-confidence signal stream. SAMA circulars have source trust 0.95. A new open banking directive doesn't just signal — it creates a compliance-urgency window with an explicit deadline that maps to the Timing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SIG-FIN key insight: annual reports are the richest single source in the system — they reveal vendors, subsidiaries, strategic initiatives, and sometimes IT spend. Must be parsed in full. MAGNiTT/Crunchbase are currently OPEN-GAP-SIG-03.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SIG-EXEC builds named, badged dossiers. Key tradecraft: conference speeches are the strongest personalization hook — Dr. Al-Furaih's Money20/20 2024 presentation is exactly the kind of grounded material the engine captures. 11 named KSA/GCC conferences are in the annual monitoring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SIG-HIRE is the single highest-value gap. Job postings reveal: (1) confirmed budget (role approved), (2) confirmed timeline (hiring = 3-6 month procurement horizon), (3) tech stack (vendor names in requirements = SIG-VENDOR cross-link), (4) new contacts (the hire becomes a buying committee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SIG-VENDOR's competitive intelligence is the bridge between knowing what a bank needs and knowing who they're already working with. Per-account vendor registry with exclusivity discipline: Backbase=SNB only, Efigence=Riyad only. A competitor publishing an Al Rajhi case study is a HIGH urgency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SIG-TENDER is critical because it's the one signal type where the buying decision has already been made. P1 path is manual input (trivially buildable). P2 is automated Etimad monitoring. Most RFP awareness in KSA banking comes through network intelligence, not published tenders.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are timing instruments, not just data sources. If a target exec is speaking at Money20/20 ME, the 2-week window around the event is the optimal approach moment. The engine captures speech topics as grounded personalization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SIG-PATH is the headline stream because 'a signal with no warm path is unactionable.' The connector registry maps organization-level bridges (KPMG alumni, Mastercard advisory board) to specific target contacts. SNB has 8 connector paths; each bank needs equivalent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SIG-PARTNER is a classification layer on SIG-NEWS output, not a new source. The key insight: a bank signing an MOU with a competitor requires a completely different scoring response than a generic digital initiative announcement. SIG-SOCIAL is deferred to P2 due to cost and low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INT-ENR fallback chain: Apollo -&gt; Clearbit -&gt; Clay. Stops at first verified result. Engagement feedback sources close the loop: a reply validates the intelligence that generated the message, increasing ICS. HubSpot sync follows COH-F01 resolution with explicit source-of-truth per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slide. Each gap requires a governance decision before specification can proceed. SIG-HIRE is the clear priority 1 — it's the single highest-value signal the engine is currently blind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clear asks. The 6 next steps are ordered by priority. Items 1-4 are P1. Items 5-6 are deferrals.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1097280"/>
            <a:ext cx="7680960" cy="731520"/>
          </a:xfrm>
          <a:prstGeom prst="rect">
            <a:avLst/>
          </a:prstGeom>
          <a:noFill/>
          <a:ln/>
        </p:spPr>
        <p:txBody>
          <a:bodyPr wrap="square" rtlCol="0" anchor="ctr"/>
          <a:lstStyle/>
          <a:p>
            <a:pPr indent="0" marL="0">
              <a:buNone/>
            </a:pPr>
            <a:r>
              <a:rPr lang="en-US" sz="4400" b="1" spc="400" kern="0" dirty="0">
                <a:solidFill>
                  <a:srgbClr val="FFFFFF"/>
                </a:solidFill>
                <a:latin typeface="Arial" pitchFamily="34" charset="0"/>
                <a:ea typeface="Arial" pitchFamily="34" charset="-122"/>
                <a:cs typeface="Arial" pitchFamily="34" charset="-120"/>
              </a:rPr>
              <a:t>ABM ENGINE</a:t>
            </a:r>
            <a:endParaRPr lang="en-US" sz="4400" dirty="0"/>
          </a:p>
        </p:txBody>
      </p:sp>
      <p:sp>
        <p:nvSpPr>
          <p:cNvPr id="3" name="Text 1"/>
          <p:cNvSpPr/>
          <p:nvPr/>
        </p:nvSpPr>
        <p:spPr>
          <a:xfrm>
            <a:off x="731520" y="1828800"/>
            <a:ext cx="7680960" cy="548640"/>
          </a:xfrm>
          <a:prstGeom prst="rect">
            <a:avLst/>
          </a:prstGeom>
          <a:noFill/>
          <a:ln/>
        </p:spPr>
        <p:txBody>
          <a:bodyPr wrap="square" rtlCol="0" anchor="ctr"/>
          <a:lstStyle/>
          <a:p>
            <a:pPr indent="0" marL="0">
              <a:buNone/>
            </a:pPr>
            <a:r>
              <a:rPr lang="en-US" sz="2800" b="1" dirty="0">
                <a:solidFill>
                  <a:srgbClr val="D4A84B"/>
                </a:solidFill>
                <a:latin typeface="Arial" pitchFamily="34" charset="0"/>
                <a:ea typeface="Arial" pitchFamily="34" charset="-122"/>
                <a:cs typeface="Arial" pitchFamily="34" charset="-120"/>
              </a:rPr>
              <a:t>SIGNAL SOURCE ARCHITECTURE</a:t>
            </a:r>
            <a:endParaRPr lang="en-US" sz="2800" dirty="0"/>
          </a:p>
        </p:txBody>
      </p:sp>
      <p:sp>
        <p:nvSpPr>
          <p:cNvPr id="4" name="Shape 2"/>
          <p:cNvSpPr/>
          <p:nvPr/>
        </p:nvSpPr>
        <p:spPr>
          <a:xfrm>
            <a:off x="731520" y="2560320"/>
            <a:ext cx="2286000" cy="0"/>
          </a:xfrm>
          <a:prstGeom prst="line">
            <a:avLst/>
          </a:prstGeom>
          <a:noFill/>
          <a:ln w="38100">
            <a:solidFill>
              <a:srgbClr val="D4A84B"/>
            </a:solidFill>
            <a:prstDash val="solid"/>
          </a:ln>
        </p:spPr>
      </p:sp>
      <p:sp>
        <p:nvSpPr>
          <p:cNvPr id="5" name="Text 3"/>
          <p:cNvSpPr/>
          <p:nvPr/>
        </p:nvSpPr>
        <p:spPr>
          <a:xfrm>
            <a:off x="731520" y="2834640"/>
            <a:ext cx="7315200" cy="457200"/>
          </a:xfrm>
          <a:prstGeom prst="rect">
            <a:avLst/>
          </a:prstGeom>
          <a:noFill/>
          <a:ln/>
        </p:spPr>
        <p:txBody>
          <a:bodyPr wrap="square" rtlCol="0" anchor="ctr"/>
          <a:lstStyle/>
          <a:p>
            <a:pPr indent="0" marL="0">
              <a:buNone/>
            </a:pPr>
            <a:r>
              <a:rPr lang="en-US" sz="1600" i="1" dirty="0">
                <a:solidFill>
                  <a:srgbClr val="718096"/>
                </a:solidFill>
                <a:latin typeface="Arial" pitchFamily="34" charset="0"/>
                <a:ea typeface="Arial" pitchFamily="34" charset="-122"/>
                <a:cs typeface="Arial" pitchFamily="34" charset="-120"/>
              </a:rPr>
              <a:t>Every source named. Authenticated. Timed. Per-account specific.</a:t>
            </a:r>
            <a:endParaRPr lang="en-US" sz="1600" dirty="0"/>
          </a:p>
        </p:txBody>
      </p:sp>
      <p:sp>
        <p:nvSpPr>
          <p:cNvPr id="6" name="Text 4"/>
          <p:cNvSpPr/>
          <p:nvPr/>
        </p:nvSpPr>
        <p:spPr>
          <a:xfrm>
            <a:off x="731520" y="4389120"/>
            <a:ext cx="7315200" cy="365760"/>
          </a:xfrm>
          <a:prstGeom prst="rect">
            <a:avLst/>
          </a:prstGeom>
          <a:noFill/>
          <a:ln/>
        </p:spPr>
        <p:txBody>
          <a:bodyPr wrap="square" rtlCol="0" anchor="ctr"/>
          <a:lstStyle/>
          <a:p>
            <a:pPr indent="0" marL="0">
              <a:buNone/>
            </a:pPr>
            <a:r>
              <a:rPr lang="en-US" sz="1100" dirty="0">
                <a:solidFill>
                  <a:srgbClr val="718096"/>
                </a:solidFill>
                <a:latin typeface="Arial" pitchFamily="34" charset="0"/>
                <a:ea typeface="Arial" pitchFamily="34" charset="-122"/>
                <a:cs typeface="Arial" pitchFamily="34" charset="-120"/>
              </a:rPr>
              <a:t>Decimal Technologies  |  Confidential  |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rtlCol="0" anchor="ctr"/>
          <a:lstStyle/>
          <a:p>
            <a:pPr indent="0" marL="0">
              <a:buNone/>
            </a:pPr>
            <a:r>
              <a:rPr lang="en-US" sz="2400" b="1" dirty="0">
                <a:solidFill>
                  <a:srgbClr val="0A1628"/>
                </a:solidFill>
                <a:latin typeface="Arial" pitchFamily="34" charset="0"/>
                <a:ea typeface="Arial" pitchFamily="34" charset="-122"/>
                <a:cs typeface="Arial" pitchFamily="34" charset="-120"/>
              </a:rPr>
              <a:t>SIGNAL ARCHITECTURE OVERVIEW</a:t>
            </a:r>
            <a:endParaRPr lang="en-US" sz="2400" dirty="0"/>
          </a:p>
        </p:txBody>
      </p:sp>
      <p:sp>
        <p:nvSpPr>
          <p:cNvPr id="3" name="Shape 1"/>
          <p:cNvSpPr/>
          <p:nvPr/>
        </p:nvSpPr>
        <p:spPr>
          <a:xfrm>
            <a:off x="548640" y="1051560"/>
            <a:ext cx="1828800" cy="1097280"/>
          </a:xfrm>
          <a:prstGeom prst="roundRect">
            <a:avLst>
              <a:gd name="adj" fmla="val 8333"/>
            </a:avLst>
          </a:prstGeom>
          <a:solidFill>
            <a:srgbClr val="3182CE"/>
          </a:solidFill>
          <a:ln/>
          <a:effectLst>
            <a:outerShdw sx="100000" sy="100000" kx="0" ky="0" algn="bl" rotWithShape="0" blurRad="76200" dist="25400" dir="2700000">
              <a:srgbClr val="000000">
                <a:alpha val="12000"/>
              </a:srgbClr>
            </a:outerShdw>
          </a:effectLst>
        </p:spPr>
      </p:sp>
      <p:sp>
        <p:nvSpPr>
          <p:cNvPr id="4" name="Text 2"/>
          <p:cNvSpPr/>
          <p:nvPr/>
        </p:nvSpPr>
        <p:spPr>
          <a:xfrm>
            <a:off x="548640" y="1097280"/>
            <a:ext cx="1828800" cy="5943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95+</a:t>
            </a:r>
            <a:endParaRPr lang="en-US" sz="3200" dirty="0"/>
          </a:p>
        </p:txBody>
      </p:sp>
      <p:sp>
        <p:nvSpPr>
          <p:cNvPr id="5" name="Text 3"/>
          <p:cNvSpPr/>
          <p:nvPr/>
        </p:nvSpPr>
        <p:spPr>
          <a:xfrm>
            <a:off x="548640" y="1691640"/>
            <a:ext cx="182880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Named Sources</a:t>
            </a:r>
            <a:endParaRPr lang="en-US" sz="1200" dirty="0"/>
          </a:p>
        </p:txBody>
      </p:sp>
      <p:sp>
        <p:nvSpPr>
          <p:cNvPr id="6" name="Shape 4"/>
          <p:cNvSpPr/>
          <p:nvPr/>
        </p:nvSpPr>
        <p:spPr>
          <a:xfrm>
            <a:off x="2651760" y="1051560"/>
            <a:ext cx="1828800" cy="1097280"/>
          </a:xfrm>
          <a:prstGeom prst="roundRect">
            <a:avLst>
              <a:gd name="adj" fmla="val 8333"/>
            </a:avLst>
          </a:prstGeom>
          <a:solidFill>
            <a:srgbClr val="319795"/>
          </a:solidFill>
          <a:ln/>
          <a:effectLst>
            <a:outerShdw sx="100000" sy="100000" kx="0" ky="0" algn="bl" rotWithShape="0" blurRad="76200" dist="25400" dir="2700000">
              <a:srgbClr val="000000">
                <a:alpha val="12000"/>
              </a:srgbClr>
            </a:outerShdw>
          </a:effectLst>
        </p:spPr>
      </p:sp>
      <p:sp>
        <p:nvSpPr>
          <p:cNvPr id="7" name="Text 5"/>
          <p:cNvSpPr/>
          <p:nvPr/>
        </p:nvSpPr>
        <p:spPr>
          <a:xfrm>
            <a:off x="2651760" y="1097280"/>
            <a:ext cx="1828800" cy="5943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15</a:t>
            </a:r>
            <a:endParaRPr lang="en-US" sz="3200" dirty="0"/>
          </a:p>
        </p:txBody>
      </p:sp>
      <p:sp>
        <p:nvSpPr>
          <p:cNvPr id="8" name="Text 6"/>
          <p:cNvSpPr/>
          <p:nvPr/>
        </p:nvSpPr>
        <p:spPr>
          <a:xfrm>
            <a:off x="2651760" y="1691640"/>
            <a:ext cx="182880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Streams</a:t>
            </a:r>
            <a:endParaRPr lang="en-US" sz="1200" dirty="0"/>
          </a:p>
        </p:txBody>
      </p:sp>
      <p:sp>
        <p:nvSpPr>
          <p:cNvPr id="9" name="Shape 7"/>
          <p:cNvSpPr/>
          <p:nvPr/>
        </p:nvSpPr>
        <p:spPr>
          <a:xfrm>
            <a:off x="4754880" y="1051560"/>
            <a:ext cx="1828800" cy="1097280"/>
          </a:xfrm>
          <a:prstGeom prst="roundRect">
            <a:avLst>
              <a:gd name="adj" fmla="val 8333"/>
            </a:avLst>
          </a:prstGeom>
          <a:solidFill>
            <a:srgbClr val="805AD5"/>
          </a:solidFill>
          <a:ln/>
          <a:effectLst>
            <a:outerShdw sx="100000" sy="100000" kx="0" ky="0" algn="bl" rotWithShape="0" blurRad="76200" dist="25400" dir="2700000">
              <a:srgbClr val="000000">
                <a:alpha val="12000"/>
              </a:srgbClr>
            </a:outerShdw>
          </a:effectLst>
        </p:spPr>
      </p:sp>
      <p:sp>
        <p:nvSpPr>
          <p:cNvPr id="10" name="Text 8"/>
          <p:cNvSpPr/>
          <p:nvPr/>
        </p:nvSpPr>
        <p:spPr>
          <a:xfrm>
            <a:off x="4754880" y="1097280"/>
            <a:ext cx="1828800" cy="5943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10</a:t>
            </a:r>
            <a:endParaRPr lang="en-US" sz="3200" dirty="0"/>
          </a:p>
        </p:txBody>
      </p:sp>
      <p:sp>
        <p:nvSpPr>
          <p:cNvPr id="11" name="Text 9"/>
          <p:cNvSpPr/>
          <p:nvPr/>
        </p:nvSpPr>
        <p:spPr>
          <a:xfrm>
            <a:off x="4754880" y="1691640"/>
            <a:ext cx="182880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Target Banks</a:t>
            </a:r>
            <a:endParaRPr lang="en-US" sz="1200" dirty="0"/>
          </a:p>
        </p:txBody>
      </p:sp>
      <p:sp>
        <p:nvSpPr>
          <p:cNvPr id="12" name="Shape 10"/>
          <p:cNvSpPr/>
          <p:nvPr/>
        </p:nvSpPr>
        <p:spPr>
          <a:xfrm>
            <a:off x="6858000" y="1051560"/>
            <a:ext cx="1828800" cy="1097280"/>
          </a:xfrm>
          <a:prstGeom prst="roundRect">
            <a:avLst>
              <a:gd name="adj" fmla="val 8333"/>
            </a:avLst>
          </a:prstGeom>
          <a:solidFill>
            <a:srgbClr val="E53E3E"/>
          </a:solidFill>
          <a:ln/>
          <a:effectLst>
            <a:outerShdw sx="100000" sy="100000" kx="0" ky="0" algn="bl" rotWithShape="0" blurRad="76200" dist="25400" dir="2700000">
              <a:srgbClr val="000000">
                <a:alpha val="12000"/>
              </a:srgbClr>
            </a:outerShdw>
          </a:effectLst>
        </p:spPr>
      </p:sp>
      <p:sp>
        <p:nvSpPr>
          <p:cNvPr id="13" name="Text 11"/>
          <p:cNvSpPr/>
          <p:nvPr/>
        </p:nvSpPr>
        <p:spPr>
          <a:xfrm>
            <a:off x="6858000" y="1097280"/>
            <a:ext cx="1828800" cy="5943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7</a:t>
            </a:r>
            <a:endParaRPr lang="en-US" sz="3200" dirty="0"/>
          </a:p>
        </p:txBody>
      </p:sp>
      <p:sp>
        <p:nvSpPr>
          <p:cNvPr id="14" name="Text 12"/>
          <p:cNvSpPr/>
          <p:nvPr/>
        </p:nvSpPr>
        <p:spPr>
          <a:xfrm>
            <a:off x="6858000" y="1691640"/>
            <a:ext cx="182880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Gaps Found</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8046720" cy="914400"/>
        </p:xfrm>
        <a:graphic>
          <a:graphicData uri="http://schemas.openxmlformats.org/drawingml/2006/table">
            <a:tbl>
              <a:tblPr/>
              <a:tblGrid>
                <a:gridCol w="1463040"/>
                <a:gridCol w="3474720"/>
                <a:gridCol w="31089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Stream</a:t>
                      </a:r>
                      <a:endParaRPr lang="en-US" sz="9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Domain</a:t>
                      </a:r>
                      <a:endParaRPr lang="en-US" sz="9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SIG-NEWS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News &amp; Press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SIG-REG</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Regulatory (SAMA/CMA)</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SIG-FIN</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Financial Position</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SIG-EXEC</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Executive Intelligence</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E53E3E"/>
                          </a:solidFill>
                          <a:latin typeface="Arial" pitchFamily="34" charset="0"/>
                          <a:ea typeface="Arial" pitchFamily="34" charset="-122"/>
                          <a:cs typeface="Arial" pitchFamily="34" charset="-120"/>
                        </a:rPr>
                        <a:t>SIG-HIRE</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Hiring &amp; Job Postings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E53E3E"/>
                          </a:solidFill>
                          <a:latin typeface="Arial" pitchFamily="34" charset="0"/>
                          <a:ea typeface="Arial" pitchFamily="34" charset="-122"/>
                          <a:cs typeface="Arial" pitchFamily="34" charset="-120"/>
                        </a:rPr>
                        <a:t>NEW — CRITICAL GAP</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SIG-VENDOR</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Vendor &amp; Competitive</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E53E3E"/>
                          </a:solidFill>
                          <a:latin typeface="Arial" pitchFamily="34" charset="0"/>
                          <a:ea typeface="Arial" pitchFamily="34" charset="-122"/>
                          <a:cs typeface="Arial" pitchFamily="34" charset="-120"/>
                        </a:rPr>
                        <a:t>SIG-TENDER</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Procurement &amp; RFP</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E53E3E"/>
                          </a:solidFill>
                          <a:latin typeface="Arial" pitchFamily="34" charset="0"/>
                          <a:ea typeface="Arial" pitchFamily="34" charset="-122"/>
                          <a:cs typeface="Arial" pitchFamily="34" charset="-120"/>
                        </a:rPr>
                        <a:t>NEW — CRITICAL GAP</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SIG-EVENT</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Events &amp; Conferences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SIG-SUBS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Subsidiaries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SIG-PATH</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Connection to Decimal</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E53E3E"/>
                          </a:solidFill>
                          <a:latin typeface="Arial" pitchFamily="34" charset="0"/>
                          <a:ea typeface="Arial" pitchFamily="34" charset="-122"/>
                          <a:cs typeface="Arial" pitchFamily="34" charset="-120"/>
                        </a:rPr>
                        <a:t>SIG-PARTNER</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MOU &amp; Partnerships</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E53E3E"/>
                          </a:solidFill>
                          <a:latin typeface="Arial" pitchFamily="34" charset="0"/>
                          <a:ea typeface="Arial" pitchFamily="34" charset="-122"/>
                          <a:cs typeface="Arial" pitchFamily="34" charset="-120"/>
                        </a:rPr>
                        <a:t>NEW — HIGH</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800" b="1" dirty="0">
                          <a:solidFill>
                            <a:srgbClr val="2D3748"/>
                          </a:solidFill>
                          <a:latin typeface="Arial" pitchFamily="34" charset="0"/>
                          <a:ea typeface="Arial" pitchFamily="34" charset="-122"/>
                          <a:cs typeface="Arial" pitchFamily="34" charset="-120"/>
                        </a:rPr>
                        <a:t>INT-ENR</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2D3748"/>
                          </a:solidFill>
                          <a:latin typeface="Arial" pitchFamily="34" charset="0"/>
                          <a:ea typeface="Arial" pitchFamily="34" charset="-122"/>
                          <a:cs typeface="Arial" pitchFamily="34" charset="-120"/>
                        </a:rPr>
                        <a:t>Enrichment (Apollo/Clearbit/Clay)</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38A169"/>
                          </a:solidFill>
                          <a:latin typeface="Arial" pitchFamily="34" charset="0"/>
                          <a:ea typeface="Arial" pitchFamily="34" charset="-122"/>
                          <a:cs typeface="Arial" pitchFamily="34" charset="-120"/>
                        </a:rPr>
                        <a:t>SPECIFIED</a:t>
                      </a:r>
                      <a:endParaRPr lang="en-US" sz="8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3182CE"/>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SIG-NEWS — News, Announcements &amp; Press</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Google News API</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Broad market coverage. Per-bank keyword queries (EN + AR). Hourly for HOT accounts. $36/mo for 10 banks.</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Bank Newsrooms (10 sites)</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Official source — highest trust (0.85). Direct from the bank. First to publish strategic announcements.</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Argaam (Arabic Financial)</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Saudi financial community reads Argaam before Reuters. 4-12hr lead time on KSA banking news. Arabic NLP required.</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Arab News / Saudi Gazette</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English-language KSA press. RSS available. Broader context signals beyond banking-specific.</a:t>
            </a:r>
            <a:endParaRPr lang="en-US" sz="900" dirty="0"/>
          </a:p>
        </p:txBody>
      </p:sp>
      <p:sp>
        <p:nvSpPr>
          <p:cNvPr id="17" name="Shape 14"/>
          <p:cNvSpPr/>
          <p:nvPr/>
        </p:nvSpPr>
        <p:spPr>
          <a:xfrm>
            <a:off x="457200" y="3694176"/>
            <a:ext cx="8229600" cy="640080"/>
          </a:xfrm>
          <a:prstGeom prst="roundRect">
            <a:avLst>
              <a:gd name="adj" fmla="val 7143"/>
            </a:avLst>
          </a:prstGeom>
          <a:solidFill>
            <a:srgbClr val="F7FAFC"/>
          </a:solidFill>
          <a:ln/>
        </p:spPr>
      </p:sp>
      <p:sp>
        <p:nvSpPr>
          <p:cNvPr id="18" name="Text 15"/>
          <p:cNvSpPr/>
          <p:nvPr/>
        </p:nvSpPr>
        <p:spPr>
          <a:xfrm>
            <a:off x="640080" y="3694176"/>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Reuters / Bloomberg (via Google News)</a:t>
            </a:r>
            <a:endParaRPr lang="en-US" sz="1000" dirty="0"/>
          </a:p>
        </p:txBody>
      </p:sp>
      <p:sp>
        <p:nvSpPr>
          <p:cNvPr id="19" name="Text 16"/>
          <p:cNvSpPr/>
          <p:nvPr/>
        </p:nvSpPr>
        <p:spPr>
          <a:xfrm>
            <a:off x="3291840" y="3694176"/>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Tier-1 international press. High independence (0.90). Captured via Google News — no separate API cost needed.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E53E3E"/>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SIG-REG — Regulatory Signals</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SAMA (sama.gov.sa)</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Highest reliability in the system (0.95). Circulars create compliance windows with hard deadlines. Every bank must respond.</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CMA (cma.org.sa)</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Capital markets authority. Manages Fintech Experimental Permit (sandbox). Sandbox graduates = ecosystem signal.</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Tadawul (saudiexchange.sa)</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Per-bank by ticker (SNB=1180, Al Rajhi=1120...). Board changes, material events, financial filings.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DD6B20"/>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SIG-FIN — Financial Position &amp; Budget Signals</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Bank IR Pages (10 banks)</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Quarterly results + annual reports. IT spend disclosure = direct budget signal. Technology strategy section feeds EXEC_BELIEF_TIMELINE.</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Fitch / Moody's / S&amp;P</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Rating changes signal budget confidence. Downgrade can freeze procurement for 6-12 months — negative signal.</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MAGNiTT (MENA Startup DB)</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Subsidiary funding rounds (Neo, Emkan, D360). Better KSA coverage than Crunchbase. OPEN-GAP-SIG-03.</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Crunchbase</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Global funding database. Subsidiary-level investment signals. Complements MAGNiTT for international rounds.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805AD5"/>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SIG-EXEC — Executive Intelligence &amp; Dossier</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LinkedIn Profiles (Heyreach)</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Self-reported but high proximity (0.90). New C-suite hire = P1 signal (vendor evaluation window). ~100 profiles/day rate limit.</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11 Named Conferences</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LEAP (Feb), Seamless (Apr), FII (Oct), GITEX (Oct), Money20/20 (Nov). Exec speeches = grounded personalization material.</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Bank Annual Reports</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Authoritative source for executive roster. Board + management listings. Verification benchmark for LinkedIn data.</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Apollo / Sales Navigator</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Contact enrichment for verified emails + titles. Apollo is first in fallback chain. Sales Nav for premium profile data.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E53E3E"/>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SIG-HIRE — Hiring &amp; Job Postings  [NEW — CRITICAL GAP]</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LinkedIn Jobs</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Highest-value missing source. 'Head of Digital Lending' posting = confirmed budget + timeline + tech stack revelation.</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Bank Career Pages (10 sites)</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Authoritative. Postings appear here before LinkedIn. Requires headless browser for Workday/Taleo portals.</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Bayt.com</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Dominant GCC job board. Some roles appear on Bayt but NOT LinkedIn — especially mid-level operational roles.</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GulfTalent</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Expat executive recruitment niche. International hire = stronger transformation signal than local hire.</a:t>
            </a:r>
            <a:endParaRPr lang="en-US" sz="900" dirty="0"/>
          </a:p>
        </p:txBody>
      </p:sp>
      <p:sp>
        <p:nvSpPr>
          <p:cNvPr id="17" name="Shape 14"/>
          <p:cNvSpPr/>
          <p:nvPr/>
        </p:nvSpPr>
        <p:spPr>
          <a:xfrm>
            <a:off x="457200" y="4206240"/>
            <a:ext cx="8229600" cy="594360"/>
          </a:xfrm>
          <a:prstGeom prst="roundRect">
            <a:avLst>
              <a:gd name="adj" fmla="val 7692"/>
            </a:avLst>
          </a:prstGeom>
          <a:solidFill>
            <a:srgbClr val="FFF5F5"/>
          </a:solidFill>
          <a:ln/>
        </p:spPr>
      </p:sp>
      <p:sp>
        <p:nvSpPr>
          <p:cNvPr id="18" name="Text 15"/>
          <p:cNvSpPr/>
          <p:nvPr/>
        </p:nvSpPr>
        <p:spPr>
          <a:xfrm>
            <a:off x="640080" y="4206240"/>
            <a:ext cx="7863840" cy="594360"/>
          </a:xfrm>
          <a:prstGeom prst="rect">
            <a:avLst/>
          </a:prstGeom>
          <a:noFill/>
          <a:ln/>
        </p:spPr>
        <p:txBody>
          <a:bodyPr wrap="square" rtlCol="0" anchor="ctr"/>
          <a:lstStyle/>
          <a:p>
            <a:pPr indent="0" marL="0">
              <a:buNone/>
            </a:pPr>
            <a:r>
              <a:rPr lang="en-US" sz="900" dirty="0">
                <a:solidFill>
                  <a:srgbClr val="E53E3E"/>
                </a:solidFill>
                <a:latin typeface="Arial" pitchFamily="34" charset="0"/>
                <a:ea typeface="Arial" pitchFamily="34" charset="-122"/>
                <a:cs typeface="Arial" pitchFamily="34" charset="-120"/>
              </a:rPr>
              <a:t>WHY CRITICAL: A bank posting 'Core Banking Migration Lead' with 'Temenos/Backbase' in requirements is buying intent + tech stack + timeline in one signal. The engine is currently blind to this.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319795"/>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SIG-VENDOR — Vendor &amp; Competitive Intelligence</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Backbase / Temenos / FIS / Finastra / Mambu / Efigence / Thought Machine</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Monitor competitor websites for KSA case studies and press releases. Named client = CONFIRMED vendor relationship.</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Job Postings (tech stack)</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Cross-link from SIG-HIRE. 'Temenos T24 Developer' in requirements confirms Temenos as incumbent at that bank.</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Annual Reports</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Vendor names mentioned in technology sections. Authoritative but annual cadence — supplemented by press monitoring.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E53E3E"/>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SIG-TENDER — Procurement &amp; RFP  [NEW — CRITICAL GAP]</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Etimad (etimad.sa)</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Saudi government procurement platform. Government-owned banks may route tenders here. Near-SAMA reliability (0.95).</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Manual BD Input (API)</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BD team enters known RFPs via internal API. Most KSA bank procurement intel comes via network, not published tenders.</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Consulting Intermediaries</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Deloitte, EY, McKinsey act as procurement advisors. RFP distribution via consulting networks — human-sourced.</a:t>
            </a:r>
            <a:endParaRPr lang="en-US" sz="900" dirty="0"/>
          </a:p>
        </p:txBody>
      </p:sp>
      <p:sp>
        <p:nvSpPr>
          <p:cNvPr id="14" name="Shape 11"/>
          <p:cNvSpPr/>
          <p:nvPr/>
        </p:nvSpPr>
        <p:spPr>
          <a:xfrm>
            <a:off x="457200" y="3657600"/>
            <a:ext cx="8229600" cy="594360"/>
          </a:xfrm>
          <a:prstGeom prst="roundRect">
            <a:avLst>
              <a:gd name="adj" fmla="val 7692"/>
            </a:avLst>
          </a:prstGeom>
          <a:solidFill>
            <a:srgbClr val="FFF5F5"/>
          </a:solidFill>
          <a:ln/>
        </p:spPr>
      </p:sp>
      <p:sp>
        <p:nvSpPr>
          <p:cNvPr id="15" name="Text 12"/>
          <p:cNvSpPr/>
          <p:nvPr/>
        </p:nvSpPr>
        <p:spPr>
          <a:xfrm>
            <a:off x="640080" y="3657600"/>
            <a:ext cx="7863840" cy="594360"/>
          </a:xfrm>
          <a:prstGeom prst="rect">
            <a:avLst/>
          </a:prstGeom>
          <a:noFill/>
          <a:ln/>
        </p:spPr>
        <p:txBody>
          <a:bodyPr wrap="square" rtlCol="0" anchor="ctr"/>
          <a:lstStyle/>
          <a:p>
            <a:pPr indent="0" marL="0">
              <a:buNone/>
            </a:pPr>
            <a:r>
              <a:rPr lang="en-US" sz="900" dirty="0">
                <a:solidFill>
                  <a:srgbClr val="E53E3E"/>
                </a:solidFill>
                <a:latin typeface="Arial" pitchFamily="34" charset="0"/>
                <a:ea typeface="Arial" pitchFamily="34" charset="-122"/>
                <a:cs typeface="Arial" pitchFamily="34" charset="-120"/>
              </a:rPr>
              <a:t>WHY CRITICAL: An active RFP for 'Digital Lending Platform' is the highest-confidence buying signal possible — the decision to buy has been made. Missing this means discovering opportunities only through indirect signals.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38A169"/>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SIG-EVENT — Events &amp; Conferences</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LEAP (Riyadh, Feb)</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Saudi tech mega-event. CxOs attend and announce tech partnerships. 2025: 175k+ attendees.</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Money20/20 ME (Riyadh, Nov)</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Fintech-specific. Dr. Al-Furaih (SNB NEO CEO) presented 2024. Optimal engagement window.</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FII (Riyadh, Oct)</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'Davos in the Desert.' Banking CEOs make strategic announcements. Highest seniority attendees.</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Seamless ME (Riyadh, Apr)</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Payments &amp; commerce. Operational leaders attend. POS/lending use case alignment.</a:t>
            </a:r>
            <a:endParaRPr lang="en-US" sz="900" dirty="0"/>
          </a:p>
        </p:txBody>
      </p:sp>
      <p:sp>
        <p:nvSpPr>
          <p:cNvPr id="17" name="Shape 14"/>
          <p:cNvSpPr/>
          <p:nvPr/>
        </p:nvSpPr>
        <p:spPr>
          <a:xfrm>
            <a:off x="457200" y="3694176"/>
            <a:ext cx="8229600" cy="640080"/>
          </a:xfrm>
          <a:prstGeom prst="roundRect">
            <a:avLst>
              <a:gd name="adj" fmla="val 7143"/>
            </a:avLst>
          </a:prstGeom>
          <a:solidFill>
            <a:srgbClr val="F7FAFC"/>
          </a:solidFill>
          <a:ln/>
        </p:spPr>
      </p:sp>
      <p:sp>
        <p:nvSpPr>
          <p:cNvPr id="18" name="Text 15"/>
          <p:cNvSpPr/>
          <p:nvPr/>
        </p:nvSpPr>
        <p:spPr>
          <a:xfrm>
            <a:off x="640080" y="3694176"/>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GITEX / Fintech Saudi / Sibos + 4 more</a:t>
            </a:r>
            <a:endParaRPr lang="en-US" sz="1000" dirty="0"/>
          </a:p>
        </p:txBody>
      </p:sp>
      <p:sp>
        <p:nvSpPr>
          <p:cNvPr id="19" name="Text 16"/>
          <p:cNvSpPr/>
          <p:nvPr/>
        </p:nvSpPr>
        <p:spPr>
          <a:xfrm>
            <a:off x="3291840" y="3694176"/>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Full calendar of 11 named events. Speaker lists scraped 6 weeks before. Matched against buying committees.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1A2A44"/>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SIG-SUBS &amp; SIG-PATH — Subsidiaries &amp; Connection Resolution</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Annual Reports (subsidiaries)</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Authoritative source for subsidiary roster. IT subsidiaries (ITQAN, EJADA) are gatekeepers — must route through before C-suite.</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Subsidiary Websites + LinkedIn</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Ongoing activity monitoring. Employee count changes = investment signal. Job postings = SIG-HIRE cross-link.</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LinkedIn Graph (Decimal Network)</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The headline stream. Every Decimal employee's connections checked against every target contact. P1-P5 priority ladder.</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Connector Registry (8 orgs for SNB)</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KPMG, Mastercard, Backbase, Tarabut, Geidea, ITC Infotech, LinkedIn Direct, ITQAN. Human-researched warm paths.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DD6B20"/>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SIG-PARTNER &amp; SIG-SOCIAL — Partnerships &amp; Social</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SIG-NEWS Reclassification [NEW]</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Same source, different interpretation. 'Bank signs MOU with Backbase' is not news — it's a competitive closure signal.</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Fintech Saudi Ecosystem [NEW]</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Semi-official (SAMA-adjacent). Partnership announcements precede official bank press releases.</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Twitter/X (exec accounts) [P2]</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Saudi execs are active on X. Belief trajectories visible in real-time. BUT: low EPIS (I=0.30), high cost ($100-5k/mo). P2.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457200" cy="457200"/>
          </a:xfrm>
          <a:prstGeom prst="ellipse">
            <a:avLst/>
          </a:prstGeom>
          <a:solidFill>
            <a:srgbClr val="1A2A44"/>
          </a:solidFill>
          <a:ln/>
        </p:spPr>
      </p:sp>
      <p:pic>
        <p:nvPicPr>
          <p:cNvPr id="3" name="Image 0" descr="preencoded.png">    </p:cNvPr>
          <p:cNvPicPr>
            <a:picLocks noChangeAspect="1"/>
          </p:cNvPicPr>
          <p:nvPr/>
        </p:nvPicPr>
        <p:blipFill>
          <a:blip r:embed="rId1"/>
          <a:stretch>
            <a:fillRect/>
          </a:stretch>
        </p:blipFill>
        <p:spPr>
          <a:xfrm>
            <a:off x="548640" y="320040"/>
            <a:ext cx="274320" cy="274320"/>
          </a:xfrm>
          <a:prstGeom prst="rect">
            <a:avLst/>
          </a:prstGeom>
        </p:spPr>
      </p:pic>
      <p:sp>
        <p:nvSpPr>
          <p:cNvPr id="4" name="Text 1"/>
          <p:cNvSpPr/>
          <p:nvPr/>
        </p:nvSpPr>
        <p:spPr>
          <a:xfrm>
            <a:off x="1051560" y="228600"/>
            <a:ext cx="7315200" cy="457200"/>
          </a:xfrm>
          <a:prstGeom prst="rect">
            <a:avLst/>
          </a:prstGeom>
          <a:noFill/>
          <a:ln/>
        </p:spPr>
        <p:txBody>
          <a:bodyPr wrap="square" rtlCol="0" anchor="ctr"/>
          <a:lstStyle/>
          <a:p>
            <a:pPr indent="0" marL="0">
              <a:buNone/>
            </a:pPr>
            <a:r>
              <a:rPr lang="en-US" sz="2200" b="1" dirty="0">
                <a:solidFill>
                  <a:srgbClr val="0A1628"/>
                </a:solidFill>
                <a:latin typeface="Arial" pitchFamily="34" charset="0"/>
                <a:ea typeface="Arial" pitchFamily="34" charset="-122"/>
                <a:cs typeface="Arial" pitchFamily="34" charset="-120"/>
              </a:rPr>
              <a:t>INT-ENR &amp; Engagement — Enrichment &amp; Feedback Loop</a:t>
            </a:r>
            <a:endParaRPr lang="en-US" sz="2200" dirty="0"/>
          </a:p>
        </p:txBody>
      </p:sp>
      <p:sp>
        <p:nvSpPr>
          <p:cNvPr id="5" name="Shape 2"/>
          <p:cNvSpPr/>
          <p:nvPr/>
        </p:nvSpPr>
        <p:spPr>
          <a:xfrm>
            <a:off x="457200" y="914400"/>
            <a:ext cx="8229600" cy="640080"/>
          </a:xfrm>
          <a:prstGeom prst="roundRect">
            <a:avLst>
              <a:gd name="adj" fmla="val 7143"/>
            </a:avLst>
          </a:prstGeom>
          <a:solidFill>
            <a:srgbClr val="F7FAFC"/>
          </a:solidFill>
          <a:ln/>
        </p:spPr>
      </p:sp>
      <p:sp>
        <p:nvSpPr>
          <p:cNvPr id="6" name="Text 3"/>
          <p:cNvSpPr/>
          <p:nvPr/>
        </p:nvSpPr>
        <p:spPr>
          <a:xfrm>
            <a:off x="640080" y="91440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Apollo (1st in chain)</a:t>
            </a:r>
            <a:endParaRPr lang="en-US" sz="1000" dirty="0"/>
          </a:p>
        </p:txBody>
      </p:sp>
      <p:sp>
        <p:nvSpPr>
          <p:cNvPr id="7" name="Text 4"/>
          <p:cNvSpPr/>
          <p:nvPr/>
        </p:nvSpPr>
        <p:spPr>
          <a:xfrm>
            <a:off x="3291840" y="91440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Contact + verified email resolution. $99/mo unlimited. Verified-email-only is non-negotiable — unverified = bounce = domain damage.</a:t>
            </a:r>
            <a:endParaRPr lang="en-US" sz="900" dirty="0"/>
          </a:p>
        </p:txBody>
      </p:sp>
      <p:sp>
        <p:nvSpPr>
          <p:cNvPr id="8" name="Shape 5"/>
          <p:cNvSpPr/>
          <p:nvPr/>
        </p:nvSpPr>
        <p:spPr>
          <a:xfrm>
            <a:off x="457200" y="1609344"/>
            <a:ext cx="8229600" cy="640080"/>
          </a:xfrm>
          <a:prstGeom prst="roundRect">
            <a:avLst>
              <a:gd name="adj" fmla="val 7143"/>
            </a:avLst>
          </a:prstGeom>
          <a:solidFill>
            <a:srgbClr val="FFFFFF"/>
          </a:solidFill>
          <a:ln/>
        </p:spPr>
      </p:sp>
      <p:sp>
        <p:nvSpPr>
          <p:cNvPr id="9" name="Text 6"/>
          <p:cNvSpPr/>
          <p:nvPr/>
        </p:nvSpPr>
        <p:spPr>
          <a:xfrm>
            <a:off x="640080" y="1609344"/>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Clearbit (2nd in chain)</a:t>
            </a:r>
            <a:endParaRPr lang="en-US" sz="1000" dirty="0"/>
          </a:p>
        </p:txBody>
      </p:sp>
      <p:sp>
        <p:nvSpPr>
          <p:cNvPr id="10" name="Text 7"/>
          <p:cNvSpPr/>
          <p:nvPr/>
        </p:nvSpPr>
        <p:spPr>
          <a:xfrm>
            <a:off x="3291840" y="1609344"/>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Firmographic data. Highest independence (I=0.90). Tech stack detection reveals vendor relationships.</a:t>
            </a:r>
            <a:endParaRPr lang="en-US" sz="900" dirty="0"/>
          </a:p>
        </p:txBody>
      </p:sp>
      <p:sp>
        <p:nvSpPr>
          <p:cNvPr id="11" name="Shape 8"/>
          <p:cNvSpPr/>
          <p:nvPr/>
        </p:nvSpPr>
        <p:spPr>
          <a:xfrm>
            <a:off x="457200" y="2304288"/>
            <a:ext cx="8229600" cy="640080"/>
          </a:xfrm>
          <a:prstGeom prst="roundRect">
            <a:avLst>
              <a:gd name="adj" fmla="val 7143"/>
            </a:avLst>
          </a:prstGeom>
          <a:solidFill>
            <a:srgbClr val="F7FAFC"/>
          </a:solidFill>
          <a:ln/>
        </p:spPr>
      </p:sp>
      <p:sp>
        <p:nvSpPr>
          <p:cNvPr id="12" name="Text 9"/>
          <p:cNvSpPr/>
          <p:nvPr/>
        </p:nvSpPr>
        <p:spPr>
          <a:xfrm>
            <a:off x="640080" y="2304288"/>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Clay (3rd in chain)</a:t>
            </a:r>
            <a:endParaRPr lang="en-US" sz="1000" dirty="0"/>
          </a:p>
        </p:txBody>
      </p:sp>
      <p:sp>
        <p:nvSpPr>
          <p:cNvPr id="13" name="Text 10"/>
          <p:cNvSpPr/>
          <p:nvPr/>
        </p:nvSpPr>
        <p:spPr>
          <a:xfrm>
            <a:off x="3291840" y="2304288"/>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Meta-enrichment across 75+ providers. Safety net when Apollo + Clearbit fail. Best for subsidiary contacts.</a:t>
            </a:r>
            <a:endParaRPr lang="en-US" sz="900" dirty="0"/>
          </a:p>
        </p:txBody>
      </p:sp>
      <p:sp>
        <p:nvSpPr>
          <p:cNvPr id="14" name="Shape 11"/>
          <p:cNvSpPr/>
          <p:nvPr/>
        </p:nvSpPr>
        <p:spPr>
          <a:xfrm>
            <a:off x="457200" y="2999232"/>
            <a:ext cx="8229600" cy="640080"/>
          </a:xfrm>
          <a:prstGeom prst="roundRect">
            <a:avLst>
              <a:gd name="adj" fmla="val 7143"/>
            </a:avLst>
          </a:prstGeom>
          <a:solidFill>
            <a:srgbClr val="FFFFFF"/>
          </a:solidFill>
          <a:ln/>
        </p:spPr>
      </p:sp>
      <p:sp>
        <p:nvSpPr>
          <p:cNvPr id="15" name="Text 12"/>
          <p:cNvSpPr/>
          <p:nvPr/>
        </p:nvSpPr>
        <p:spPr>
          <a:xfrm>
            <a:off x="640080" y="2999232"/>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Instantly (email tracking)</a:t>
            </a:r>
            <a:endParaRPr lang="en-US" sz="1000" dirty="0"/>
          </a:p>
        </p:txBody>
      </p:sp>
      <p:sp>
        <p:nvSpPr>
          <p:cNvPr id="16" name="Text 13"/>
          <p:cNvSpPr/>
          <p:nvPr/>
        </p:nvSpPr>
        <p:spPr>
          <a:xfrm>
            <a:off x="3291840" y="2999232"/>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Open/reply/bounce tracking. Reply = highest-value engagement signal. Validates understanding (ICS increase).</a:t>
            </a:r>
            <a:endParaRPr lang="en-US" sz="900" dirty="0"/>
          </a:p>
        </p:txBody>
      </p:sp>
      <p:sp>
        <p:nvSpPr>
          <p:cNvPr id="17" name="Shape 14"/>
          <p:cNvSpPr/>
          <p:nvPr/>
        </p:nvSpPr>
        <p:spPr>
          <a:xfrm>
            <a:off x="457200" y="3694176"/>
            <a:ext cx="8229600" cy="640080"/>
          </a:xfrm>
          <a:prstGeom prst="roundRect">
            <a:avLst>
              <a:gd name="adj" fmla="val 7143"/>
            </a:avLst>
          </a:prstGeom>
          <a:solidFill>
            <a:srgbClr val="F7FAFC"/>
          </a:solidFill>
          <a:ln/>
        </p:spPr>
      </p:sp>
      <p:sp>
        <p:nvSpPr>
          <p:cNvPr id="18" name="Text 15"/>
          <p:cNvSpPr/>
          <p:nvPr/>
        </p:nvSpPr>
        <p:spPr>
          <a:xfrm>
            <a:off x="640080" y="3694176"/>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Heyreach (LinkedIn automation)</a:t>
            </a:r>
            <a:endParaRPr lang="en-US" sz="1000" dirty="0"/>
          </a:p>
        </p:txBody>
      </p:sp>
      <p:sp>
        <p:nvSpPr>
          <p:cNvPr id="19" name="Text 16"/>
          <p:cNvSpPr/>
          <p:nvPr/>
        </p:nvSpPr>
        <p:spPr>
          <a:xfrm>
            <a:off x="3291840" y="3694176"/>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Connection accepts, message replies, profile views. Often the first touchpoint before email.</a:t>
            </a:r>
            <a:endParaRPr lang="en-US" sz="900" dirty="0"/>
          </a:p>
        </p:txBody>
      </p:sp>
      <p:sp>
        <p:nvSpPr>
          <p:cNvPr id="20" name="Shape 17"/>
          <p:cNvSpPr/>
          <p:nvPr/>
        </p:nvSpPr>
        <p:spPr>
          <a:xfrm>
            <a:off x="457200" y="4389120"/>
            <a:ext cx="8229600" cy="640080"/>
          </a:xfrm>
          <a:prstGeom prst="roundRect">
            <a:avLst>
              <a:gd name="adj" fmla="val 7143"/>
            </a:avLst>
          </a:prstGeom>
          <a:solidFill>
            <a:srgbClr val="FFFFFF"/>
          </a:solidFill>
          <a:ln/>
        </p:spPr>
      </p:sp>
      <p:sp>
        <p:nvSpPr>
          <p:cNvPr id="21" name="Text 18"/>
          <p:cNvSpPr/>
          <p:nvPr/>
        </p:nvSpPr>
        <p:spPr>
          <a:xfrm>
            <a:off x="640080" y="4389120"/>
            <a:ext cx="2560320" cy="640080"/>
          </a:xfrm>
          <a:prstGeom prst="rect">
            <a:avLst/>
          </a:prstGeom>
          <a:noFill/>
          <a:ln/>
        </p:spPr>
        <p:txBody>
          <a:bodyPr wrap="square" lIns="0" tIns="0" rIns="0" bIns="0" rtlCol="0" anchor="ctr"/>
          <a:lstStyle/>
          <a:p>
            <a:pPr indent="0" marL="0">
              <a:buNone/>
            </a:pPr>
            <a:r>
              <a:rPr lang="en-US" sz="1000" b="1" dirty="0">
                <a:solidFill>
                  <a:srgbClr val="0A1628"/>
                </a:solidFill>
                <a:latin typeface="Arial" pitchFamily="34" charset="0"/>
                <a:ea typeface="Arial" pitchFamily="34" charset="-122"/>
                <a:cs typeface="Arial" pitchFamily="34" charset="-120"/>
              </a:rPr>
              <a:t>HubSpot (CRM sync)</a:t>
            </a:r>
            <a:endParaRPr lang="en-US" sz="1000" dirty="0"/>
          </a:p>
        </p:txBody>
      </p:sp>
      <p:sp>
        <p:nvSpPr>
          <p:cNvPr id="22" name="Text 19"/>
          <p:cNvSpPr/>
          <p:nvPr/>
        </p:nvSpPr>
        <p:spPr>
          <a:xfrm>
            <a:off x="3291840" y="4389120"/>
            <a:ext cx="5212080" cy="640080"/>
          </a:xfrm>
          <a:prstGeom prst="rect">
            <a:avLst/>
          </a:prstGeom>
          <a:noFill/>
          <a:ln/>
        </p:spPr>
        <p:txBody>
          <a:bodyPr wrap="square" lIns="0" tIns="0" rIns="0" bIns="0" rtlCol="0" anchor="ctr"/>
          <a:lstStyle/>
          <a:p>
            <a:pPr indent="0" marL="0">
              <a:buNone/>
            </a:pPr>
            <a:r>
              <a:rPr lang="en-US" sz="900" dirty="0">
                <a:solidFill>
                  <a:srgbClr val="2D3748"/>
                </a:solidFill>
                <a:latin typeface="Arial" pitchFamily="34" charset="0"/>
                <a:ea typeface="Arial" pitchFamily="34" charset="-122"/>
                <a:cs typeface="Arial" pitchFamily="34" charset="-120"/>
              </a:rPr>
              <a:t>Bidirectional. PostgreSQL = SOT for scores. HubSpot = SOT for deal stage. Human override locked for 72hrs.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GOVERNANCE DECISIONS REQUIRED</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188720"/>
                <a:gridCol w="1005840"/>
                <a:gridCol w="3017520"/>
                <a:gridCol w="3200400"/>
              </a:tblGrid>
              <a:tr h="320040">
                <a:tc>
                  <a:txBody>
                    <a:bodyPr/>
                    <a:lstStyle/>
                    <a:p>
                      <a:pPr indent="0" marL="0">
                        <a:buNone/>
                      </a:pPr>
                      <a:r>
                        <a:rPr lang="en-US" sz="900" b="1" dirty="0">
                          <a:solidFill>
                            <a:srgbClr val="0A1628"/>
                          </a:solidFill>
                          <a:latin typeface="Arial" pitchFamily="34" charset="0"/>
                          <a:ea typeface="Arial" pitchFamily="34" charset="-122"/>
                          <a:cs typeface="Arial" pitchFamily="34" charset="-120"/>
                        </a:rPr>
                        <a:t>Gap</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solidFill>
                      <a:srgbClr val="D4A84B"/>
                    </a:solidFill>
                  </a:tcPr>
                </a:tc>
                <a:tc>
                  <a:txBody>
                    <a:bodyPr/>
                    <a:lstStyle/>
                    <a:p>
                      <a:pPr indent="0" marL="0">
                        <a:buNone/>
                      </a:pPr>
                      <a:r>
                        <a:rPr lang="en-US" sz="900" b="1" dirty="0">
                          <a:solidFill>
                            <a:srgbClr val="0A1628"/>
                          </a:solidFill>
                          <a:latin typeface="Arial" pitchFamily="34" charset="0"/>
                          <a:ea typeface="Arial" pitchFamily="34" charset="-122"/>
                          <a:cs typeface="Arial" pitchFamily="34" charset="-120"/>
                        </a:rPr>
                        <a:t>Severity</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solidFill>
                      <a:srgbClr val="D4A84B"/>
                    </a:solidFill>
                  </a:tcPr>
                </a:tc>
                <a:tc>
                  <a:txBody>
                    <a:bodyPr/>
                    <a:lstStyle/>
                    <a:p>
                      <a:pPr indent="0" marL="0">
                        <a:buNone/>
                      </a:pPr>
                      <a:r>
                        <a:rPr lang="en-US" sz="900" b="1" dirty="0">
                          <a:solidFill>
                            <a:srgbClr val="0A1628"/>
                          </a:solidFill>
                          <a:latin typeface="Arial" pitchFamily="34" charset="0"/>
                          <a:ea typeface="Arial" pitchFamily="34" charset="-122"/>
                          <a:cs typeface="Arial" pitchFamily="34" charset="-120"/>
                        </a:rPr>
                        <a:t>Decision</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solidFill>
                      <a:srgbClr val="D4A84B"/>
                    </a:solidFill>
                  </a:tcPr>
                </a:tc>
                <a:tc>
                  <a:txBody>
                    <a:bodyPr/>
                    <a:lstStyle/>
                    <a:p>
                      <a:pPr indent="0" marL="0">
                        <a:buNone/>
                      </a:pPr>
                      <a:r>
                        <a:rPr lang="en-US" sz="900" b="1" dirty="0">
                          <a:solidFill>
                            <a:srgbClr val="0A1628"/>
                          </a:solidFill>
                          <a:latin typeface="Arial" pitchFamily="34" charset="0"/>
                          <a:ea typeface="Arial" pitchFamily="34" charset="-122"/>
                          <a:cs typeface="Arial" pitchFamily="34" charset="-120"/>
                        </a:rPr>
                        <a:t>Recommendation</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solidFill>
                      <a:srgbClr val="D4A84B"/>
                    </a:solidFill>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SIG-HIRE</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FC8181"/>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Standalone 9th stream or fold into SIG-EXEC?</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Standalone — different source, different meaning</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SIG-TENDER</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FC8181"/>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Manual input (P1) + automated (P2)?</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Yes — manual is trivial, automation needs source audit</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SIG-FUND</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FBD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New stream or extend SIG-FIN?</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Extend SIG-FIN with MAGNiTT/Crunchbase sources</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SIG-PARTNER</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FBD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Standalone or classification on SIG-NEWS?</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Classification layer — no new source needed</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SIG-SOCIAL</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E2E8F0"/>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Add now or defer to P2?</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P2 — high cost, low EPIS, marginal MVP value</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SIG-ANALYST</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E2E8F0"/>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Automate or human-curated?</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Human-curated — paywalled, requires interpretation</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r h="411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SIG-IP</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900" dirty="0">
                          <a:solidFill>
                            <a:srgbClr val="A0AEC0"/>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E2E8F0"/>
                          </a:solidFill>
                          <a:latin typeface="Arial" pitchFamily="34" charset="0"/>
                          <a:ea typeface="Arial" pitchFamily="34" charset="-122"/>
                          <a:cs typeface="Arial" pitchFamily="34" charset="-120"/>
                        </a:rPr>
                        <a:t>Include or drop?</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c>
                  <a:txBody>
                    <a:bodyPr/>
                    <a:lstStyle/>
                    <a:p>
                      <a:pPr indent="0" marL="0">
                        <a:buNone/>
                      </a:pPr>
                      <a:r>
                        <a:rPr lang="en-US" sz="800" dirty="0">
                          <a:solidFill>
                            <a:srgbClr val="68D391"/>
                          </a:solidFill>
                          <a:latin typeface="Arial" pitchFamily="34" charset="0"/>
                          <a:ea typeface="Arial" pitchFamily="34" charset="-122"/>
                          <a:cs typeface="Arial" pitchFamily="34" charset="-120"/>
                        </a:rPr>
                        <a:t>Drop — low patent activity in KSA banking</a:t>
                      </a:r>
                      <a:endParaRPr lang="en-US" sz="800" dirty="0">
                        <a:latin typeface="Arial" charset="0"/>
                        <a:ea typeface="Arial" charset="0"/>
                        <a:cs typeface="Arial" charset="0"/>
                      </a:endParaRPr>
                    </a:p>
                  </a:txBody>
                  <a:tcPr marL="91440" marR="91440" marT="45720" marB="45720">
                    <a:lnL w="6350" cap="flat" cmpd="sng" algn="ctr">
                      <a:solidFill>
                        <a:srgbClr val="2D3748"/>
                      </a:solidFill>
                      <a:prstDash val="solid"/>
                      <a:round/>
                      <a:headEnd type="none" w="med" len="med"/>
                      <a:tailEnd type="none" w="med" len="med"/>
                    </a:lnL>
                    <a:lnR w="6350" cap="flat" cmpd="sng" algn="ctr">
                      <a:solidFill>
                        <a:srgbClr val="2D3748"/>
                      </a:solidFill>
                      <a:prstDash val="solid"/>
                      <a:round/>
                      <a:headEnd type="none" w="med" len="med"/>
                      <a:tailEnd type="none" w="med" len="med"/>
                    </a:lnR>
                    <a:lnT w="6350" cap="flat" cmpd="sng" algn="ctr">
                      <a:solidFill>
                        <a:srgbClr val="2D3748"/>
                      </a:solidFill>
                      <a:prstDash val="solid"/>
                      <a:round/>
                      <a:headEnd type="none" w="med" len="med"/>
                      <a:tailEnd type="none" w="med" len="med"/>
                    </a:lnT>
                    <a:lnB w="6350" cap="flat" cmpd="sng" algn="ctr">
                      <a:solidFill>
                        <a:srgbClr val="2D3748"/>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914400"/>
            <a:ext cx="7315200" cy="6400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NEXT STEPS</a:t>
            </a:r>
            <a:endParaRPr lang="en-US" sz="3600" dirty="0"/>
          </a:p>
        </p:txBody>
      </p:sp>
      <p:sp>
        <p:nvSpPr>
          <p:cNvPr id="3" name="Shape 1"/>
          <p:cNvSpPr/>
          <p:nvPr/>
        </p:nvSpPr>
        <p:spPr>
          <a:xfrm>
            <a:off x="731520" y="1645920"/>
            <a:ext cx="1828800" cy="0"/>
          </a:xfrm>
          <a:prstGeom prst="line">
            <a:avLst/>
          </a:prstGeom>
          <a:noFill/>
          <a:ln w="38100">
            <a:solidFill>
              <a:srgbClr val="D4A84B"/>
            </a:solidFill>
            <a:prstDash val="solid"/>
          </a:ln>
        </p:spPr>
      </p:sp>
      <p:sp>
        <p:nvSpPr>
          <p:cNvPr id="4" name="Text 2"/>
          <p:cNvSpPr/>
          <p:nvPr/>
        </p:nvSpPr>
        <p:spPr>
          <a:xfrm>
            <a:off x="731520" y="2011680"/>
            <a:ext cx="7772400" cy="2743200"/>
          </a:xfrm>
          <a:prstGeom prst="rect">
            <a:avLst/>
          </a:prstGeom>
          <a:noFill/>
          <a:ln/>
        </p:spPr>
        <p:txBody>
          <a:bodyPr wrap="square" rtlCol="0" anchor="ctr"/>
          <a:lstStyle/>
          <a:p>
            <a:pPr marL="342900" indent="-342900">
              <a:spcAft>
                <a:spcPts val="800"/>
              </a:spcAft>
              <a:buSzPct val="100000"/>
              <a:buChar char="•"/>
            </a:pPr>
            <a:r>
              <a:rPr lang="en-US" sz="1400" dirty="0">
                <a:solidFill>
                  <a:srgbClr val="E2E8F0"/>
                </a:solidFill>
                <a:latin typeface="Arial" pitchFamily="34" charset="0"/>
                <a:ea typeface="Arial" pitchFamily="34" charset="-122"/>
                <a:cs typeface="Arial" pitchFamily="34" charset="-120"/>
              </a:rPr>
              <a:t>1. Approve SIG-HIRE as 9th sub-stream  →  Full 5-Whys specification</a:t>
            </a:r>
            <a:endParaRPr lang="en-US" sz="1400" dirty="0"/>
          </a:p>
          <a:p>
            <a:pPr marL="342900" indent="-342900">
              <a:spcAft>
                <a:spcPts val="800"/>
              </a:spcAft>
              <a:buSzPct val="100000"/>
              <a:buChar char="•"/>
            </a:pPr>
            <a:r>
              <a:rPr lang="en-US" sz="1400" dirty="0">
                <a:solidFill>
                  <a:srgbClr val="E2E8F0"/>
                </a:solidFill>
                <a:latin typeface="Arial" pitchFamily="34" charset="0"/>
                <a:ea typeface="Arial" pitchFamily="34" charset="-122"/>
                <a:cs typeface="Arial" pitchFamily="34" charset="-120"/>
              </a:rPr>
              <a:t>2. Approve SIG-TENDER manual input path for P1</a:t>
            </a:r>
            <a:endParaRPr lang="en-US" sz="1400" dirty="0"/>
          </a:p>
          <a:p>
            <a:pPr marL="342900" indent="-342900">
              <a:spcAft>
                <a:spcPts val="800"/>
              </a:spcAft>
              <a:buSzPct val="100000"/>
              <a:buChar char="•"/>
            </a:pPr>
            <a:r>
              <a:rPr lang="en-US" sz="1400" dirty="0">
                <a:solidFill>
                  <a:srgbClr val="E2E8F0"/>
                </a:solidFill>
                <a:latin typeface="Arial" pitchFamily="34" charset="0"/>
                <a:ea typeface="Arial" pitchFamily="34" charset="-122"/>
                <a:cs typeface="Arial" pitchFamily="34" charset="-120"/>
              </a:rPr>
              <a:t>3. Approve SIG-PARTNER as classification layer on SIG-NEWS</a:t>
            </a:r>
            <a:endParaRPr lang="en-US" sz="1400" dirty="0"/>
          </a:p>
          <a:p>
            <a:pPr marL="342900" indent="-342900">
              <a:spcAft>
                <a:spcPts val="800"/>
              </a:spcAft>
              <a:buSzPct val="100000"/>
              <a:buChar char="•"/>
            </a:pPr>
            <a:r>
              <a:rPr lang="en-US" sz="1400" dirty="0">
                <a:solidFill>
                  <a:srgbClr val="E2E8F0"/>
                </a:solidFill>
                <a:latin typeface="Arial" pitchFamily="34" charset="0"/>
                <a:ea typeface="Arial" pitchFamily="34" charset="-122"/>
                <a:cs typeface="Arial" pitchFamily="34" charset="-120"/>
              </a:rPr>
              <a:t>4. Confirm SIG-FUND fold into SIG-FIN with MAGNiTT/Crunchbase</a:t>
            </a:r>
            <a:endParaRPr lang="en-US" sz="1400" dirty="0"/>
          </a:p>
          <a:p>
            <a:pPr marL="342900" indent="-342900">
              <a:spcAft>
                <a:spcPts val="800"/>
              </a:spcAft>
              <a:buSzPct val="100000"/>
              <a:buChar char="•"/>
            </a:pPr>
            <a:r>
              <a:rPr lang="en-US" sz="1400" dirty="0">
                <a:solidFill>
                  <a:srgbClr val="718096"/>
                </a:solidFill>
                <a:latin typeface="Arial" pitchFamily="34" charset="0"/>
                <a:ea typeface="Arial" pitchFamily="34" charset="-122"/>
                <a:cs typeface="Arial" pitchFamily="34" charset="-120"/>
              </a:rPr>
              <a:t>5. Defer SIG-SOCIAL and SIG-ANALYST to P2</a:t>
            </a:r>
            <a:endParaRPr lang="en-US" sz="1400" dirty="0"/>
          </a:p>
          <a:p>
            <a:pPr marL="342900" indent="-342900">
              <a:spcAft>
                <a:spcPts val="800"/>
              </a:spcAft>
              <a:buSzPct val="100000"/>
              <a:buChar char="•"/>
            </a:pPr>
            <a:r>
              <a:rPr lang="en-US" sz="1400" dirty="0">
                <a:solidFill>
                  <a:srgbClr val="718096"/>
                </a:solidFill>
                <a:latin typeface="Arial" pitchFamily="34" charset="0"/>
                <a:ea typeface="Arial" pitchFamily="34" charset="-122"/>
                <a:cs typeface="Arial" pitchFamily="34" charset="-120"/>
              </a:rPr>
              <a:t>6. Drop SIG-IP</a:t>
            </a:r>
            <a:endParaRPr lang="en-US" sz="1400" dirty="0"/>
          </a:p>
        </p:txBody>
      </p:sp>
      <p:sp>
        <p:nvSpPr>
          <p:cNvPr id="5" name="Text 3"/>
          <p:cNvSpPr/>
          <p:nvPr/>
        </p:nvSpPr>
        <p:spPr>
          <a:xfrm>
            <a:off x="731520" y="4480560"/>
            <a:ext cx="7315200" cy="274320"/>
          </a:xfrm>
          <a:prstGeom prst="rect">
            <a:avLst/>
          </a:prstGeom>
          <a:noFill/>
          <a:ln/>
        </p:spPr>
        <p:txBody>
          <a:bodyPr wrap="square" rtlCol="0" anchor="ctr"/>
          <a:lstStyle/>
          <a:p>
            <a:pPr indent="0" marL="0">
              <a:buNone/>
            </a:pPr>
            <a:r>
              <a:rPr lang="en-US" sz="1000" dirty="0">
                <a:solidFill>
                  <a:srgbClr val="718096"/>
                </a:solidFill>
                <a:latin typeface="Arial" pitchFamily="34" charset="0"/>
                <a:ea typeface="Arial" pitchFamily="34" charset="-122"/>
                <a:cs typeface="Arial" pitchFamily="34" charset="-120"/>
              </a:rPr>
              <a:t>Decimal Technologies  |  ABM Engine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ABM Engine — Signal Source Architecture</dc:title>
  <dc:subject>PptxGenJS Presentation</dc:subject>
  <dc:creator>Decimal Technologies</dc:creator>
  <cp:lastModifiedBy>Decimal Technologies</cp:lastModifiedBy>
  <cp:revision>1</cp:revision>
  <dcterms:created xsi:type="dcterms:W3CDTF">2026-06-22T06:02:02Z</dcterms:created>
  <dcterms:modified xsi:type="dcterms:W3CDTF">2026-06-22T06:02:02Z</dcterms:modified>
</cp:coreProperties>
</file>