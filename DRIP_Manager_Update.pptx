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talking points: We've replaced scattered tools with one system, loaded and organised 8,000+ real contacts, and roughly 80% of the planned functionality already works today. Emphasise the AI 'next best action' suggestions and the fact that security/compliance were built in from the start. Close by saying: this is real, working software today, not a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talking points: These four items are fully in our own hands — hosting move, screen polish, Arabic translation, and a recovery button. No purchases, no approvals, just scheduled work. Use this slide to set up the contrast with the next two slides, which cover things no amount of coding can 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talking points: Every row here is something that must be bought or registered with an outside company. Stress two things: (1) the engineering to use each of these is already finished — each one activates almost immediately once purchased; (2) none of them can be substituted with more coding effort, by Claude or by anyone. The email warm-up row deserves special mention: sender reputation is earned over ~2 weeks of real sending, which is why it should start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talking points: This slide is about permissions, rules, and time. PDPL sign-off is a lawyer's job; LinkedIn automation is deliberately not built because LinkedIn forbids it (frame this as good judgment, not a gap); WhatsApp and SSO need approvals from Meta and company IT respectively; security certificates need external auditors; and a reliability track record only comes from actually running in production. Close with the gold summary line at the bottom — purchase, permission, or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MANAGER UPDATE</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DRIP Platform — Where We Stand Today</a:t>
            </a:r>
            <a:endParaRPr lang="en-US" sz="2600" dirty="0"/>
          </a:p>
        </p:txBody>
      </p:sp>
      <p:sp>
        <p:nvSpPr>
          <p:cNvPr id="4" name="Shape 2"/>
          <p:cNvSpPr/>
          <p:nvPr/>
        </p:nvSpPr>
        <p:spPr>
          <a:xfrm>
            <a:off x="502920" y="1417320"/>
            <a:ext cx="3515258" cy="1417320"/>
          </a:xfrm>
          <a:prstGeom prst="rect">
            <a:avLst/>
          </a:prstGeom>
          <a:solidFill>
            <a:srgbClr val="0B1220"/>
          </a:solidFill>
          <a:ln/>
        </p:spPr>
      </p:sp>
      <p:sp>
        <p:nvSpPr>
          <p:cNvPr id="5" name="Shape 3"/>
          <p:cNvSpPr/>
          <p:nvPr/>
        </p:nvSpPr>
        <p:spPr>
          <a:xfrm>
            <a:off x="502920" y="1417320"/>
            <a:ext cx="3515258" cy="73152"/>
          </a:xfrm>
          <a:prstGeom prst="rect">
            <a:avLst/>
          </a:prstGeom>
          <a:solidFill>
            <a:srgbClr val="C9A227"/>
          </a:solidFill>
          <a:ln/>
        </p:spPr>
      </p:sp>
      <p:sp>
        <p:nvSpPr>
          <p:cNvPr id="6" name="Text 4"/>
          <p:cNvSpPr/>
          <p:nvPr/>
        </p:nvSpPr>
        <p:spPr>
          <a:xfrm>
            <a:off x="640080" y="1554480"/>
            <a:ext cx="3240938" cy="59436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80%</a:t>
            </a:r>
            <a:endParaRPr lang="en-US" sz="2800" dirty="0"/>
          </a:p>
        </p:txBody>
      </p:sp>
      <p:sp>
        <p:nvSpPr>
          <p:cNvPr id="7" name="Text 5"/>
          <p:cNvSpPr/>
          <p:nvPr/>
        </p:nvSpPr>
        <p:spPr>
          <a:xfrm>
            <a:off x="640080" y="2148840"/>
            <a:ext cx="3240938" cy="594360"/>
          </a:xfrm>
          <a:prstGeom prst="rect">
            <a:avLst/>
          </a:prstGeom>
          <a:noFill/>
          <a:ln/>
        </p:spPr>
        <p:txBody>
          <a:bodyPr wrap="square" rtlCol="0" anchor="t"/>
          <a:lstStyle/>
          <a:p>
            <a:pPr algn="ctr" indent="0" marL="0">
              <a:lnSpc>
                <a:spcPct val="110000"/>
              </a:lnSpc>
              <a:buNone/>
            </a:pPr>
            <a:r>
              <a:rPr lang="en-US" sz="1050" dirty="0">
                <a:solidFill>
                  <a:srgbClr val="D7E1F2"/>
                </a:solidFill>
                <a:latin typeface="Calibri" pitchFamily="34" charset="0"/>
                <a:ea typeface="Calibri" pitchFamily="34" charset="-122"/>
                <a:cs typeface="Calibri" pitchFamily="34" charset="-120"/>
              </a:rPr>
              <a:t>of the planned system is built and working today</a:t>
            </a:r>
            <a:endParaRPr lang="en-US" sz="1050" dirty="0"/>
          </a:p>
        </p:txBody>
      </p:sp>
      <p:sp>
        <p:nvSpPr>
          <p:cNvPr id="8" name="Shape 6"/>
          <p:cNvSpPr/>
          <p:nvPr/>
        </p:nvSpPr>
        <p:spPr>
          <a:xfrm>
            <a:off x="4338218" y="1417320"/>
            <a:ext cx="3515258" cy="1417320"/>
          </a:xfrm>
          <a:prstGeom prst="rect">
            <a:avLst/>
          </a:prstGeom>
          <a:solidFill>
            <a:srgbClr val="0B1220"/>
          </a:solidFill>
          <a:ln/>
        </p:spPr>
      </p:sp>
      <p:sp>
        <p:nvSpPr>
          <p:cNvPr id="9" name="Shape 7"/>
          <p:cNvSpPr/>
          <p:nvPr/>
        </p:nvSpPr>
        <p:spPr>
          <a:xfrm>
            <a:off x="4338218" y="1417320"/>
            <a:ext cx="3515258" cy="73152"/>
          </a:xfrm>
          <a:prstGeom prst="rect">
            <a:avLst/>
          </a:prstGeom>
          <a:solidFill>
            <a:srgbClr val="C9A227"/>
          </a:solidFill>
          <a:ln/>
        </p:spPr>
      </p:sp>
      <p:sp>
        <p:nvSpPr>
          <p:cNvPr id="10" name="Text 8"/>
          <p:cNvSpPr/>
          <p:nvPr/>
        </p:nvSpPr>
        <p:spPr>
          <a:xfrm>
            <a:off x="4475378" y="1554480"/>
            <a:ext cx="3240938" cy="59436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8,000+</a:t>
            </a:r>
            <a:endParaRPr lang="en-US" sz="2800" dirty="0"/>
          </a:p>
        </p:txBody>
      </p:sp>
      <p:sp>
        <p:nvSpPr>
          <p:cNvPr id="11" name="Text 9"/>
          <p:cNvSpPr/>
          <p:nvPr/>
        </p:nvSpPr>
        <p:spPr>
          <a:xfrm>
            <a:off x="4475378" y="2148840"/>
            <a:ext cx="3240938" cy="594360"/>
          </a:xfrm>
          <a:prstGeom prst="rect">
            <a:avLst/>
          </a:prstGeom>
          <a:noFill/>
          <a:ln/>
        </p:spPr>
        <p:txBody>
          <a:bodyPr wrap="square" rtlCol="0" anchor="t"/>
          <a:lstStyle/>
          <a:p>
            <a:pPr algn="ctr" indent="0" marL="0">
              <a:lnSpc>
                <a:spcPct val="110000"/>
              </a:lnSpc>
              <a:buNone/>
            </a:pPr>
            <a:r>
              <a:rPr lang="en-US" sz="1050" dirty="0">
                <a:solidFill>
                  <a:srgbClr val="D7E1F2"/>
                </a:solidFill>
                <a:latin typeface="Calibri" pitchFamily="34" charset="0"/>
                <a:ea typeface="Calibri" pitchFamily="34" charset="-122"/>
                <a:cs typeface="Calibri" pitchFamily="34" charset="-120"/>
              </a:rPr>
              <a:t>real bank contacts already loaded, organised, and scored</a:t>
            </a:r>
            <a:endParaRPr lang="en-US" sz="1050" dirty="0"/>
          </a:p>
        </p:txBody>
      </p:sp>
      <p:sp>
        <p:nvSpPr>
          <p:cNvPr id="12" name="Shape 10"/>
          <p:cNvSpPr/>
          <p:nvPr/>
        </p:nvSpPr>
        <p:spPr>
          <a:xfrm>
            <a:off x="8173517" y="1417320"/>
            <a:ext cx="3515258" cy="1417320"/>
          </a:xfrm>
          <a:prstGeom prst="rect">
            <a:avLst/>
          </a:prstGeom>
          <a:solidFill>
            <a:srgbClr val="0B1220"/>
          </a:solidFill>
          <a:ln/>
        </p:spPr>
      </p:sp>
      <p:sp>
        <p:nvSpPr>
          <p:cNvPr id="13" name="Shape 11"/>
          <p:cNvSpPr/>
          <p:nvPr/>
        </p:nvSpPr>
        <p:spPr>
          <a:xfrm>
            <a:off x="8173517" y="1417320"/>
            <a:ext cx="3515258" cy="73152"/>
          </a:xfrm>
          <a:prstGeom prst="rect">
            <a:avLst/>
          </a:prstGeom>
          <a:solidFill>
            <a:srgbClr val="C9A227"/>
          </a:solidFill>
          <a:ln/>
        </p:spPr>
      </p:sp>
      <p:sp>
        <p:nvSpPr>
          <p:cNvPr id="14" name="Text 12"/>
          <p:cNvSpPr/>
          <p:nvPr/>
        </p:nvSpPr>
        <p:spPr>
          <a:xfrm>
            <a:off x="8310677" y="1554480"/>
            <a:ext cx="3240938" cy="594360"/>
          </a:xfrm>
          <a:prstGeom prst="rect">
            <a:avLst/>
          </a:prstGeom>
          <a:noFill/>
          <a:ln/>
        </p:spPr>
        <p:txBody>
          <a:bodyPr wrap="square"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5" name="Text 13"/>
          <p:cNvSpPr/>
          <p:nvPr/>
        </p:nvSpPr>
        <p:spPr>
          <a:xfrm>
            <a:off x="8310677" y="2148840"/>
            <a:ext cx="3240938" cy="594360"/>
          </a:xfrm>
          <a:prstGeom prst="rect">
            <a:avLst/>
          </a:prstGeom>
          <a:noFill/>
          <a:ln/>
        </p:spPr>
        <p:txBody>
          <a:bodyPr wrap="square" rtlCol="0" anchor="t"/>
          <a:lstStyle/>
          <a:p>
            <a:pPr algn="ctr" indent="0" marL="0">
              <a:lnSpc>
                <a:spcPct val="110000"/>
              </a:lnSpc>
              <a:buNone/>
            </a:pPr>
            <a:r>
              <a:rPr lang="en-US" sz="1050" dirty="0">
                <a:solidFill>
                  <a:srgbClr val="D7E1F2"/>
                </a:solidFill>
                <a:latin typeface="Calibri" pitchFamily="34" charset="0"/>
                <a:ea typeface="Calibri" pitchFamily="34" charset="-122"/>
                <a:cs typeface="Calibri" pitchFamily="34" charset="-120"/>
              </a:rPr>
              <a:t>single system — replacing scattered spreadsheets and disconnected tools</a:t>
            </a:r>
            <a:endParaRPr lang="en-US" sz="1050" dirty="0"/>
          </a:p>
        </p:txBody>
      </p:sp>
      <p:sp>
        <p:nvSpPr>
          <p:cNvPr id="16" name="Shape 14"/>
          <p:cNvSpPr/>
          <p:nvPr/>
        </p:nvSpPr>
        <p:spPr>
          <a:xfrm>
            <a:off x="502920" y="3191256"/>
            <a:ext cx="100584" cy="100584"/>
          </a:xfrm>
          <a:prstGeom prst="ellipse">
            <a:avLst/>
          </a:prstGeom>
          <a:solidFill>
            <a:srgbClr val="C9A227"/>
          </a:solidFill>
          <a:ln/>
        </p:spPr>
      </p:sp>
      <p:sp>
        <p:nvSpPr>
          <p:cNvPr id="17" name="Text 15"/>
          <p:cNvSpPr/>
          <p:nvPr/>
        </p:nvSpPr>
        <p:spPr>
          <a:xfrm>
            <a:off x="758952" y="3054096"/>
            <a:ext cx="5090008" cy="1051560"/>
          </a:xfrm>
          <a:prstGeom prst="rect">
            <a:avLst/>
          </a:prstGeom>
          <a:noFill/>
          <a:ln/>
        </p:spPr>
        <p:txBody>
          <a:bodyPr wrap="square" rtlCol="0" anchor="t"/>
          <a:lstStyle/>
          <a:p>
            <a:pPr indent="0" marL="0">
              <a:lnSpc>
                <a:spcPct val="112000"/>
              </a:lnSpc>
              <a:buNone/>
            </a:pPr>
            <a:r>
              <a:rPr lang="en-US" sz="1250" b="1" dirty="0">
                <a:solidFill>
                  <a:srgbClr val="1A2035"/>
                </a:solidFill>
                <a:latin typeface="Calibri" pitchFamily="34" charset="0"/>
                <a:ea typeface="Calibri" pitchFamily="34" charset="-122"/>
                <a:cs typeface="Calibri" pitchFamily="34" charset="-120"/>
              </a:rPr>
              <a:t>One place for everything. </a:t>
            </a:r>
            <a:endParaRPr lang="en-US" sz="1250" dirty="0"/>
          </a:p>
          <a:p>
            <a:pPr indent="0" marL="0">
              <a:lnSpc>
                <a:spcPct val="112000"/>
              </a:lnSpc>
              <a:buNone/>
            </a:pPr>
            <a:r>
              <a:rPr lang="en-US" sz="1130" dirty="0">
                <a:solidFill>
                  <a:srgbClr val="586080"/>
                </a:solidFill>
                <a:latin typeface="Calibri" pitchFamily="34" charset="0"/>
                <a:ea typeface="Calibri" pitchFamily="34" charset="-122"/>
                <a:cs typeface="Calibri" pitchFamily="34" charset="-120"/>
              </a:rPr>
              <a:t>Every bank, every contact, every past conversation, and every deal now lives in one system — not scattered across spreadsheets, inboxes, and people's memories.</a:t>
            </a:r>
            <a:endParaRPr lang="en-US" sz="1250" dirty="0"/>
          </a:p>
        </p:txBody>
      </p:sp>
      <p:sp>
        <p:nvSpPr>
          <p:cNvPr id="18" name="Shape 16"/>
          <p:cNvSpPr/>
          <p:nvPr/>
        </p:nvSpPr>
        <p:spPr>
          <a:xfrm>
            <a:off x="502920" y="4242816"/>
            <a:ext cx="100584" cy="100584"/>
          </a:xfrm>
          <a:prstGeom prst="ellipse">
            <a:avLst/>
          </a:prstGeom>
          <a:solidFill>
            <a:srgbClr val="C9A227"/>
          </a:solidFill>
          <a:ln/>
        </p:spPr>
      </p:sp>
      <p:sp>
        <p:nvSpPr>
          <p:cNvPr id="19" name="Text 17"/>
          <p:cNvSpPr/>
          <p:nvPr/>
        </p:nvSpPr>
        <p:spPr>
          <a:xfrm>
            <a:off x="758952" y="4105656"/>
            <a:ext cx="5090008" cy="1051560"/>
          </a:xfrm>
          <a:prstGeom prst="rect">
            <a:avLst/>
          </a:prstGeom>
          <a:noFill/>
          <a:ln/>
        </p:spPr>
        <p:txBody>
          <a:bodyPr wrap="square" rtlCol="0" anchor="t"/>
          <a:lstStyle/>
          <a:p>
            <a:pPr indent="0" marL="0">
              <a:lnSpc>
                <a:spcPct val="112000"/>
              </a:lnSpc>
              <a:buNone/>
            </a:pPr>
            <a:r>
              <a:rPr lang="en-US" sz="1250" b="1" dirty="0">
                <a:solidFill>
                  <a:srgbClr val="1A2035"/>
                </a:solidFill>
                <a:latin typeface="Calibri" pitchFamily="34" charset="0"/>
                <a:ea typeface="Calibri" pitchFamily="34" charset="-122"/>
                <a:cs typeface="Calibri" pitchFamily="34" charset="-120"/>
              </a:rPr>
              <a:t>The team can see the whole picture. </a:t>
            </a:r>
            <a:endParaRPr lang="en-US" sz="1250" dirty="0"/>
          </a:p>
          <a:p>
            <a:pPr indent="0" marL="0">
              <a:lnSpc>
                <a:spcPct val="112000"/>
              </a:lnSpc>
              <a:buNone/>
            </a:pPr>
            <a:r>
              <a:rPr lang="en-US" sz="1130" dirty="0">
                <a:solidFill>
                  <a:srgbClr val="586080"/>
                </a:solidFill>
                <a:latin typeface="Calibri" pitchFamily="34" charset="0"/>
                <a:ea typeface="Calibri" pitchFamily="34" charset="-122"/>
                <a:cs typeface="Calibri" pitchFamily="34" charset="-120"/>
              </a:rPr>
              <a:t>For any bank, we can now see who the decision-makers are, what's been said to them, and what's happening at their organisation — all on one screen.</a:t>
            </a:r>
            <a:endParaRPr lang="en-US" sz="1250" dirty="0"/>
          </a:p>
        </p:txBody>
      </p:sp>
      <p:sp>
        <p:nvSpPr>
          <p:cNvPr id="20" name="Shape 18"/>
          <p:cNvSpPr/>
          <p:nvPr/>
        </p:nvSpPr>
        <p:spPr>
          <a:xfrm>
            <a:off x="502920" y="5294376"/>
            <a:ext cx="100584" cy="100584"/>
          </a:xfrm>
          <a:prstGeom prst="ellipse">
            <a:avLst/>
          </a:prstGeom>
          <a:solidFill>
            <a:srgbClr val="C9A227"/>
          </a:solidFill>
          <a:ln/>
        </p:spPr>
      </p:sp>
      <p:sp>
        <p:nvSpPr>
          <p:cNvPr id="21" name="Text 19"/>
          <p:cNvSpPr/>
          <p:nvPr/>
        </p:nvSpPr>
        <p:spPr>
          <a:xfrm>
            <a:off x="758952" y="5157216"/>
            <a:ext cx="5090008" cy="1051560"/>
          </a:xfrm>
          <a:prstGeom prst="rect">
            <a:avLst/>
          </a:prstGeom>
          <a:noFill/>
          <a:ln/>
        </p:spPr>
        <p:txBody>
          <a:bodyPr wrap="square" rtlCol="0" anchor="t"/>
          <a:lstStyle/>
          <a:p>
            <a:pPr indent="0" marL="0">
              <a:lnSpc>
                <a:spcPct val="112000"/>
              </a:lnSpc>
              <a:buNone/>
            </a:pPr>
            <a:r>
              <a:rPr lang="en-US" sz="1250" b="1" dirty="0">
                <a:solidFill>
                  <a:srgbClr val="1A2035"/>
                </a:solidFill>
                <a:latin typeface="Calibri" pitchFamily="34" charset="0"/>
                <a:ea typeface="Calibri" pitchFamily="34" charset="-122"/>
                <a:cs typeface="Calibri" pitchFamily="34" charset="-120"/>
              </a:rPr>
              <a:t>The system watches the news for us. </a:t>
            </a:r>
            <a:endParaRPr lang="en-US" sz="1250" dirty="0"/>
          </a:p>
          <a:p>
            <a:pPr indent="0" marL="0">
              <a:lnSpc>
                <a:spcPct val="112000"/>
              </a:lnSpc>
              <a:buNone/>
            </a:pPr>
            <a:r>
              <a:rPr lang="en-US" sz="1130" dirty="0">
                <a:solidFill>
                  <a:srgbClr val="586080"/>
                </a:solidFill>
                <a:latin typeface="Calibri" pitchFamily="34" charset="0"/>
                <a:ea typeface="Calibri" pitchFamily="34" charset="-122"/>
                <a:cs typeface="Calibri" pitchFamily="34" charset="-120"/>
              </a:rPr>
              <a:t>It automatically picks up relevant news and regulatory updates about our target banks, so the team can react same-day instead of finding out weeks later.</a:t>
            </a:r>
            <a:endParaRPr lang="en-US" sz="1250" dirty="0"/>
          </a:p>
        </p:txBody>
      </p:sp>
      <p:sp>
        <p:nvSpPr>
          <p:cNvPr id="22" name="Shape 20"/>
          <p:cNvSpPr/>
          <p:nvPr/>
        </p:nvSpPr>
        <p:spPr>
          <a:xfrm>
            <a:off x="6324448" y="3191256"/>
            <a:ext cx="100584" cy="100584"/>
          </a:xfrm>
          <a:prstGeom prst="ellipse">
            <a:avLst/>
          </a:prstGeom>
          <a:solidFill>
            <a:srgbClr val="C9A227"/>
          </a:solidFill>
          <a:ln/>
        </p:spPr>
      </p:sp>
      <p:sp>
        <p:nvSpPr>
          <p:cNvPr id="23" name="Text 21"/>
          <p:cNvSpPr/>
          <p:nvPr/>
        </p:nvSpPr>
        <p:spPr>
          <a:xfrm>
            <a:off x="6580480" y="3054096"/>
            <a:ext cx="5090008" cy="1051560"/>
          </a:xfrm>
          <a:prstGeom prst="rect">
            <a:avLst/>
          </a:prstGeom>
          <a:noFill/>
          <a:ln/>
        </p:spPr>
        <p:txBody>
          <a:bodyPr wrap="square" rtlCol="0" anchor="t"/>
          <a:lstStyle/>
          <a:p>
            <a:pPr indent="0" marL="0">
              <a:lnSpc>
                <a:spcPct val="112000"/>
              </a:lnSpc>
              <a:buNone/>
            </a:pPr>
            <a:r>
              <a:rPr lang="en-US" sz="1250" b="1" dirty="0">
                <a:solidFill>
                  <a:srgbClr val="1A2035"/>
                </a:solidFill>
                <a:latin typeface="Calibri" pitchFamily="34" charset="0"/>
                <a:ea typeface="Calibri" pitchFamily="34" charset="-122"/>
                <a:cs typeface="Calibri" pitchFamily="34" charset="-120"/>
              </a:rPr>
              <a:t>Smart suggestions, not guesswork. </a:t>
            </a:r>
            <a:endParaRPr lang="en-US" sz="1250" dirty="0"/>
          </a:p>
          <a:p>
            <a:pPr indent="0" marL="0">
              <a:lnSpc>
                <a:spcPct val="112000"/>
              </a:lnSpc>
              <a:buNone/>
            </a:pPr>
            <a:r>
              <a:rPr lang="en-US" sz="1130" dirty="0">
                <a:solidFill>
                  <a:srgbClr val="586080"/>
                </a:solidFill>
                <a:latin typeface="Calibri" pitchFamily="34" charset="0"/>
                <a:ea typeface="Calibri" pitchFamily="34" charset="-122"/>
                <a:cs typeface="Calibri" pitchFamily="34" charset="-120"/>
              </a:rPr>
              <a:t>An AI assistant suggests who to contact next and why, with its reasoning shown clearly, instead of the team relying on memory or gut feel.</a:t>
            </a:r>
            <a:endParaRPr lang="en-US" sz="1250" dirty="0"/>
          </a:p>
        </p:txBody>
      </p:sp>
      <p:sp>
        <p:nvSpPr>
          <p:cNvPr id="24" name="Shape 22"/>
          <p:cNvSpPr/>
          <p:nvPr/>
        </p:nvSpPr>
        <p:spPr>
          <a:xfrm>
            <a:off x="6324448" y="4242816"/>
            <a:ext cx="100584" cy="100584"/>
          </a:xfrm>
          <a:prstGeom prst="ellipse">
            <a:avLst/>
          </a:prstGeom>
          <a:solidFill>
            <a:srgbClr val="C9A227"/>
          </a:solidFill>
          <a:ln/>
        </p:spPr>
      </p:sp>
      <p:sp>
        <p:nvSpPr>
          <p:cNvPr id="25" name="Text 23"/>
          <p:cNvSpPr/>
          <p:nvPr/>
        </p:nvSpPr>
        <p:spPr>
          <a:xfrm>
            <a:off x="6580480" y="4105656"/>
            <a:ext cx="5090008" cy="1051560"/>
          </a:xfrm>
          <a:prstGeom prst="rect">
            <a:avLst/>
          </a:prstGeom>
          <a:noFill/>
          <a:ln/>
        </p:spPr>
        <p:txBody>
          <a:bodyPr wrap="square" rtlCol="0" anchor="t"/>
          <a:lstStyle/>
          <a:p>
            <a:pPr indent="0" marL="0">
              <a:lnSpc>
                <a:spcPct val="112000"/>
              </a:lnSpc>
              <a:buNone/>
            </a:pPr>
            <a:r>
              <a:rPr lang="en-US" sz="1250" b="1" dirty="0">
                <a:solidFill>
                  <a:srgbClr val="1A2035"/>
                </a:solidFill>
                <a:latin typeface="Calibri" pitchFamily="34" charset="0"/>
                <a:ea typeface="Calibri" pitchFamily="34" charset="-122"/>
                <a:cs typeface="Calibri" pitchFamily="34" charset="-120"/>
              </a:rPr>
              <a:t>Built safely, from day one. </a:t>
            </a:r>
            <a:endParaRPr lang="en-US" sz="1250" dirty="0"/>
          </a:p>
          <a:p>
            <a:pPr indent="0" marL="0">
              <a:lnSpc>
                <a:spcPct val="112000"/>
              </a:lnSpc>
              <a:buNone/>
            </a:pPr>
            <a:r>
              <a:rPr lang="en-US" sz="1130" dirty="0">
                <a:solidFill>
                  <a:srgbClr val="586080"/>
                </a:solidFill>
                <a:latin typeface="Calibri" pitchFamily="34" charset="0"/>
                <a:ea typeface="Calibri" pitchFamily="34" charset="-122"/>
                <a:cs typeface="Calibri" pitchFamily="34" charset="-120"/>
              </a:rPr>
              <a:t>Data protection, secure logins, and a full history of every change are already built in — this isn't an afterthought bolted on later.</a:t>
            </a:r>
            <a:endParaRPr lang="en-US" sz="1250" dirty="0"/>
          </a:p>
        </p:txBody>
      </p:sp>
      <p:sp>
        <p:nvSpPr>
          <p:cNvPr id="26" name="Shape 24"/>
          <p:cNvSpPr/>
          <p:nvPr/>
        </p:nvSpPr>
        <p:spPr>
          <a:xfrm>
            <a:off x="6324448" y="5294376"/>
            <a:ext cx="100584" cy="100584"/>
          </a:xfrm>
          <a:prstGeom prst="ellipse">
            <a:avLst/>
          </a:prstGeom>
          <a:solidFill>
            <a:srgbClr val="C9A227"/>
          </a:solidFill>
          <a:ln/>
        </p:spPr>
      </p:sp>
      <p:sp>
        <p:nvSpPr>
          <p:cNvPr id="27" name="Text 25"/>
          <p:cNvSpPr/>
          <p:nvPr/>
        </p:nvSpPr>
        <p:spPr>
          <a:xfrm>
            <a:off x="6580480" y="5157216"/>
            <a:ext cx="5090008" cy="1051560"/>
          </a:xfrm>
          <a:prstGeom prst="rect">
            <a:avLst/>
          </a:prstGeom>
          <a:noFill/>
          <a:ln/>
        </p:spPr>
        <p:txBody>
          <a:bodyPr wrap="square" rtlCol="0" anchor="t"/>
          <a:lstStyle/>
          <a:p>
            <a:pPr indent="0" marL="0">
              <a:lnSpc>
                <a:spcPct val="112000"/>
              </a:lnSpc>
              <a:buNone/>
            </a:pPr>
            <a:r>
              <a:rPr lang="en-US" sz="1250" b="1" dirty="0">
                <a:solidFill>
                  <a:srgbClr val="1A2035"/>
                </a:solidFill>
                <a:latin typeface="Calibri" pitchFamily="34" charset="0"/>
                <a:ea typeface="Calibri" pitchFamily="34" charset="-122"/>
                <a:cs typeface="Calibri" pitchFamily="34" charset="-120"/>
              </a:rPr>
              <a:t>Fully documented. </a:t>
            </a:r>
            <a:endParaRPr lang="en-US" sz="1250" dirty="0"/>
          </a:p>
          <a:p>
            <a:pPr indent="0" marL="0">
              <a:lnSpc>
                <a:spcPct val="112000"/>
              </a:lnSpc>
              <a:buNone/>
            </a:pPr>
            <a:r>
              <a:rPr lang="en-US" sz="1130" dirty="0">
                <a:solidFill>
                  <a:srgbClr val="586080"/>
                </a:solidFill>
                <a:latin typeface="Calibri" pitchFamily="34" charset="0"/>
                <a:ea typeface="Calibri" pitchFamily="34" charset="-122"/>
                <a:cs typeface="Calibri" pitchFamily="34" charset="-120"/>
              </a:rPr>
              <a:t>A complete 138-page handbook now exists explaining exactly what the system does, so anyone on the team — technical or not — can understand it.</a:t>
            </a:r>
            <a:endParaRPr lang="en-US" sz="1250" dirty="0"/>
          </a:p>
        </p:txBody>
      </p:sp>
      <p:sp>
        <p:nvSpPr>
          <p:cNvPr id="28" name="Text 26"/>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Manager Update</a:t>
            </a:r>
            <a:endParaRPr lang="en-US" sz="850" dirty="0"/>
          </a:p>
        </p:txBody>
      </p:sp>
      <p:sp>
        <p:nvSpPr>
          <p:cNvPr id="29" name="Text 27"/>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MANAGER UPDATE · BOTTLENECKS 1 OF 3</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Bottlenecks We Can Clear Ourselves — and How</a:t>
            </a:r>
            <a:endParaRPr lang="en-US" sz="2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684605"/>
                <a:gridCol w="3132039"/>
                <a:gridCol w="3579474"/>
                <a:gridCol w="1789737"/>
              </a:tblGrid>
              <a:tr h="768096">
                <a:tc>
                  <a:txBody>
                    <a:bodyPr/>
                    <a:lstStyle/>
                    <a:p>
                      <a:pPr algn="l" indent="0" marL="0">
                        <a:buNone/>
                      </a:pPr>
                      <a:r>
                        <a:rPr lang="en-US" sz="1130" b="1" dirty="0">
                          <a:solidFill>
                            <a:srgbClr val="FFFFFF"/>
                          </a:solidFill>
                          <a:latin typeface="Calibri" pitchFamily="34" charset="0"/>
                          <a:ea typeface="Calibri" pitchFamily="34" charset="-122"/>
                          <a:cs typeface="Calibri" pitchFamily="34" charset="-120"/>
                        </a:rPr>
                        <a:t>Bottleneck (in plain terms)</a:t>
                      </a:r>
                      <a:endParaRPr lang="en-US" sz="11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30" b="1" dirty="0">
                          <a:solidFill>
                            <a:srgbClr val="FFFFFF"/>
                          </a:solidFill>
                          <a:latin typeface="Calibri" pitchFamily="34" charset="0"/>
                          <a:ea typeface="Calibri" pitchFamily="34" charset="-122"/>
                          <a:cs typeface="Calibri" pitchFamily="34" charset="-120"/>
                        </a:rPr>
                        <a:t>Why it matters</a:t>
                      </a:r>
                      <a:endParaRPr lang="en-US" sz="11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30" b="1" dirty="0">
                          <a:solidFill>
                            <a:srgbClr val="FFFFFF"/>
                          </a:solidFill>
                          <a:latin typeface="Calibri" pitchFamily="34" charset="0"/>
                          <a:ea typeface="Calibri" pitchFamily="34" charset="-122"/>
                          <a:cs typeface="Calibri" pitchFamily="34" charset="-120"/>
                        </a:rPr>
                        <a:t>How we fix it</a:t>
                      </a:r>
                      <a:endParaRPr lang="en-US" sz="11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130" b="1" dirty="0">
                          <a:solidFill>
                            <a:srgbClr val="FFFFFF"/>
                          </a:solidFill>
                          <a:latin typeface="Calibri" pitchFamily="34" charset="0"/>
                          <a:ea typeface="Calibri" pitchFamily="34" charset="-122"/>
                          <a:cs typeface="Calibri" pitchFamily="34" charset="-120"/>
                        </a:rPr>
                        <a:t>Roughly how long</a:t>
                      </a:r>
                      <a:endParaRPr lang="en-US" sz="11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768096">
                <a:tc>
                  <a:txBody>
                    <a:bodyPr/>
                    <a:lstStyle/>
                    <a:p>
                      <a:pPr algn="l" indent="0" marL="0">
                        <a:buNone/>
                      </a:pPr>
                      <a:r>
                        <a:rPr lang="en-US" sz="1030" b="1" dirty="0">
                          <a:solidFill>
                            <a:srgbClr val="1A2035"/>
                          </a:solidFill>
                          <a:latin typeface="Calibri" pitchFamily="34" charset="0"/>
                          <a:ea typeface="Calibri" pitchFamily="34" charset="-122"/>
                          <a:cs typeface="Calibri" pitchFamily="34" charset="-120"/>
                        </a:rPr>
                        <a:t>Not yet running on a proper always-on server</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Right now it only runs on one laptop — the team can't rely on it every day, from anywhere</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Move it to a proper hosted server. The setup work is already done and ready to go</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A few days</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68096">
                <a:tc>
                  <a:txBody>
                    <a:bodyPr/>
                    <a:lstStyle/>
                    <a:p>
                      <a:pPr algn="l" indent="0" marL="0">
                        <a:buNone/>
                      </a:pPr>
                      <a:r>
                        <a:rPr lang="en-US" sz="1030" b="1" dirty="0">
                          <a:solidFill>
                            <a:srgbClr val="1A2035"/>
                          </a:solidFill>
                          <a:latin typeface="Calibri" pitchFamily="34" charset="0"/>
                          <a:ea typeface="Calibri" pitchFamily="34" charset="-122"/>
                          <a:cs typeface="Calibri" pitchFamily="34" charset="-120"/>
                        </a:rPr>
                        <a:t>Newer features are 'engine ready' but not all one-click in the screens</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Some powerful features work behind the scenes but aren't yet a single obvious button for the team</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Focused polish work on the everyday screens — pure in-house effort</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1-2 weeks</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768096">
                <a:tc>
                  <a:txBody>
                    <a:bodyPr/>
                    <a:lstStyle/>
                    <a:p>
                      <a:pPr algn="l" indent="0" marL="0">
                        <a:buNone/>
                      </a:pPr>
                      <a:r>
                        <a:rPr lang="en-US" sz="1030" b="1" dirty="0">
                          <a:solidFill>
                            <a:srgbClr val="1A2035"/>
                          </a:solidFill>
                          <a:latin typeface="Calibri" pitchFamily="34" charset="0"/>
                          <a:ea typeface="Calibri" pitchFamily="34" charset="-122"/>
                          <a:cs typeface="Calibri" pitchFamily="34" charset="-120"/>
                        </a:rPr>
                        <a:t>Arabic version is only partly translated</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The layout supports Arabic, but not every label is translated yet</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Finish the translation catalogue — in-house work, no outside dependency</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About 1 week</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68096">
                <a:tc>
                  <a:txBody>
                    <a:bodyPr/>
                    <a:lstStyle/>
                    <a:p>
                      <a:pPr algn="l" indent="0" marL="0">
                        <a:buNone/>
                      </a:pPr>
                      <a:r>
                        <a:rPr lang="en-US" sz="1030" b="1" dirty="0">
                          <a:solidFill>
                            <a:srgbClr val="1A2035"/>
                          </a:solidFill>
                          <a:latin typeface="Calibri" pitchFamily="34" charset="0"/>
                          <a:ea typeface="Calibri" pitchFamily="34" charset="-122"/>
                          <a:cs typeface="Calibri" pitchFamily="34" charset="-120"/>
                        </a:rPr>
                        <a:t>No 'restore deleted record' button yet</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Deleted records are safely kept (nothing is ever truly lost), but restoring one needs a technician today</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Add a simple recovery screen — small in-house job</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1030" dirty="0">
                          <a:solidFill>
                            <a:srgbClr val="586080"/>
                          </a:solidFill>
                          <a:latin typeface="Calibri" pitchFamily="34" charset="0"/>
                          <a:ea typeface="Calibri" pitchFamily="34" charset="-122"/>
                          <a:cs typeface="Calibri" pitchFamily="34" charset="-120"/>
                        </a:rPr>
                        <a:t>A few days</a:t>
                      </a:r>
                      <a:endParaRPr lang="en-US" sz="103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Shape 2"/>
          <p:cNvSpPr/>
          <p:nvPr/>
        </p:nvSpPr>
        <p:spPr>
          <a:xfrm>
            <a:off x="502920" y="5303520"/>
            <a:ext cx="11185855" cy="1051560"/>
          </a:xfrm>
          <a:prstGeom prst="rect">
            <a:avLst/>
          </a:prstGeom>
          <a:solidFill>
            <a:srgbClr val="0B1220"/>
          </a:solidFill>
          <a:ln/>
        </p:spPr>
      </p:sp>
      <p:sp>
        <p:nvSpPr>
          <p:cNvPr id="6" name="Text 3"/>
          <p:cNvSpPr/>
          <p:nvPr/>
        </p:nvSpPr>
        <p:spPr>
          <a:xfrm>
            <a:off x="777240" y="5394960"/>
            <a:ext cx="10637215" cy="320040"/>
          </a:xfrm>
          <a:prstGeom prst="rect">
            <a:avLst/>
          </a:prstGeom>
          <a:noFill/>
          <a:ln/>
        </p:spPr>
        <p:txBody>
          <a:bodyPr wrap="square"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These are the easy ones.</a:t>
            </a:r>
            <a:endParaRPr lang="en-US" sz="1400" dirty="0"/>
          </a:p>
        </p:txBody>
      </p:sp>
      <p:sp>
        <p:nvSpPr>
          <p:cNvPr id="7" name="Text 4"/>
          <p:cNvSpPr/>
          <p:nvPr/>
        </p:nvSpPr>
        <p:spPr>
          <a:xfrm>
            <a:off x="777240" y="5724144"/>
            <a:ext cx="10637215" cy="548640"/>
          </a:xfrm>
          <a:prstGeom prst="rect">
            <a:avLst/>
          </a:prstGeom>
          <a:noFill/>
          <a:ln/>
        </p:spPr>
        <p:txBody>
          <a:bodyPr wrap="square" rtlCol="0" anchor="t"/>
          <a:lstStyle/>
          <a:p>
            <a:pPr indent="0" marL="0">
              <a:lnSpc>
                <a:spcPct val="118000"/>
              </a:lnSpc>
              <a:buNone/>
            </a:pPr>
            <a:r>
              <a:rPr lang="en-US" sz="1080" dirty="0">
                <a:solidFill>
                  <a:srgbClr val="D7E1F2"/>
                </a:solidFill>
                <a:latin typeface="Calibri" pitchFamily="34" charset="0"/>
                <a:ea typeface="Calibri" pitchFamily="34" charset="-122"/>
                <a:cs typeface="Calibri" pitchFamily="34" charset="-120"/>
              </a:rPr>
              <a:t>Everything on this slide is ordinary engineering work we can do ourselves, with no outside purchases or approvals. The next two slides cover the harder category: things that, by their nature, cannot be solved by writing code or working on our own machine.</a:t>
            </a:r>
            <a:endParaRPr lang="en-US" sz="1080" dirty="0"/>
          </a:p>
        </p:txBody>
      </p:sp>
      <p:sp>
        <p:nvSpPr>
          <p:cNvPr id="8" name="Text 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Manager Update</a:t>
            </a:r>
            <a:endParaRPr lang="en-US" sz="850" dirty="0"/>
          </a:p>
        </p:txBody>
      </p:sp>
      <p:sp>
        <p:nvSpPr>
          <p:cNvPr id="9" name="Text 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MANAGER UPDATE · BOTTLENECKS 2 OF 3</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Bottlenecks No Code Can Solve — Purchases &amp; Subscriptions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237171"/>
                <a:gridCol w="2908322"/>
                <a:gridCol w="3803191"/>
                <a:gridCol w="2237171"/>
              </a:tblGrid>
              <a:tr h="731520">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What we need</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Where it is used in DRIP</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Why we can't do it ourselves / through Claude</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What it takes</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73152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 cloud server account (e.g. AWS / Railway)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entire platform — making it available 24/7 to the whole team, not just one laptop</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A server must be rented from a hosting company. A personal laptop switches off, sleeps, and sits behind a home network — no code changes that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Company account + payment method; live in days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3152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Our own email domain + an email service (Amazon SES)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Campaigns, follow-up sequences, and any real email to a bank contact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Email providers (Gmail, Outlook) only trust mail from a registered domain with an earned reputation. That trust is built by sending gradually over ~2 weeks ('warm-up') — it is earned with time, not built with code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Domain + AWS approval + 2-week warm-up</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73152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An AI model subscription (Anthropic / OpenAI / Google)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AI assistant, email drafting, and 'who to contact next' explanations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intelligence itself runs on these companies' paid services. All our wiring is complete — the moment a key is added, every AI feature goes live at once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Paid API subscription; instant once purchased</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3152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 contact-verification service (Apollo / Lusha / Clay)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Independently confirming the emails &amp; phone numbers of our 8,000+ contacts before real outreach</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Verified contact data is these companies' proprietary product. It can only be bought — it cannot be scraped or generated, legally or reliably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Subscription + ~1 week to connect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73152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An intent-data provider (e.g. Bombora / 6sense)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Early buying signals — knowing which banks are actively researching solutions like ours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This data comes from proprietary advertising/publisher networks that only these vendors can see. There is no do-it-yourself substitute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Commercial data contract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73152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Google / Microsoft app credentials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Two-way calendar sync on the Meetings screen (invites appearing in Outlook/Google automatically)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Google and Microsoft only allow calendar access through credentials issued to a registered company account — an admin action on their side, not ours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One-time app registration by IT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Text 2"/>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Manager Update</a:t>
            </a:r>
            <a:endParaRPr lang="en-US" sz="850" dirty="0"/>
          </a:p>
        </p:txBody>
      </p:sp>
      <p:sp>
        <p:nvSpPr>
          <p:cNvPr id="6" name="Text 3"/>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92608"/>
            <a:ext cx="11185855" cy="274320"/>
          </a:xfrm>
          <a:prstGeom prst="rect">
            <a:avLst/>
          </a:prstGeom>
          <a:noFill/>
          <a:ln/>
        </p:spPr>
        <p:txBody>
          <a:bodyPr wrap="square" rtlCol="0" anchor="ctr"/>
          <a:lstStyle/>
          <a:p>
            <a:pPr indent="0" marL="0">
              <a:buNone/>
            </a:pPr>
            <a:r>
              <a:rPr lang="en-US" sz="1100" b="1" spc="200" kern="0" dirty="0">
                <a:solidFill>
                  <a:srgbClr val="C9A227"/>
                </a:solidFill>
                <a:latin typeface="Calibri" pitchFamily="34" charset="0"/>
                <a:ea typeface="Calibri" pitchFamily="34" charset="-122"/>
                <a:cs typeface="Calibri" pitchFamily="34" charset="-120"/>
              </a:rPr>
              <a:t>MANAGER UPDATE · BOTTLENECKS 3 OF 3</a:t>
            </a:r>
            <a:endParaRPr lang="en-US" sz="1100" dirty="0"/>
          </a:p>
        </p:txBody>
      </p:sp>
      <p:sp>
        <p:nvSpPr>
          <p:cNvPr id="3" name="Text 1"/>
          <p:cNvSpPr/>
          <p:nvPr/>
        </p:nvSpPr>
        <p:spPr>
          <a:xfrm>
            <a:off x="502920" y="548640"/>
            <a:ext cx="11185855" cy="731520"/>
          </a:xfrm>
          <a:prstGeom prst="rect">
            <a:avLst/>
          </a:prstGeom>
          <a:noFill/>
          <a:ln/>
        </p:spPr>
        <p:txBody>
          <a:bodyPr wrap="square" rtlCol="0" anchor="ctr"/>
          <a:lstStyle/>
          <a:p>
            <a:pPr indent="0" marL="0">
              <a:lnSpc>
                <a:spcPts val="2800"/>
              </a:lnSpc>
              <a:buNone/>
            </a:pPr>
            <a:r>
              <a:rPr lang="en-US" sz="2600" b="1" dirty="0">
                <a:solidFill>
                  <a:srgbClr val="1A2035"/>
                </a:solidFill>
                <a:latin typeface="Cambria" pitchFamily="34" charset="0"/>
                <a:ea typeface="Cambria" pitchFamily="34" charset="-122"/>
                <a:cs typeface="Cambria" pitchFamily="34" charset="-120"/>
              </a:rPr>
              <a:t>Bottlenecks No Code Can Solve — Permissions, Rules &amp; Time</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5855" cy="914400"/>
        </p:xfrm>
        <a:graphic>
          <a:graphicData uri="http://schemas.openxmlformats.org/drawingml/2006/table">
            <a:tbl>
              <a:tblPr/>
              <a:tblGrid>
                <a:gridCol w="2237171"/>
                <a:gridCol w="2908322"/>
                <a:gridCol w="3803191"/>
                <a:gridCol w="2237171"/>
              </a:tblGrid>
              <a:tr h="548640">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What we need</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Where it is used in DRIP</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Why we can't do it ourselves / through Claude</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c>
                  <a:txBody>
                    <a:bodyPr/>
                    <a:lstStyle/>
                    <a:p>
                      <a:pPr algn="l" indent="0" marL="0">
                        <a:buNone/>
                      </a:pPr>
                      <a:r>
                        <a:rPr lang="en-US" sz="1060" b="1" dirty="0">
                          <a:solidFill>
                            <a:srgbClr val="FFFFFF"/>
                          </a:solidFill>
                          <a:latin typeface="Calibri" pitchFamily="34" charset="0"/>
                          <a:ea typeface="Calibri" pitchFamily="34" charset="-122"/>
                          <a:cs typeface="Calibri" pitchFamily="34" charset="-120"/>
                        </a:rPr>
                        <a:t>What it takes</a:t>
                      </a:r>
                      <a:endParaRPr lang="en-US" sz="10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121B33"/>
                    </a:solidFill>
                  </a:tcPr>
                </a:tc>
              </a:tr>
              <a:tr h="5486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PDPL legal sign-off (Saudi data-protection law)</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Storing and using bank contacts' personal data lawfully — underpins the whole contact database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The technical controls (consent tracking, export, delete-on-request) are built. Only a qualified lawyer can certify they satisfy the law — that is a legal opinion, not a technical task</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Legal review; timeline depends on the lawyer</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LinkedIn automation — deliberately NOT built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Outreach: today a human sends LinkedIn messages and DRIP records every step</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LinkedIn's terms of service prohibit bots and can ban accounts that use them. This is a rule we choose to respect, not a missing capability — the safe design is human-driven, system-tracked</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No action — this is the correct permanent approach</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486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WhatsApp official Business API</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WhatsApp as a tracked outreach channel — sending from the system rather than a personal phone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Sending via WhatsApp at business scale requires Meta's approval of a verified business account — their process, their timeline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Meta business verification</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Company login system (SSO / MFA via Microsoft or Okta)</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Centrally managed, extra-secure logins — required before any external bank user could ever access the system</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Single sign-on must connect to an identity provider that only company IT can set up and own</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An IT decision + identity provider tenant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r h="5486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Security certificates (SOC2 / ISO 27001)</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Bank procurement checklists — large banks often require a certificate before buying, regardless of actual security quality</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Certificates can only be granted by accredited external auditors after months of evidence collection. Good internal security (which we have) is necessary but not sufficient</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External audit engagement; months</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548640">
                <a:tc>
                  <a:txBody>
                    <a:bodyPr/>
                    <a:lstStyle/>
                    <a:p>
                      <a:pPr algn="l" indent="0" marL="0">
                        <a:buNone/>
                      </a:pPr>
                      <a:r>
                        <a:rPr lang="en-US" sz="960" b="1" dirty="0">
                          <a:solidFill>
                            <a:srgbClr val="1A2035"/>
                          </a:solidFill>
                          <a:latin typeface="Calibri" pitchFamily="34" charset="0"/>
                          <a:ea typeface="Calibri" pitchFamily="34" charset="-122"/>
                          <a:cs typeface="Calibri" pitchFamily="34" charset="-120"/>
                        </a:rPr>
                        <a:t>A real-world reliability track record</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Confidence for enterprise use — proof the system stays up under real daily load</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Hundreds of passing tests prove the code works as designed; only months of actual production running can prove uptime. Time cannot be compressed by more engineering</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c>
                  <a:txBody>
                    <a:bodyPr/>
                    <a:lstStyle/>
                    <a:p>
                      <a:pPr algn="l" indent="0" marL="0">
                        <a:buNone/>
                      </a:pPr>
                      <a:r>
                        <a:rPr lang="en-US" sz="960" dirty="0">
                          <a:solidFill>
                            <a:srgbClr val="586080"/>
                          </a:solidFill>
                          <a:latin typeface="Calibri" pitchFamily="34" charset="0"/>
                          <a:ea typeface="Calibri" pitchFamily="34" charset="-122"/>
                          <a:cs typeface="Calibri" pitchFamily="34" charset="-120"/>
                        </a:rPr>
                        <a:t>Deploy first (Slide 2), then let time accumulate</a:t>
                      </a:r>
                      <a:endParaRPr lang="en-US" sz="960" dirty="0">
                        <a:latin typeface="Calibri" charset="0"/>
                        <a:ea typeface="Calibri" charset="0"/>
                        <a:cs typeface="Calibri" charset="0"/>
                      </a:endParaRPr>
                    </a:p>
                  </a:txBody>
                  <a:tcPr marL="91440" marR="91440" marT="45720" marB="4572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3F5F9"/>
                    </a:solidFill>
                  </a:tcPr>
                </a:tc>
              </a:tr>
            </a:tbl>
          </a:graphicData>
        </a:graphic>
      </p:graphicFrame>
      <p:sp>
        <p:nvSpPr>
          <p:cNvPr id="5" name="Shape 2"/>
          <p:cNvSpPr/>
          <p:nvPr/>
        </p:nvSpPr>
        <p:spPr>
          <a:xfrm>
            <a:off x="502920" y="5303520"/>
            <a:ext cx="11185855" cy="1051560"/>
          </a:xfrm>
          <a:prstGeom prst="rect">
            <a:avLst/>
          </a:prstGeom>
          <a:solidFill>
            <a:srgbClr val="0B1220"/>
          </a:solidFill>
          <a:ln/>
        </p:spPr>
      </p:sp>
      <p:sp>
        <p:nvSpPr>
          <p:cNvPr id="6" name="Text 3"/>
          <p:cNvSpPr/>
          <p:nvPr/>
        </p:nvSpPr>
        <p:spPr>
          <a:xfrm>
            <a:off x="777240" y="5394960"/>
            <a:ext cx="10637215" cy="320040"/>
          </a:xfrm>
          <a:prstGeom prst="rect">
            <a:avLst/>
          </a:prstGeom>
          <a:noFill/>
          <a:ln/>
        </p:spPr>
        <p:txBody>
          <a:bodyPr wrap="square" rtlCol="0" anchor="ctr"/>
          <a:lstStyle/>
          <a:p>
            <a:pPr indent="0" marL="0">
              <a:buNone/>
            </a:pPr>
            <a:r>
              <a:rPr lang="en-US" sz="1400" b="1" dirty="0">
                <a:solidFill>
                  <a:srgbClr val="C9A227"/>
                </a:solidFill>
                <a:latin typeface="Cambria" pitchFamily="34" charset="0"/>
                <a:ea typeface="Cambria" pitchFamily="34" charset="-122"/>
                <a:cs typeface="Cambria" pitchFamily="34" charset="-120"/>
              </a:rPr>
              <a:t>The one-line summary for this whole deck:</a:t>
            </a:r>
            <a:endParaRPr lang="en-US" sz="1400" dirty="0"/>
          </a:p>
        </p:txBody>
      </p:sp>
      <p:sp>
        <p:nvSpPr>
          <p:cNvPr id="7" name="Text 4"/>
          <p:cNvSpPr/>
          <p:nvPr/>
        </p:nvSpPr>
        <p:spPr>
          <a:xfrm>
            <a:off x="777240" y="5724144"/>
            <a:ext cx="10637215" cy="548640"/>
          </a:xfrm>
          <a:prstGeom prst="rect">
            <a:avLst/>
          </a:prstGeom>
          <a:noFill/>
          <a:ln/>
        </p:spPr>
        <p:txBody>
          <a:bodyPr wrap="square" rtlCol="0" anchor="t"/>
          <a:lstStyle/>
          <a:p>
            <a:pPr indent="0" marL="0">
              <a:lnSpc>
                <a:spcPct val="118000"/>
              </a:lnSpc>
              <a:buNone/>
            </a:pPr>
            <a:r>
              <a:rPr lang="en-US" sz="1080" dirty="0">
                <a:solidFill>
                  <a:srgbClr val="D7E1F2"/>
                </a:solidFill>
                <a:latin typeface="Calibri" pitchFamily="34" charset="0"/>
                <a:ea typeface="Calibri" pitchFamily="34" charset="-122"/>
                <a:cs typeface="Calibri" pitchFamily="34" charset="-120"/>
              </a:rPr>
              <a:t>Everything that could be built with code has been built. Every remaining bottleneck needs exactly one of three things — a purchase, a permission, or time. None of them is an unsolved technical problem.</a:t>
            </a:r>
            <a:endParaRPr lang="en-US" sz="1080" dirty="0"/>
          </a:p>
        </p:txBody>
      </p:sp>
      <p:sp>
        <p:nvSpPr>
          <p:cNvPr id="8" name="Text 5"/>
          <p:cNvSpPr/>
          <p:nvPr/>
        </p:nvSpPr>
        <p:spPr>
          <a:xfrm>
            <a:off x="502920" y="6528816"/>
            <a:ext cx="10637215" cy="256032"/>
          </a:xfrm>
          <a:prstGeom prst="rect">
            <a:avLst/>
          </a:prstGeom>
          <a:noFill/>
          <a:ln/>
        </p:spPr>
        <p:txBody>
          <a:bodyPr wrap="square" rtlCol="0" anchor="ctr"/>
          <a:lstStyle/>
          <a:p>
            <a:pPr algn="l" indent="0" marL="0">
              <a:buNone/>
            </a:pPr>
            <a:r>
              <a:rPr lang="en-US" sz="850" dirty="0">
                <a:solidFill>
                  <a:srgbClr val="7A8399"/>
                </a:solidFill>
                <a:latin typeface="Calibri" pitchFamily="34" charset="0"/>
                <a:ea typeface="Calibri" pitchFamily="34" charset="-122"/>
                <a:cs typeface="Calibri" pitchFamily="34" charset="-120"/>
              </a:rPr>
              <a:t>DRIP Platform — Manager Update</a:t>
            </a:r>
            <a:endParaRPr lang="en-US" sz="850" dirty="0"/>
          </a:p>
        </p:txBody>
      </p:sp>
      <p:sp>
        <p:nvSpPr>
          <p:cNvPr id="9" name="Text 6"/>
          <p:cNvSpPr/>
          <p:nvPr/>
        </p:nvSpPr>
        <p:spPr>
          <a:xfrm>
            <a:off x="11231575" y="6528816"/>
            <a:ext cx="457200" cy="256032"/>
          </a:xfrm>
          <a:prstGeom prst="rect">
            <a:avLst/>
          </a:prstGeom>
          <a:noFill/>
          <a:ln/>
        </p:spPr>
        <p:txBody>
          <a:bodyPr wrap="square" rtlCol="0" anchor="ctr"/>
          <a:lstStyle/>
          <a:p>
            <a:pPr algn="r" indent="0" marL="0">
              <a:buNone/>
            </a:pPr>
            <a:r>
              <a:rPr lang="en-US" sz="850" dirty="0">
                <a:solidFill>
                  <a:srgbClr val="7A8399"/>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DRIP Platform — Manager Update</dc:title>
  <dc:subject>PptxGenJS Presentation</dc:subject>
  <dc:creator>DRIP Platform</dc:creator>
  <cp:lastModifiedBy>DRIP Platform</cp:lastModifiedBy>
  <cp:revision>1</cp:revision>
  <dcterms:created xsi:type="dcterms:W3CDTF">2026-07-21T09:26:35Z</dcterms:created>
  <dcterms:modified xsi:type="dcterms:W3CDTF">2026-07-21T09:26:35Z</dcterms:modified>
</cp:coreProperties>
</file>